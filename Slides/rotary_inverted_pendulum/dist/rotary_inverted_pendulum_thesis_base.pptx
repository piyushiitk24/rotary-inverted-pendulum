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548640"/>
            <a:ext cx="3657600" cy="3657600"/>
          </a:xfrm>
          <a:prstGeom prst="ellipse">
            <a:avLst/>
          </a:prstGeom>
          <a:solidFill>
            <a:srgbClr val="0D6EAF">
              <a:alpha val="20000"/>
            </a:srgbClr>
          </a:solidFill>
          <a:ln w="12700">
            <a:solidFill>
              <a:srgbClr val="0D6EAF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0" y="-182880"/>
            <a:ext cx="2560320" cy="2560320"/>
          </a:xfrm>
          <a:prstGeom prst="ellipse">
            <a:avLst/>
          </a:prstGeom>
          <a:solidFill>
            <a:srgbClr val="1A7EC8">
              <a:alpha val="30000"/>
            </a:srgbClr>
          </a:solidFill>
          <a:ln w="12700">
            <a:solidFill>
              <a:srgbClr val="1A7EC8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572000"/>
            <a:ext cx="822960" cy="571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686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M.Tech Thesis  ·  Experiment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5760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Rotary (Furuta) Inverted Pendulum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and experimental comparison of linear and sliding-mode controllers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767328"/>
            <a:ext cx="45720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9502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461772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Piyush Tiwari  |  M.Tech (Control &amp; Automation)  |  IIT Kanpur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325880"/>
            <a:ext cx="205740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Balance upright on a real stepper-driven Furuta rig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Estimate all 4 states from dual encoders and filtering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Compare 3 controllers on one platform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4882896"/>
            <a:ext cx="822089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23560" y="987552"/>
            <a:ext cx="138988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23560" y="987552"/>
            <a:ext cx="1389888" cy="64008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33288" y="10972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Arduino Mega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7159752" y="987552"/>
            <a:ext cx="138988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59752" y="987552"/>
            <a:ext cx="1389888" cy="64008"/>
          </a:xfrm>
          <a:prstGeom prst="rect">
            <a:avLst/>
          </a:prstGeom>
          <a:solidFill>
            <a:srgbClr val="0A7A6E"/>
          </a:solidFill>
          <a:ln w="12700">
            <a:solidFill>
              <a:srgbClr val="0A7A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69480" y="10972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TMC2209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5623560" y="1993392"/>
            <a:ext cx="138988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23560" y="1993392"/>
            <a:ext cx="1389888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33288" y="21031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NEMA17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7159752" y="1993392"/>
            <a:ext cx="138988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59752" y="1993392"/>
            <a:ext cx="1389888" cy="64008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21031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AS5600s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5623560" y="2999232"/>
            <a:ext cx="138988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23560" y="2999232"/>
            <a:ext cx="1389888" cy="64008"/>
          </a:xfrm>
          <a:prstGeom prst="rect">
            <a:avLst/>
          </a:prstGeom>
          <a:solidFill>
            <a:srgbClr val="0A7A6E"/>
          </a:solidFill>
          <a:ln w="12700">
            <a:solidFill>
              <a:srgbClr val="0A7A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33288" y="3108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PCA9548A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7159752" y="2999232"/>
            <a:ext cx="138988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59752" y="2999232"/>
            <a:ext cx="1389888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3108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x 688RS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6032" y="4882896"/>
            <a:ext cx="1233134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Stepper in Closed Loop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3227832"/>
            <a:ext cx="1911096" cy="658368"/>
          </a:xfrm>
          <a:prstGeom prst="roundRect">
            <a:avLst/>
          </a:prstGeom>
          <a:solidFill>
            <a:srgbClr val="D6E8F5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7784" y="3310128"/>
            <a:ext cx="1801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Open-loop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stepper actuation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432304" y="3374136"/>
            <a:ext cx="128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6E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78608" y="3227832"/>
            <a:ext cx="1911096" cy="658368"/>
          </a:xfrm>
          <a:prstGeom prst="roundRect">
            <a:avLst/>
          </a:prstGeom>
          <a:solidFill>
            <a:srgbClr val="E6F6F3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33472" y="3310128"/>
            <a:ext cx="1801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base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retrofit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07992" y="3374136"/>
            <a:ext cx="128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6E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54296" y="3227832"/>
            <a:ext cx="1911096" cy="658368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3310128"/>
            <a:ext cx="1801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Pendulum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3374136"/>
            <a:ext cx="128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6E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729984" y="3227832"/>
            <a:ext cx="1911096" cy="658368"/>
          </a:xfrm>
          <a:prstGeom prst="roundRect">
            <a:avLst/>
          </a:prstGeom>
          <a:solidFill>
            <a:srgbClr val="D6E8F5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3310128"/>
            <a:ext cx="1801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derivatives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4 estimated states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0352" y="4343400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angle sensing turns the motor axis into a measured state without changing the stepper into a torque servo.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" y="4882896"/>
            <a:ext cx="1644178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Constraints and Limitations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36576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05840"/>
            <a:ext cx="3657600" cy="64008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1155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travel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1389888"/>
            <a:ext cx="343814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+/-80 deg travel means the arm has limited room to recover.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36576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005840"/>
            <a:ext cx="3657600" cy="64008"/>
          </a:xfrm>
          <a:prstGeom prst="rect">
            <a:avLst/>
          </a:prstGeom>
          <a:solidFill>
            <a:srgbClr val="0A7A6E"/>
          </a:solidFill>
          <a:ln w="12700">
            <a:solidFill>
              <a:srgbClr val="0A7A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81728" y="11155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Upright-only operation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81728" y="1389888"/>
            <a:ext cx="343814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 is meant to catch and hold near upright, not swing up from large angles.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36576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788920"/>
            <a:ext cx="36576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89864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Actuation reality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" y="3172968"/>
            <a:ext cx="343814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 accepts speed commands, not torque. Missed steps can happen under load.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0" y="2788920"/>
            <a:ext cx="36576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0" y="2788920"/>
            <a:ext cx="3657600" cy="6400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289864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and timing reality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81728" y="3172968"/>
            <a:ext cx="343814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encoders share one I2C bus, so timing delay, noise, and glitch rejection matter.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" y="4882896"/>
            <a:ext cx="2055223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Modelling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86868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coordinates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90288" y="8686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41605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First-principles model with the L-shaped pendulum geometry retained.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4882896"/>
            <a:ext cx="2466267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Modelling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4882896"/>
            <a:ext cx="2877312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Modelling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87782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kinetic energy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30352" y="2697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constants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83480" y="26974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Lagrangian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4882896"/>
            <a:ext cx="3288357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Nonlinear Equations of Motion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14600" y="34564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commanded base acceleration as the input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4882896"/>
            <a:ext cx="3699401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Linearisation About Upright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960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Small-angle terms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08483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upright model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Open-loop fall rate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4882896"/>
            <a:ext cx="4110446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State-Space Representation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0690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linearized upright form is the model used for controller design.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4882896"/>
            <a:ext cx="4521490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Estimation Using a Discrete Filter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54880" y="1097280"/>
            <a:ext cx="35661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0" y="1097280"/>
            <a:ext cx="3566160" cy="64008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64608" y="1207008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200 Hz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864608" y="148132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omega_c = 450 rad/s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= 211.7647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= 0.0588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4800600" y="2697480"/>
            <a:ext cx="34290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Compute a wrap-safe angle difference each tick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that increment to estimate the derivative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Clamp the result to reject impossible samples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4882896"/>
            <a:ext cx="4932535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Design: Linear Controller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0" y="932688"/>
            <a:ext cx="29260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0" y="932688"/>
            <a:ext cx="2926080" cy="64008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87568" y="1042416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poles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87568" y="1316736"/>
            <a:ext cx="2706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omega1 = 15, zeta1 = 0.8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omega2 = 1, zeta2 = 1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omega1 is faster than the 12.47 rad/s fall rate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577840" y="2084832"/>
            <a:ext cx="292608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77840" y="2084832"/>
            <a:ext cx="2926080" cy="64008"/>
          </a:xfrm>
          <a:prstGeom prst="rect">
            <a:avLst/>
          </a:prstGeom>
          <a:solidFill>
            <a:srgbClr val="0A7A6E"/>
          </a:solidFill>
          <a:ln w="12700">
            <a:solidFill>
              <a:srgbClr val="0A7A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7568" y="219456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gains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87568" y="2468880"/>
            <a:ext cx="2706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[-2.232, -193.15, -4.702, -15.729]</a:t>
            </a:r>
            <a:endParaRPr lang="en-US" sz="910" dirty="0"/>
          </a:p>
          <a:p>
            <a:pPr indent="0" marL="0">
              <a:buNone/>
            </a:pPr>
            <a:r>
              <a:rPr lang="en-US" sz="91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K_steps = [-9.92, -858.4, -20.9, -69.9]</a:t>
            </a:r>
            <a:endParaRPr lang="en-US" sz="910" dirty="0"/>
          </a:p>
        </p:txBody>
      </p:sp>
      <p:sp>
        <p:nvSpPr>
          <p:cNvPr id="13" name="Shape 11"/>
          <p:cNvSpPr/>
          <p:nvPr/>
        </p:nvSpPr>
        <p:spPr>
          <a:xfrm>
            <a:off x="5577840" y="3401568"/>
            <a:ext cx="29260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77840" y="3401568"/>
            <a:ext cx="292608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87568" y="3511296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firmware gains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87568" y="378561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31.5, 725.6, 28.3, 73.5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" y="4882896"/>
            <a:ext cx="5343579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Design: Hybrid SMC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06440" y="960120"/>
            <a:ext cx="27432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06440" y="960120"/>
            <a:ext cx="2743200" cy="64008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16168" y="1069848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16168" y="1344168"/>
            <a:ext cx="2523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= 15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800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= 50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2148840"/>
            <a:ext cx="27432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06440" y="2148840"/>
            <a:ext cx="2743200" cy="64008"/>
          </a:xfrm>
          <a:prstGeom prst="rect">
            <a:avLst/>
          </a:prstGeom>
          <a:solidFill>
            <a:srgbClr val="0A7A6E"/>
          </a:solidFill>
          <a:ln w="12700">
            <a:solidFill>
              <a:srgbClr val="0A7A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16168" y="2258568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Chattering reduction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16168" y="2532888"/>
            <a:ext cx="25237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sat(s/phi) replaces sgn(s).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phi the law behaves like sign control.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phi it becomes smooth.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4882896"/>
            <a:ext cx="5754624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Design: SMC Controller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89320" y="960120"/>
            <a:ext cx="25603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89320" y="960120"/>
            <a:ext cx="2560320" cy="64008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99048" y="106984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099048" y="1344168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lambda_alpha = 15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lambda_theta = 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0.5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800, phi = 50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989320" y="2377440"/>
            <a:ext cx="25603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89320" y="2377440"/>
            <a:ext cx="2560320" cy="6400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99048" y="248716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and smoothing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9048" y="2761488"/>
            <a:ext cx="234086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cos(alpha) - k is the control effectiveness term.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stay positive.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sat(s/phi) law is used to avoid chattering.</a:t>
            </a:r>
            <a:endParaRPr lang="en-US" sz="930" dirty="0"/>
          </a:p>
        </p:txBody>
      </p:sp>
      <p:sp>
        <p:nvSpPr>
          <p:cNvPr id="13" name="Text 11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4882896"/>
            <a:ext cx="6165669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Linear Controller Standard Plots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590288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4882896"/>
            <a:ext cx="6576713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Linear Controller Nudge Mode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590288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4882896"/>
            <a:ext cx="6987758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Linear Controller Trapezoidal Positioning Mode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46520" y="1097280"/>
            <a:ext cx="2148840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46520" y="1097280"/>
            <a:ext cx="2148840" cy="64008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56248" y="1207008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 metrics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56248" y="1481328"/>
            <a:ext cx="1929384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 deg: SSE -2.43 deg, max |alpha| 3.31 deg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-20.0 deg: rise 3.284 s, overshoot 9.61 deg, SSE 1.64 deg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deg: rise 3.126 s, overshoot 5.62 deg, SSE 1.93 deg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3D5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vmax = 12 deg/s, amax = 60 deg/s^2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37960" y="3977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N1 run shown as trapezoidal-reference detail.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4882896"/>
            <a:ext cx="7398802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Hybrid SMC Controller Plots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452628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864608" y="452628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4882896"/>
            <a:ext cx="7809847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SMC Controller Plots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452628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864608" y="452628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4882896"/>
            <a:ext cx="8220891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Comparison of All 3 Controller Plots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3268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290779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412480" y="48920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>
              <a:alpha val="15000"/>
            </a:srgbClr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4882896"/>
            <a:ext cx="8631936" cy="36576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IIT Kanpur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Rotary Inverted Pendulum Thesis Deck</dc:title>
  <dc:subject>Rotary Inverted Pendulum</dc:subject>
  <dc:creator>Piyush Tiwari</dc:creator>
  <cp:lastModifiedBy>Piyush Tiwari</cp:lastModifiedBy>
  <cp:revision>1</cp:revision>
  <dcterms:created xsi:type="dcterms:W3CDTF">2026-04-16T16:44:24Z</dcterms:created>
  <dcterms:modified xsi:type="dcterms:W3CDTF">2026-04-16T16:44:24Z</dcterms:modified>
</cp:coreProperties>
</file>