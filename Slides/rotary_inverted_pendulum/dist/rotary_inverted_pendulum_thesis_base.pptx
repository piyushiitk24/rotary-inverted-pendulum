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7132320" y="-548640"/>
            <a:ext cx="3657600" cy="3657600"/>
          </a:xfrm>
          <a:prstGeom prst="ellipse">
            <a:avLst/>
          </a:prstGeom>
          <a:solidFill>
            <a:srgbClr val="0D6EAF">
              <a:alpha val="20000"/>
            </a:srgbClr>
          </a:solidFill>
          <a:ln w="12700">
            <a:solidFill>
              <a:srgbClr val="0D6EAF">
                <a:alpha val="40000"/>
              </a:srgbClr>
            </a:solidFill>
            <a:prstDash val="solid"/>
          </a:ln>
        </p:spPr>
      </p:sp>
      <p:sp>
        <p:nvSpPr>
          <p:cNvPr id="3" name="Shape 1"/>
          <p:cNvSpPr/>
          <p:nvPr/>
        </p:nvSpPr>
        <p:spPr>
          <a:xfrm>
            <a:off x="7680960" y="-182880"/>
            <a:ext cx="2560320" cy="2560320"/>
          </a:xfrm>
          <a:prstGeom prst="ellipse">
            <a:avLst/>
          </a:prstGeom>
          <a:solidFill>
            <a:srgbClr val="1A7EC8">
              <a:alpha val="30000"/>
            </a:srgbClr>
          </a:solidFill>
          <a:ln w="12700">
            <a:solidFill>
              <a:srgbClr val="1A7EC8">
                <a:alpha val="40000"/>
              </a:srgbClr>
            </a:solidFill>
            <a:prstDash val="solid"/>
          </a:ln>
        </p:spPr>
      </p:sp>
      <p:sp>
        <p:nvSpPr>
          <p:cNvPr id="4" name="Shape 2"/>
          <p:cNvSpPr/>
          <p:nvPr/>
        </p:nvSpPr>
        <p:spPr>
          <a:xfrm>
            <a:off x="0" y="4572000"/>
            <a:ext cx="9144000" cy="571500"/>
          </a:xfrm>
          <a:prstGeom prst="rect">
            <a:avLst/>
          </a:prstGeom>
          <a:solidFill>
            <a:srgbClr val="0D6EAF"/>
          </a:solidFill>
          <a:ln w="12700">
            <a:solidFill>
              <a:srgbClr val="0D6EAF"/>
            </a:solidFill>
            <a:prstDash val="solid"/>
          </a:ln>
        </p:spPr>
      </p:sp>
      <p:sp>
        <p:nvSpPr>
          <p:cNvPr id="5" name="Shape 3"/>
          <p:cNvSpPr/>
          <p:nvPr/>
        </p:nvSpPr>
        <p:spPr>
          <a:xfrm>
            <a:off x="0" y="4572000"/>
            <a:ext cx="822960" cy="571500"/>
          </a:xfrm>
          <a:prstGeom prst="rect">
            <a:avLst/>
          </a:prstGeom>
          <a:solidFill>
            <a:srgbClr val="D97706"/>
          </a:solidFill>
          <a:ln w="12700">
            <a:solidFill>
              <a:srgbClr val="D97706"/>
            </a:solidFill>
            <a:prstDash val="solid"/>
          </a:ln>
        </p:spPr>
      </p:sp>
      <p:sp>
        <p:nvSpPr>
          <p:cNvPr id="6" name="Text 4"/>
          <p:cNvSpPr/>
          <p:nvPr/>
        </p:nvSpPr>
        <p:spPr>
          <a:xfrm>
            <a:off x="502920" y="868680"/>
            <a:ext cx="6400800" cy="292608"/>
          </a:xfrm>
          <a:prstGeom prst="rect">
            <a:avLst/>
          </a:prstGeom>
          <a:noFill/>
          <a:ln/>
        </p:spPr>
        <p:txBody>
          <a:bodyPr wrap="square" lIns="0" tIns="0" rIns="0" bIns="0" rtlCol="0" anchor="ctr"/>
          <a:lstStyle/>
          <a:p>
            <a:pPr indent="0" marL="0">
              <a:buNone/>
            </a:pPr>
            <a:r>
              <a:rPr lang="en-US" sz="1100" dirty="0">
                <a:solidFill>
                  <a:srgbClr val="B8C8DC"/>
                </a:solidFill>
                <a:latin typeface="Calibri" pitchFamily="34" charset="0"/>
                <a:ea typeface="Calibri" pitchFamily="34" charset="-122"/>
                <a:cs typeface="Calibri" pitchFamily="34" charset="-120"/>
              </a:rPr>
              <a:t>M.Tech Thesis  ·  Experiment 2</a:t>
            </a:r>
            <a:endParaRPr lang="en-US" sz="1100" dirty="0"/>
          </a:p>
        </p:txBody>
      </p:sp>
      <p:sp>
        <p:nvSpPr>
          <p:cNvPr id="7" name="Text 5"/>
          <p:cNvSpPr/>
          <p:nvPr/>
        </p:nvSpPr>
        <p:spPr>
          <a:xfrm>
            <a:off x="502920" y="1508760"/>
            <a:ext cx="5760720" cy="1234440"/>
          </a:xfrm>
          <a:prstGeom prst="rect">
            <a:avLst/>
          </a:prstGeom>
          <a:noFill/>
          <a:ln/>
        </p:spPr>
        <p:txBody>
          <a:bodyPr wrap="square" lIns="0" tIns="0" rIns="0" bIns="0" rtlCol="0" anchor="ctr">
            <a:normAutofit/>
          </a:bodyPr>
          <a:lstStyle/>
          <a:p>
            <a:pPr indent="0" marL="0">
              <a:buNone/>
            </a:pPr>
            <a:r>
              <a:rPr lang="en-US" sz="2400" b="1" dirty="0">
                <a:solidFill>
                  <a:srgbClr val="FFFFFF"/>
                </a:solidFill>
                <a:latin typeface="Calibri" pitchFamily="34" charset="0"/>
                <a:ea typeface="Calibri" pitchFamily="34" charset="-122"/>
                <a:cs typeface="Calibri" pitchFamily="34" charset="-120"/>
              </a:rPr>
              <a:t>Rotary (Furuta) Inverted Pendulum</a:t>
            </a:r>
            <a:endParaRPr lang="en-US" sz="2400" dirty="0"/>
          </a:p>
        </p:txBody>
      </p:sp>
      <p:sp>
        <p:nvSpPr>
          <p:cNvPr id="8" name="Text 6"/>
          <p:cNvSpPr/>
          <p:nvPr/>
        </p:nvSpPr>
        <p:spPr>
          <a:xfrm>
            <a:off x="502920" y="2743200"/>
            <a:ext cx="5212080" cy="685800"/>
          </a:xfrm>
          <a:prstGeom prst="rect">
            <a:avLst/>
          </a:prstGeom>
          <a:noFill/>
          <a:ln/>
        </p:spPr>
        <p:txBody>
          <a:bodyPr wrap="square" lIns="0" tIns="0" rIns="0" bIns="0" rtlCol="0" anchor="ctr">
            <a:normAutofit/>
          </a:bodyPr>
          <a:lstStyle/>
          <a:p>
            <a:pPr indent="0" marL="0">
              <a:buNone/>
            </a:pPr>
            <a:r>
              <a:rPr lang="en-US" sz="1250" i="1" dirty="0">
                <a:solidFill>
                  <a:srgbClr val="DCE7F4"/>
                </a:solidFill>
                <a:latin typeface="Calibri" pitchFamily="34" charset="0"/>
                <a:ea typeface="Calibri" pitchFamily="34" charset="-122"/>
                <a:cs typeface="Calibri" pitchFamily="34" charset="-120"/>
              </a:rPr>
              <a:t>Modelling and experimental comparison of linear and sliding-mode controllers</a:t>
            </a:r>
            <a:endParaRPr lang="en-US" sz="1250" dirty="0"/>
          </a:p>
        </p:txBody>
      </p:sp>
      <p:sp>
        <p:nvSpPr>
          <p:cNvPr id="9" name="Shape 7"/>
          <p:cNvSpPr/>
          <p:nvPr/>
        </p:nvSpPr>
        <p:spPr>
          <a:xfrm>
            <a:off x="502920" y="3767328"/>
            <a:ext cx="457200" cy="36576"/>
          </a:xfrm>
          <a:prstGeom prst="rect">
            <a:avLst/>
          </a:prstGeom>
          <a:solidFill>
            <a:srgbClr val="D97706"/>
          </a:solidFill>
          <a:ln w="12700">
            <a:solidFill>
              <a:srgbClr val="D97706"/>
            </a:solidFill>
            <a:prstDash val="solid"/>
          </a:ln>
        </p:spPr>
      </p:sp>
      <p:sp>
        <p:nvSpPr>
          <p:cNvPr id="10" name="Text 8"/>
          <p:cNvSpPr/>
          <p:nvPr/>
        </p:nvSpPr>
        <p:spPr>
          <a:xfrm>
            <a:off x="502920" y="3950208"/>
            <a:ext cx="1828800" cy="228600"/>
          </a:xfrm>
          <a:prstGeom prst="rect">
            <a:avLst/>
          </a:prstGeom>
          <a:noFill/>
          <a:ln/>
        </p:spPr>
        <p:txBody>
          <a:bodyPr wrap="square" lIns="0" tIns="0" rIns="0" bIns="0" rtlCol="0" anchor="ctr"/>
          <a:lstStyle/>
          <a:p>
            <a:pPr indent="0" marL="0">
              <a:buNone/>
            </a:pPr>
            <a:r>
              <a:rPr lang="en-US" sz="1100" dirty="0">
                <a:solidFill>
                  <a:srgbClr val="B8C8DC"/>
                </a:solidFill>
                <a:latin typeface="Calibri" pitchFamily="34" charset="0"/>
                <a:ea typeface="Calibri" pitchFamily="34" charset="-122"/>
                <a:cs typeface="Calibri" pitchFamily="34" charset="-120"/>
              </a:rPr>
              <a:t>April 2026</a:t>
            </a:r>
            <a:endParaRPr lang="en-US" sz="1100" dirty="0"/>
          </a:p>
        </p:txBody>
      </p:sp>
      <p:sp>
        <p:nvSpPr>
          <p:cNvPr id="11" name="Text 9"/>
          <p:cNvSpPr/>
          <p:nvPr/>
        </p:nvSpPr>
        <p:spPr>
          <a:xfrm>
            <a:off x="502920" y="4617720"/>
            <a:ext cx="7315200" cy="38404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Piyush Tiwari  |  M.Tech (Control &amp; Automation)  |  IIT Kanpur</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8FA"/>
        </a:solidFill>
      </p:bgPr>
    </p:bg>
    <p:spTree>
      <p:nvGrpSpPr>
        <p:cNvPr id="1" name=""/>
        <p:cNvGrpSpPr/>
        <p:nvPr/>
      </p:nvGrpSpPr>
      <p:grpSpPr>
        <a:xfrm>
          <a:off x="0" y="0"/>
          <a:ext cx="0" cy="0"/>
          <a:chOff x="0" y="0"/>
          <a:chExt cx="0" cy="0"/>
        </a:xfrm>
      </p:grpSpPr>
      <p:sp>
        <p:nvSpPr>
          <p:cNvPr id="2" name="Shape 0"/>
          <p:cNvSpPr/>
          <p:nvPr/>
        </p:nvSpPr>
        <p:spPr>
          <a:xfrm>
            <a:off x="0" y="0"/>
            <a:ext cx="118872" cy="5143500"/>
          </a:xfrm>
          <a:prstGeom prst="rect">
            <a:avLst/>
          </a:prstGeom>
          <a:solidFill>
            <a:srgbClr val="0D6EAF"/>
          </a:solidFill>
          <a:ln w="12700">
            <a:solidFill>
              <a:srgbClr val="0D6EAF"/>
            </a:solidFill>
            <a:prstDash val="solid"/>
          </a:ln>
        </p:spPr>
      </p:sp>
      <p:sp>
        <p:nvSpPr>
          <p:cNvPr id="3" name="Text 1"/>
          <p:cNvSpPr/>
          <p:nvPr/>
        </p:nvSpPr>
        <p:spPr>
          <a:xfrm>
            <a:off x="256032" y="201168"/>
            <a:ext cx="8686800" cy="566928"/>
          </a:xfrm>
          <a:prstGeom prst="rect">
            <a:avLst/>
          </a:prstGeom>
          <a:noFill/>
          <a:ln/>
        </p:spPr>
        <p:txBody>
          <a:bodyPr wrap="square" lIns="0" tIns="0" rIns="0" bIns="0" rtlCol="0" anchor="ctr">
            <a:normAutofit/>
          </a:bodyPr>
          <a:lstStyle/>
          <a:p>
            <a:pPr indent="0" marL="0">
              <a:buNone/>
            </a:pPr>
            <a:r>
              <a:rPr lang="en-US" sz="2600" b="1" dirty="0">
                <a:solidFill>
                  <a:srgbClr val="1B2A4A"/>
                </a:solidFill>
                <a:latin typeface="Calibri" pitchFamily="34" charset="0"/>
                <a:ea typeface="Calibri" pitchFamily="34" charset="-122"/>
                <a:cs typeface="Calibri" pitchFamily="34" charset="-120"/>
              </a:rPr>
              <a:t>Problem Framing, Contributions, and Roadmap</a:t>
            </a:r>
            <a:endParaRPr lang="en-US" sz="2600" dirty="0"/>
          </a:p>
        </p:txBody>
      </p:sp>
      <p:sp>
        <p:nvSpPr>
          <p:cNvPr id="4" name="Text 2"/>
          <p:cNvSpPr/>
          <p:nvPr/>
        </p:nvSpPr>
        <p:spPr>
          <a:xfrm>
            <a:off x="256032" y="768096"/>
            <a:ext cx="8686800" cy="274320"/>
          </a:xfrm>
          <a:prstGeom prst="rect">
            <a:avLst/>
          </a:prstGeom>
          <a:noFill/>
          <a:ln/>
        </p:spPr>
        <p:txBody>
          <a:bodyPr wrap="square" lIns="0" tIns="0" rIns="0" bIns="0" rtlCol="0" anchor="ctr">
            <a:normAutofit/>
          </a:bodyPr>
          <a:lstStyle/>
          <a:p>
            <a:pPr indent="0" marL="0">
              <a:buNone/>
            </a:pPr>
            <a:r>
              <a:rPr lang="en-US" sz="1200" i="1" dirty="0">
                <a:solidFill>
                  <a:srgbClr val="64748B"/>
                </a:solidFill>
                <a:latin typeface="Calibri" pitchFamily="34" charset="0"/>
                <a:ea typeface="Calibri" pitchFamily="34" charset="-122"/>
                <a:cs typeface="Calibri" pitchFamily="34" charset="-120"/>
              </a:rPr>
              <a:t>This deck keeps the hardware reality, the modelling choices, and the controller mathematics on the same thread.</a:t>
            </a:r>
            <a:endParaRPr lang="en-US" sz="1200" dirty="0"/>
          </a:p>
        </p:txBody>
      </p:sp>
      <p:sp>
        <p:nvSpPr>
          <p:cNvPr id="5" name="Shape 3"/>
          <p:cNvSpPr/>
          <p:nvPr/>
        </p:nvSpPr>
        <p:spPr>
          <a:xfrm>
            <a:off x="256032" y="822960"/>
            <a:ext cx="8631936" cy="0"/>
          </a:xfrm>
          <a:prstGeom prst="line">
            <a:avLst/>
          </a:prstGeom>
          <a:noFill/>
          <a:ln w="9525">
            <a:solidFill>
              <a:srgbClr val="DDE3EC"/>
            </a:solidFill>
            <a:prstDash val="solid"/>
          </a:ln>
        </p:spPr>
      </p:sp>
      <p:sp>
        <p:nvSpPr>
          <p:cNvPr id="6" name="Shape 4"/>
          <p:cNvSpPr/>
          <p:nvPr/>
        </p:nvSpPr>
        <p:spPr>
          <a:xfrm>
            <a:off x="411480" y="1051560"/>
            <a:ext cx="2743200" cy="1325880"/>
          </a:xfrm>
          <a:prstGeom prst="rect">
            <a:avLst/>
          </a:prstGeom>
          <a:solidFill>
            <a:srgbClr val="FFFFFF"/>
          </a:solidFill>
          <a:ln w="6350">
            <a:solidFill>
              <a:srgbClr val="DDE3EC"/>
            </a:solidFill>
            <a:prstDash val="solid"/>
          </a:ln>
        </p:spPr>
      </p:sp>
      <p:sp>
        <p:nvSpPr>
          <p:cNvPr id="7" name="Shape 5"/>
          <p:cNvSpPr/>
          <p:nvPr/>
        </p:nvSpPr>
        <p:spPr>
          <a:xfrm>
            <a:off x="411480" y="1051560"/>
            <a:ext cx="2743200" cy="64008"/>
          </a:xfrm>
          <a:prstGeom prst="rect">
            <a:avLst/>
          </a:prstGeom>
          <a:solidFill>
            <a:srgbClr val="0D6EAF"/>
          </a:solidFill>
          <a:ln w="12700">
            <a:solidFill>
              <a:srgbClr val="0D6EAF"/>
            </a:solidFill>
            <a:prstDash val="solid"/>
          </a:ln>
        </p:spPr>
      </p:sp>
      <p:sp>
        <p:nvSpPr>
          <p:cNvPr id="8" name="Text 6"/>
          <p:cNvSpPr/>
          <p:nvPr/>
        </p:nvSpPr>
        <p:spPr>
          <a:xfrm>
            <a:off x="521208" y="1161288"/>
            <a:ext cx="252374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Problem framing</a:t>
            </a:r>
            <a:endParaRPr lang="en-US" sz="1150" dirty="0"/>
          </a:p>
        </p:txBody>
      </p:sp>
      <p:sp>
        <p:nvSpPr>
          <p:cNvPr id="9" name="Text 7"/>
          <p:cNvSpPr/>
          <p:nvPr/>
        </p:nvSpPr>
        <p:spPr>
          <a:xfrm>
            <a:off x="521208" y="1435608"/>
            <a:ext cx="2523744" cy="832104"/>
          </a:xfrm>
          <a:prstGeom prst="rect">
            <a:avLst/>
          </a:prstGeom>
          <a:noFill/>
          <a:ln/>
        </p:spPr>
        <p:txBody>
          <a:bodyPr wrap="square" lIns="0" tIns="0" rIns="0" bIns="0" rtlCol="0" anchor="ctr">
            <a:normAutofit/>
          </a:bodyPr>
          <a:lstStyle/>
          <a:p>
            <a:pPr indent="0" marL="0">
              <a:buNone/>
            </a:pPr>
            <a:r>
              <a:rPr lang="en-US" sz="980" dirty="0">
                <a:solidFill>
                  <a:srgbClr val="3D5472"/>
                </a:solidFill>
                <a:latin typeface="Calibri" pitchFamily="34" charset="0"/>
                <a:ea typeface="Calibri" pitchFamily="34" charset="-122"/>
                <a:cs typeface="Calibri" pitchFamily="34" charset="-120"/>
              </a:rPr>
              <a:t>• Upright-only balancing on a real stepper-driven Furuta rig</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Measured base angle, but actuation still happens through open-loop STEP/DIR</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Goal: show what it takes to make this experimentally repeatable</a:t>
            </a:r>
            <a:endParaRPr lang="en-US" sz="980" dirty="0"/>
          </a:p>
        </p:txBody>
      </p:sp>
      <p:sp>
        <p:nvSpPr>
          <p:cNvPr id="10" name="Shape 8"/>
          <p:cNvSpPr/>
          <p:nvPr/>
        </p:nvSpPr>
        <p:spPr>
          <a:xfrm>
            <a:off x="3246120" y="1051560"/>
            <a:ext cx="2788920" cy="1325880"/>
          </a:xfrm>
          <a:prstGeom prst="rect">
            <a:avLst/>
          </a:prstGeom>
          <a:solidFill>
            <a:srgbClr val="FFFBEB"/>
          </a:solidFill>
          <a:ln w="6350">
            <a:solidFill>
              <a:srgbClr val="DDE3EC"/>
            </a:solidFill>
            <a:prstDash val="solid"/>
          </a:ln>
        </p:spPr>
      </p:sp>
      <p:sp>
        <p:nvSpPr>
          <p:cNvPr id="11" name="Shape 9"/>
          <p:cNvSpPr/>
          <p:nvPr/>
        </p:nvSpPr>
        <p:spPr>
          <a:xfrm>
            <a:off x="3246120" y="1051560"/>
            <a:ext cx="2788920" cy="64008"/>
          </a:xfrm>
          <a:prstGeom prst="rect">
            <a:avLst/>
          </a:prstGeom>
          <a:solidFill>
            <a:srgbClr val="D97706"/>
          </a:solidFill>
          <a:ln w="12700">
            <a:solidFill>
              <a:srgbClr val="D97706"/>
            </a:solidFill>
            <a:prstDash val="solid"/>
          </a:ln>
        </p:spPr>
      </p:sp>
      <p:sp>
        <p:nvSpPr>
          <p:cNvPr id="12" name="Text 10"/>
          <p:cNvSpPr/>
          <p:nvPr/>
        </p:nvSpPr>
        <p:spPr>
          <a:xfrm>
            <a:off x="3355848" y="1161288"/>
            <a:ext cx="256946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Project contributions</a:t>
            </a:r>
            <a:endParaRPr lang="en-US" sz="1150" dirty="0"/>
          </a:p>
        </p:txBody>
      </p:sp>
      <p:sp>
        <p:nvSpPr>
          <p:cNvPr id="13" name="Text 11"/>
          <p:cNvSpPr/>
          <p:nvPr/>
        </p:nvSpPr>
        <p:spPr>
          <a:xfrm>
            <a:off x="3355848" y="1435608"/>
            <a:ext cx="2569464" cy="832104"/>
          </a:xfrm>
          <a:prstGeom prst="rect">
            <a:avLst/>
          </a:prstGeom>
          <a:noFill/>
          <a:ln/>
        </p:spPr>
        <p:txBody>
          <a:bodyPr wrap="square" lIns="0" tIns="0" rIns="0" bIns="0" rtlCol="0" anchor="ctr">
            <a:normAutofit/>
          </a:bodyPr>
          <a:lstStyle/>
          <a:p>
            <a:pPr indent="0" marL="0">
              <a:buNone/>
            </a:pPr>
            <a:r>
              <a:rPr lang="en-US" sz="980" dirty="0">
                <a:solidFill>
                  <a:srgbClr val="3D5472"/>
                </a:solidFill>
                <a:latin typeface="Calibri" pitchFamily="34" charset="0"/>
                <a:ea typeface="Calibri" pitchFamily="34" charset="-122"/>
                <a:cs typeface="Calibri" pitchFamily="34" charset="-120"/>
              </a:rPr>
              <a:t>• Measured-stepper retrofit using an AS5600 on the motor axis</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First-principles L-shaped rig model with acceleration-input control design</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Three upright controllers on one hardware platform</a:t>
            </a:r>
            <a:endParaRPr lang="en-US" sz="980" dirty="0"/>
          </a:p>
        </p:txBody>
      </p:sp>
      <p:sp>
        <p:nvSpPr>
          <p:cNvPr id="14" name="Shape 12"/>
          <p:cNvSpPr/>
          <p:nvPr/>
        </p:nvSpPr>
        <p:spPr>
          <a:xfrm>
            <a:off x="6144768" y="1051560"/>
            <a:ext cx="2542032" cy="1325880"/>
          </a:xfrm>
          <a:prstGeom prst="rect">
            <a:avLst/>
          </a:prstGeom>
          <a:solidFill>
            <a:srgbClr val="FFFFFF"/>
          </a:solidFill>
          <a:ln w="6350">
            <a:solidFill>
              <a:srgbClr val="DDE3EC"/>
            </a:solidFill>
            <a:prstDash val="solid"/>
          </a:ln>
        </p:spPr>
      </p:sp>
      <p:sp>
        <p:nvSpPr>
          <p:cNvPr id="15" name="Shape 13"/>
          <p:cNvSpPr/>
          <p:nvPr/>
        </p:nvSpPr>
        <p:spPr>
          <a:xfrm>
            <a:off x="6144768" y="1051560"/>
            <a:ext cx="2542032" cy="64008"/>
          </a:xfrm>
          <a:prstGeom prst="rect">
            <a:avLst/>
          </a:prstGeom>
          <a:solidFill>
            <a:srgbClr val="0D6EAF"/>
          </a:solidFill>
          <a:ln w="12700">
            <a:solidFill>
              <a:srgbClr val="0D6EAF"/>
            </a:solidFill>
            <a:prstDash val="solid"/>
          </a:ln>
        </p:spPr>
      </p:sp>
      <p:sp>
        <p:nvSpPr>
          <p:cNvPr id="16" name="Text 14"/>
          <p:cNvSpPr/>
          <p:nvPr/>
        </p:nvSpPr>
        <p:spPr>
          <a:xfrm>
            <a:off x="6254496" y="1161288"/>
            <a:ext cx="2322576"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Roadmap</a:t>
            </a:r>
            <a:endParaRPr lang="en-US" sz="1150" dirty="0"/>
          </a:p>
        </p:txBody>
      </p:sp>
      <p:sp>
        <p:nvSpPr>
          <p:cNvPr id="17" name="Text 15"/>
          <p:cNvSpPr/>
          <p:nvPr/>
        </p:nvSpPr>
        <p:spPr>
          <a:xfrm>
            <a:off x="6254496" y="1435608"/>
            <a:ext cx="2322576" cy="832104"/>
          </a:xfrm>
          <a:prstGeom prst="rect">
            <a:avLst/>
          </a:prstGeom>
          <a:noFill/>
          <a:ln/>
        </p:spPr>
        <p:txBody>
          <a:bodyPr wrap="square" lIns="0" tIns="0" rIns="0" bIns="0" rtlCol="0" anchor="ctr">
            <a:normAutofit/>
          </a:bodyPr>
          <a:lstStyle/>
          <a:p>
            <a:pPr indent="0" marL="0">
              <a:buNone/>
            </a:pPr>
            <a:r>
              <a:rPr lang="en-US" sz="980" dirty="0">
                <a:solidFill>
                  <a:srgbClr val="3D5472"/>
                </a:solidFill>
                <a:latin typeface="Calibri" pitchFamily="34" charset="0"/>
                <a:ea typeface="Calibri" pitchFamily="34" charset="-122"/>
                <a:cs typeface="Calibri" pitchFamily="34" charset="-120"/>
              </a:rPr>
              <a:t>• Hardware and sensing</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Model and filter design</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Linear, hybrid SMC, full-state SMC</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Pinned experimental comparison</a:t>
            </a:r>
            <a:endParaRPr lang="en-US" sz="980" dirty="0"/>
          </a:p>
        </p:txBody>
      </p:sp>
      <p:sp>
        <p:nvSpPr>
          <p:cNvPr id="18" name="Shape 16"/>
          <p:cNvSpPr/>
          <p:nvPr/>
        </p:nvSpPr>
        <p:spPr>
          <a:xfrm>
            <a:off x="411480" y="2606040"/>
            <a:ext cx="8275320" cy="1554480"/>
          </a:xfrm>
          <a:prstGeom prst="rect">
            <a:avLst/>
          </a:prstGeom>
          <a:solidFill>
            <a:srgbClr val="FFFFFF"/>
          </a:solidFill>
          <a:ln w="6350">
            <a:solidFill>
              <a:srgbClr val="DDE3EC"/>
            </a:solidFill>
            <a:prstDash val="solid"/>
          </a:ln>
        </p:spPr>
      </p:sp>
      <p:sp>
        <p:nvSpPr>
          <p:cNvPr id="19" name="Shape 17"/>
          <p:cNvSpPr/>
          <p:nvPr/>
        </p:nvSpPr>
        <p:spPr>
          <a:xfrm>
            <a:off x="411480" y="2606040"/>
            <a:ext cx="8275320" cy="64008"/>
          </a:xfrm>
          <a:prstGeom prst="rect">
            <a:avLst/>
          </a:prstGeom>
          <a:solidFill>
            <a:srgbClr val="0A7A6E"/>
          </a:solidFill>
          <a:ln w="12700">
            <a:solidFill>
              <a:srgbClr val="0A7A6E"/>
            </a:solidFill>
            <a:prstDash val="solid"/>
          </a:ln>
        </p:spPr>
      </p:sp>
      <p:sp>
        <p:nvSpPr>
          <p:cNvPr id="20" name="Text 18"/>
          <p:cNvSpPr/>
          <p:nvPr/>
        </p:nvSpPr>
        <p:spPr>
          <a:xfrm>
            <a:off x="521208" y="2715768"/>
            <a:ext cx="805586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Thesis stance</a:t>
            </a:r>
            <a:endParaRPr lang="en-US" sz="1150" dirty="0"/>
          </a:p>
        </p:txBody>
      </p:sp>
      <p:sp>
        <p:nvSpPr>
          <p:cNvPr id="21" name="Text 19"/>
          <p:cNvSpPr/>
          <p:nvPr/>
        </p:nvSpPr>
        <p:spPr>
          <a:xfrm>
            <a:off x="521208" y="2990088"/>
            <a:ext cx="8055864" cy="1060704"/>
          </a:xfrm>
          <a:prstGeom prst="rect">
            <a:avLst/>
          </a:prstGeom>
          <a:noFill/>
          <a:ln/>
        </p:spPr>
        <p:txBody>
          <a:bodyPr wrap="square" lIns="0" tIns="0" rIns="0" bIns="0" rtlCol="0" anchor="ctr">
            <a:normAutofit/>
          </a:bodyPr>
          <a:lstStyle/>
          <a:p>
            <a:pPr indent="0" marL="0">
              <a:buNone/>
            </a:pPr>
            <a:r>
              <a:rPr lang="en-US" sz="980" dirty="0">
                <a:solidFill>
                  <a:srgbClr val="3D5472"/>
                </a:solidFill>
                <a:latin typeface="Calibri" pitchFamily="34" charset="0"/>
                <a:ea typeface="Calibri" pitchFamily="34" charset="-122"/>
                <a:cs typeface="Calibri" pitchFamily="34" charset="-120"/>
              </a:rPr>
              <a:t>• The analytic laws are derived cleanly, but each one is followed by the firmware protections required by the stepper platform.</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Acceleration is treated as the abstract control input because that matches the actual firmware path: acceleration → commanded speed → stepper.</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The comparison is rigorous but honest: it uses seven pinned runs H1–H3, N1, and T1–T3, so conclusions are qualitative and metric-based, not statistical.</a:t>
            </a:r>
            <a:endParaRPr lang="en-US" sz="980" dirty="0"/>
          </a:p>
        </p:txBody>
      </p:sp>
      <p:sp>
        <p:nvSpPr>
          <p:cNvPr id="22" name="Text 20"/>
          <p:cNvSpPr/>
          <p:nvPr/>
        </p:nvSpPr>
        <p:spPr>
          <a:xfrm>
            <a:off x="8412480" y="4892040"/>
            <a:ext cx="640080" cy="201168"/>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2 / 38</a:t>
            </a:r>
            <a:endParaRPr lang="en-US" sz="900" dirty="0"/>
          </a:p>
        </p:txBody>
      </p:sp>
      <p:sp>
        <p:nvSpPr>
          <p:cNvPr id="23" name="Shape 21"/>
          <p:cNvSpPr/>
          <p:nvPr/>
        </p:nvSpPr>
        <p:spPr>
          <a:xfrm>
            <a:off x="256032" y="4882896"/>
            <a:ext cx="8631936" cy="36576"/>
          </a:xfrm>
          <a:prstGeom prst="rect">
            <a:avLst/>
          </a:prstGeom>
          <a:solidFill>
            <a:srgbClr val="0D6EAF">
              <a:alpha val="15000"/>
            </a:srgbClr>
          </a:solidFill>
          <a:ln w="12700">
            <a:solidFill>
              <a:srgbClr val="0D6EAF"/>
            </a:solidFill>
            <a:prstDash val="solid"/>
          </a:ln>
        </p:spPr>
      </p:sp>
      <p:sp>
        <p:nvSpPr>
          <p:cNvPr id="24" name="Shape 22"/>
          <p:cNvSpPr/>
          <p:nvPr/>
        </p:nvSpPr>
        <p:spPr>
          <a:xfrm>
            <a:off x="256032" y="4882896"/>
            <a:ext cx="454312" cy="36576"/>
          </a:xfrm>
          <a:prstGeom prst="rect">
            <a:avLst/>
          </a:prstGeom>
          <a:solidFill>
            <a:srgbClr val="0D6EAF"/>
          </a:solidFill>
          <a:ln w="12700">
            <a:solidFill>
              <a:srgbClr val="0D6EAF"/>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8FA"/>
        </a:solidFill>
      </p:bgPr>
    </p:bg>
    <p:spTree>
      <p:nvGrpSpPr>
        <p:cNvPr id="1" name=""/>
        <p:cNvGrpSpPr/>
        <p:nvPr/>
      </p:nvGrpSpPr>
      <p:grpSpPr>
        <a:xfrm>
          <a:off x="0" y="0"/>
          <a:ext cx="0" cy="0"/>
          <a:chOff x="0" y="0"/>
          <a:chExt cx="0" cy="0"/>
        </a:xfrm>
      </p:grpSpPr>
      <p:sp>
        <p:nvSpPr>
          <p:cNvPr id="2" name="Shape 0"/>
          <p:cNvSpPr/>
          <p:nvPr/>
        </p:nvSpPr>
        <p:spPr>
          <a:xfrm>
            <a:off x="0" y="0"/>
            <a:ext cx="118872" cy="5143500"/>
          </a:xfrm>
          <a:prstGeom prst="rect">
            <a:avLst/>
          </a:prstGeom>
          <a:solidFill>
            <a:srgbClr val="0D6EAF"/>
          </a:solidFill>
          <a:ln w="12700">
            <a:solidFill>
              <a:srgbClr val="0D6EAF"/>
            </a:solidFill>
            <a:prstDash val="solid"/>
          </a:ln>
        </p:spPr>
      </p:sp>
      <p:sp>
        <p:nvSpPr>
          <p:cNvPr id="3" name="Text 1"/>
          <p:cNvSpPr/>
          <p:nvPr/>
        </p:nvSpPr>
        <p:spPr>
          <a:xfrm>
            <a:off x="256032" y="201168"/>
            <a:ext cx="8686800" cy="566928"/>
          </a:xfrm>
          <a:prstGeom prst="rect">
            <a:avLst/>
          </a:prstGeom>
          <a:noFill/>
          <a:ln/>
        </p:spPr>
        <p:txBody>
          <a:bodyPr wrap="square" lIns="0" tIns="0" rIns="0" bIns="0" rtlCol="0" anchor="ctr">
            <a:normAutofit/>
          </a:bodyPr>
          <a:lstStyle/>
          <a:p>
            <a:pPr indent="0" marL="0">
              <a:buNone/>
            </a:pPr>
            <a:r>
              <a:rPr lang="en-US" sz="2600" b="1" dirty="0">
                <a:solidFill>
                  <a:srgbClr val="1B2A4A"/>
                </a:solidFill>
                <a:latin typeface="Calibri" pitchFamily="34" charset="0"/>
                <a:ea typeface="Calibri" pitchFamily="34" charset="-122"/>
                <a:cs typeface="Calibri" pitchFamily="34" charset="-120"/>
              </a:rPr>
              <a:t>Motivation and Problem Statement</a:t>
            </a:r>
            <a:endParaRPr lang="en-US" sz="2600" dirty="0"/>
          </a:p>
        </p:txBody>
      </p:sp>
      <p:sp>
        <p:nvSpPr>
          <p:cNvPr id="4" name="Text 2"/>
          <p:cNvSpPr/>
          <p:nvPr/>
        </p:nvSpPr>
        <p:spPr>
          <a:xfrm>
            <a:off x="256032" y="768096"/>
            <a:ext cx="8686800" cy="274320"/>
          </a:xfrm>
          <a:prstGeom prst="rect">
            <a:avLst/>
          </a:prstGeom>
          <a:noFill/>
          <a:ln/>
        </p:spPr>
        <p:txBody>
          <a:bodyPr wrap="square" lIns="0" tIns="0" rIns="0" bIns="0" rtlCol="0" anchor="ctr">
            <a:normAutofit/>
          </a:bodyPr>
          <a:lstStyle/>
          <a:p>
            <a:pPr indent="0" marL="0">
              <a:buNone/>
            </a:pPr>
            <a:r>
              <a:rPr lang="en-US" sz="1200" i="1" dirty="0">
                <a:solidFill>
                  <a:srgbClr val="64748B"/>
                </a:solidFill>
                <a:latin typeface="Calibri" pitchFamily="34" charset="0"/>
                <a:ea typeface="Calibri" pitchFamily="34" charset="-122"/>
                <a:cs typeface="Calibri" pitchFamily="34" charset="-120"/>
              </a:rPr>
              <a:t>The project is interesting because the plant is classic, but the actuator and sensing stack are not.</a:t>
            </a:r>
            <a:endParaRPr lang="en-US" sz="1200" dirty="0"/>
          </a:p>
        </p:txBody>
      </p:sp>
      <p:sp>
        <p:nvSpPr>
          <p:cNvPr id="5" name="Shape 3"/>
          <p:cNvSpPr/>
          <p:nvPr/>
        </p:nvSpPr>
        <p:spPr>
          <a:xfrm>
            <a:off x="256032" y="822960"/>
            <a:ext cx="8631936" cy="0"/>
          </a:xfrm>
          <a:prstGeom prst="line">
            <a:avLst/>
          </a:prstGeom>
          <a:noFill/>
          <a:ln w="9525">
            <a:solidFill>
              <a:srgbClr val="DDE3EC"/>
            </a:solidFill>
            <a:prstDash val="solid"/>
          </a:ln>
        </p:spPr>
      </p:sp>
      <p:sp>
        <p:nvSpPr>
          <p:cNvPr id="6" name="Shape 4"/>
          <p:cNvSpPr/>
          <p:nvPr/>
        </p:nvSpPr>
        <p:spPr>
          <a:xfrm>
            <a:off x="411480" y="1078992"/>
            <a:ext cx="3977640" cy="1828800"/>
          </a:xfrm>
          <a:prstGeom prst="rect">
            <a:avLst/>
          </a:prstGeom>
          <a:solidFill>
            <a:srgbClr val="FFFFFF"/>
          </a:solidFill>
          <a:ln w="6350">
            <a:solidFill>
              <a:srgbClr val="DDE3EC"/>
            </a:solidFill>
            <a:prstDash val="solid"/>
          </a:ln>
        </p:spPr>
      </p:sp>
      <p:sp>
        <p:nvSpPr>
          <p:cNvPr id="7" name="Shape 5"/>
          <p:cNvSpPr/>
          <p:nvPr/>
        </p:nvSpPr>
        <p:spPr>
          <a:xfrm>
            <a:off x="411480" y="1078992"/>
            <a:ext cx="3977640" cy="64008"/>
          </a:xfrm>
          <a:prstGeom prst="rect">
            <a:avLst/>
          </a:prstGeom>
          <a:solidFill>
            <a:srgbClr val="0D6EAF"/>
          </a:solidFill>
          <a:ln w="12700">
            <a:solidFill>
              <a:srgbClr val="0D6EAF"/>
            </a:solidFill>
            <a:prstDash val="solid"/>
          </a:ln>
        </p:spPr>
      </p:sp>
      <p:sp>
        <p:nvSpPr>
          <p:cNvPr id="8" name="Text 6"/>
          <p:cNvSpPr/>
          <p:nvPr/>
        </p:nvSpPr>
        <p:spPr>
          <a:xfrm>
            <a:off x="521208" y="1188720"/>
            <a:ext cx="375818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Why not just use a standard servo rig?</a:t>
            </a:r>
            <a:endParaRPr lang="en-US" sz="1150" dirty="0"/>
          </a:p>
        </p:txBody>
      </p:sp>
      <p:sp>
        <p:nvSpPr>
          <p:cNvPr id="9" name="Text 7"/>
          <p:cNvSpPr/>
          <p:nvPr/>
        </p:nvSpPr>
        <p:spPr>
          <a:xfrm>
            <a:off x="521208" y="1463040"/>
            <a:ext cx="3758184" cy="1335024"/>
          </a:xfrm>
          <a:prstGeom prst="rect">
            <a:avLst/>
          </a:prstGeom>
          <a:noFill/>
          <a:ln/>
        </p:spPr>
        <p:txBody>
          <a:bodyPr wrap="square" lIns="0" tIns="0" rIns="0" bIns="0" rtlCol="0" anchor="ctr">
            <a:normAutofit/>
          </a:bodyPr>
          <a:lstStyle/>
          <a:p>
            <a:pPr indent="0" marL="0">
              <a:buNone/>
            </a:pPr>
            <a:r>
              <a:rPr lang="en-US" sz="980" dirty="0">
                <a:solidFill>
                  <a:srgbClr val="3D5472"/>
                </a:solidFill>
                <a:latin typeface="Calibri" pitchFamily="34" charset="0"/>
                <a:ea typeface="Calibri" pitchFamily="34" charset="-122"/>
                <a:cs typeface="Calibri" pitchFamily="34" charset="-120"/>
              </a:rPr>
              <a:t>• The base is driven by a NEMA17 stepper through FastAccelStepper, not by a torque-controlled servo.</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Missed motion is possible under load, so commanded step count is not enough for feedback.</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The work is therefore both a controls problem and a hardware-software integration problem.</a:t>
            </a:r>
            <a:endParaRPr lang="en-US" sz="980" dirty="0"/>
          </a:p>
        </p:txBody>
      </p:sp>
      <p:sp>
        <p:nvSpPr>
          <p:cNvPr id="10" name="Shape 8"/>
          <p:cNvSpPr/>
          <p:nvPr/>
        </p:nvSpPr>
        <p:spPr>
          <a:xfrm>
            <a:off x="4572000" y="1078992"/>
            <a:ext cx="4114800" cy="1828800"/>
          </a:xfrm>
          <a:prstGeom prst="rect">
            <a:avLst/>
          </a:prstGeom>
          <a:solidFill>
            <a:srgbClr val="FFFFFF"/>
          </a:solidFill>
          <a:ln w="6350">
            <a:solidFill>
              <a:srgbClr val="DDE3EC"/>
            </a:solidFill>
            <a:prstDash val="solid"/>
          </a:ln>
        </p:spPr>
      </p:sp>
      <p:sp>
        <p:nvSpPr>
          <p:cNvPr id="11" name="Shape 9"/>
          <p:cNvSpPr/>
          <p:nvPr/>
        </p:nvSpPr>
        <p:spPr>
          <a:xfrm>
            <a:off x="4572000" y="1078992"/>
            <a:ext cx="4114800" cy="64008"/>
          </a:xfrm>
          <a:prstGeom prst="rect">
            <a:avLst/>
          </a:prstGeom>
          <a:solidFill>
            <a:srgbClr val="0A7A6E"/>
          </a:solidFill>
          <a:ln w="12700">
            <a:solidFill>
              <a:srgbClr val="0A7A6E"/>
            </a:solidFill>
            <a:prstDash val="solid"/>
          </a:ln>
        </p:spPr>
      </p:sp>
      <p:sp>
        <p:nvSpPr>
          <p:cNvPr id="12" name="Text 10"/>
          <p:cNvSpPr/>
          <p:nvPr/>
        </p:nvSpPr>
        <p:spPr>
          <a:xfrm>
            <a:off x="4681728" y="1188720"/>
            <a:ext cx="389534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Practical problem statement</a:t>
            </a:r>
            <a:endParaRPr lang="en-US" sz="1150" dirty="0"/>
          </a:p>
        </p:txBody>
      </p:sp>
      <p:sp>
        <p:nvSpPr>
          <p:cNvPr id="13" name="Text 11"/>
          <p:cNvSpPr/>
          <p:nvPr/>
        </p:nvSpPr>
        <p:spPr>
          <a:xfrm>
            <a:off x="4681728" y="1463040"/>
            <a:ext cx="3895344" cy="1335024"/>
          </a:xfrm>
          <a:prstGeom prst="rect">
            <a:avLst/>
          </a:prstGeom>
          <a:noFill/>
          <a:ln/>
        </p:spPr>
        <p:txBody>
          <a:bodyPr wrap="square" lIns="0" tIns="0" rIns="0" bIns="0" rtlCol="0" anchor="ctr">
            <a:normAutofit/>
          </a:bodyPr>
          <a:lstStyle/>
          <a:p>
            <a:pPr indent="0" marL="0">
              <a:buNone/>
            </a:pPr>
            <a:r>
              <a:rPr lang="en-US" sz="980" dirty="0">
                <a:solidFill>
                  <a:srgbClr val="3D5472"/>
                </a:solidFill>
                <a:latin typeface="Calibri" pitchFamily="34" charset="0"/>
                <a:ea typeface="Calibri" pitchFamily="34" charset="-122"/>
                <a:cs typeface="Calibri" pitchFamily="34" charset="-120"/>
              </a:rPr>
              <a:t>• Keep the pendulum upright near α = 0 while respecting ±80° base travel and ±30° pendulum safety limits.</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Estimate the required states at 200 Hz from noisy absolute encoders on a multiplexed I²C bus.</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Compare a linear controller, a pendulum-surface SMC, and a full-state surface SMC on the same rig.</a:t>
            </a:r>
            <a:endParaRPr lang="en-US" sz="980" dirty="0"/>
          </a:p>
        </p:txBody>
      </p:sp>
      <p:sp>
        <p:nvSpPr>
          <p:cNvPr id="14" name="Shape 12"/>
          <p:cNvSpPr/>
          <p:nvPr/>
        </p:nvSpPr>
        <p:spPr>
          <a:xfrm>
            <a:off x="411480" y="3154680"/>
            <a:ext cx="3977640" cy="914400"/>
          </a:xfrm>
          <a:prstGeom prst="rect">
            <a:avLst/>
          </a:prstGeom>
          <a:solidFill>
            <a:srgbClr val="FEF2F2"/>
          </a:solidFill>
          <a:ln w="6350">
            <a:solidFill>
              <a:srgbClr val="DDE3EC"/>
            </a:solidFill>
            <a:prstDash val="solid"/>
          </a:ln>
        </p:spPr>
      </p:sp>
      <p:sp>
        <p:nvSpPr>
          <p:cNvPr id="15" name="Shape 13"/>
          <p:cNvSpPr/>
          <p:nvPr/>
        </p:nvSpPr>
        <p:spPr>
          <a:xfrm>
            <a:off x="411480" y="3154680"/>
            <a:ext cx="3977640" cy="64008"/>
          </a:xfrm>
          <a:prstGeom prst="rect">
            <a:avLst/>
          </a:prstGeom>
          <a:solidFill>
            <a:srgbClr val="B91C1C"/>
          </a:solidFill>
          <a:ln w="12700">
            <a:solidFill>
              <a:srgbClr val="B91C1C"/>
            </a:solidFill>
            <a:prstDash val="solid"/>
          </a:ln>
        </p:spPr>
      </p:sp>
      <p:sp>
        <p:nvSpPr>
          <p:cNvPr id="16" name="Text 14"/>
          <p:cNvSpPr/>
          <p:nvPr/>
        </p:nvSpPr>
        <p:spPr>
          <a:xfrm>
            <a:off x="521208" y="3264408"/>
            <a:ext cx="375818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Naive failure mode</a:t>
            </a:r>
            <a:endParaRPr lang="en-US" sz="1150" dirty="0"/>
          </a:p>
        </p:txBody>
      </p:sp>
      <p:sp>
        <p:nvSpPr>
          <p:cNvPr id="17" name="Text 15"/>
          <p:cNvSpPr/>
          <p:nvPr/>
        </p:nvSpPr>
        <p:spPr>
          <a:xfrm>
            <a:off x="521208" y="3538728"/>
            <a:ext cx="3758184" cy="420624"/>
          </a:xfrm>
          <a:prstGeom prst="rect">
            <a:avLst/>
          </a:prstGeom>
          <a:noFill/>
          <a:ln/>
        </p:spPr>
        <p:txBody>
          <a:bodyPr wrap="square" lIns="0" tIns="0" rIns="0" bIns="0" rtlCol="0" anchor="ctr">
            <a:normAutofit/>
          </a:bodyPr>
          <a:lstStyle/>
          <a:p>
            <a:pPr indent="0" marL="0">
              <a:buNone/>
            </a:pPr>
            <a:r>
              <a:rPr lang="en-US" sz="1000" dirty="0">
                <a:solidFill>
                  <a:srgbClr val="3D5472"/>
                </a:solidFill>
                <a:latin typeface="Calibri" pitchFamily="34" charset="0"/>
                <a:ea typeface="Calibri" pitchFamily="34" charset="-122"/>
                <a:cs typeface="Calibri" pitchFamily="34" charset="-120"/>
              </a:rPr>
              <a:t>If the controller asks for recovery torque that the stepper cannot realize, the measured state continues to look bad, and the controller can keep demanding more aggressive motion until the pendulum leaves the upright window.</a:t>
            </a:r>
            <a:endParaRPr lang="en-US" sz="1000" dirty="0"/>
          </a:p>
        </p:txBody>
      </p:sp>
      <p:sp>
        <p:nvSpPr>
          <p:cNvPr id="18" name="Shape 16"/>
          <p:cNvSpPr/>
          <p:nvPr/>
        </p:nvSpPr>
        <p:spPr>
          <a:xfrm>
            <a:off x="4572000" y="3154680"/>
            <a:ext cx="4114800" cy="914400"/>
          </a:xfrm>
          <a:prstGeom prst="rect">
            <a:avLst/>
          </a:prstGeom>
          <a:solidFill>
            <a:srgbClr val="ECFDF5"/>
          </a:solidFill>
          <a:ln w="6350">
            <a:solidFill>
              <a:srgbClr val="DDE3EC"/>
            </a:solidFill>
            <a:prstDash val="solid"/>
          </a:ln>
        </p:spPr>
      </p:sp>
      <p:sp>
        <p:nvSpPr>
          <p:cNvPr id="19" name="Shape 17"/>
          <p:cNvSpPr/>
          <p:nvPr/>
        </p:nvSpPr>
        <p:spPr>
          <a:xfrm>
            <a:off x="4572000" y="3154680"/>
            <a:ext cx="4114800" cy="64008"/>
          </a:xfrm>
          <a:prstGeom prst="rect">
            <a:avLst/>
          </a:prstGeom>
          <a:solidFill>
            <a:srgbClr val="047857"/>
          </a:solidFill>
          <a:ln w="12700">
            <a:solidFill>
              <a:srgbClr val="047857"/>
            </a:solidFill>
            <a:prstDash val="solid"/>
          </a:ln>
        </p:spPr>
      </p:sp>
      <p:sp>
        <p:nvSpPr>
          <p:cNvPr id="20" name="Text 18"/>
          <p:cNvSpPr/>
          <p:nvPr/>
        </p:nvSpPr>
        <p:spPr>
          <a:xfrm>
            <a:off x="4681728" y="3264408"/>
            <a:ext cx="389534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Thesis objective</a:t>
            </a:r>
            <a:endParaRPr lang="en-US" sz="1150" dirty="0"/>
          </a:p>
        </p:txBody>
      </p:sp>
      <p:sp>
        <p:nvSpPr>
          <p:cNvPr id="21" name="Text 19"/>
          <p:cNvSpPr/>
          <p:nvPr/>
        </p:nvSpPr>
        <p:spPr>
          <a:xfrm>
            <a:off x="4681728" y="3538728"/>
            <a:ext cx="3895344" cy="420624"/>
          </a:xfrm>
          <a:prstGeom prst="rect">
            <a:avLst/>
          </a:prstGeom>
          <a:noFill/>
          <a:ln/>
        </p:spPr>
        <p:txBody>
          <a:bodyPr wrap="square" lIns="0" tIns="0" rIns="0" bIns="0" rtlCol="0" anchor="ctr">
            <a:normAutofit/>
          </a:bodyPr>
          <a:lstStyle/>
          <a:p>
            <a:pPr indent="0" marL="0">
              <a:buNone/>
            </a:pPr>
            <a:r>
              <a:rPr lang="en-US" sz="1000" dirty="0">
                <a:solidFill>
                  <a:srgbClr val="3D5472"/>
                </a:solidFill>
                <a:latin typeface="Calibri" pitchFamily="34" charset="0"/>
                <a:ea typeface="Calibri" pitchFamily="34" charset="-122"/>
                <a:cs typeface="Calibri" pitchFamily="34" charset="-120"/>
              </a:rPr>
              <a:t>Build a technically defensible pipeline from hardware retrofit to modelling to controller implementation and quantify what each controller actually does on the real platform.</a:t>
            </a:r>
            <a:endParaRPr lang="en-US" sz="1000" dirty="0"/>
          </a:p>
        </p:txBody>
      </p:sp>
      <p:sp>
        <p:nvSpPr>
          <p:cNvPr id="22" name="Text 20"/>
          <p:cNvSpPr/>
          <p:nvPr/>
        </p:nvSpPr>
        <p:spPr>
          <a:xfrm>
            <a:off x="8412480" y="4892040"/>
            <a:ext cx="640080" cy="201168"/>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3 / 38</a:t>
            </a:r>
            <a:endParaRPr lang="en-US" sz="900" dirty="0"/>
          </a:p>
        </p:txBody>
      </p:sp>
      <p:sp>
        <p:nvSpPr>
          <p:cNvPr id="23" name="Shape 21"/>
          <p:cNvSpPr/>
          <p:nvPr/>
        </p:nvSpPr>
        <p:spPr>
          <a:xfrm>
            <a:off x="256032" y="4882896"/>
            <a:ext cx="8631936" cy="36576"/>
          </a:xfrm>
          <a:prstGeom prst="rect">
            <a:avLst/>
          </a:prstGeom>
          <a:solidFill>
            <a:srgbClr val="0D6EAF">
              <a:alpha val="15000"/>
            </a:srgbClr>
          </a:solidFill>
          <a:ln w="12700">
            <a:solidFill>
              <a:srgbClr val="0D6EAF"/>
            </a:solidFill>
            <a:prstDash val="solid"/>
          </a:ln>
        </p:spPr>
      </p:sp>
      <p:sp>
        <p:nvSpPr>
          <p:cNvPr id="24" name="Shape 22"/>
          <p:cNvSpPr/>
          <p:nvPr/>
        </p:nvSpPr>
        <p:spPr>
          <a:xfrm>
            <a:off x="256032" y="4882896"/>
            <a:ext cx="681469" cy="36576"/>
          </a:xfrm>
          <a:prstGeom prst="rect">
            <a:avLst/>
          </a:prstGeom>
          <a:solidFill>
            <a:srgbClr val="0D6EAF"/>
          </a:solidFill>
          <a:ln w="12700">
            <a:solidFill>
              <a:srgbClr val="0D6EAF"/>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8FA"/>
        </a:solidFill>
      </p:bgPr>
    </p:bg>
    <p:spTree>
      <p:nvGrpSpPr>
        <p:cNvPr id="1" name=""/>
        <p:cNvGrpSpPr/>
        <p:nvPr/>
      </p:nvGrpSpPr>
      <p:grpSpPr>
        <a:xfrm>
          <a:off x="0" y="0"/>
          <a:ext cx="0" cy="0"/>
          <a:chOff x="0" y="0"/>
          <a:chExt cx="0" cy="0"/>
        </a:xfrm>
      </p:grpSpPr>
      <p:sp>
        <p:nvSpPr>
          <p:cNvPr id="2" name="Shape 0"/>
          <p:cNvSpPr/>
          <p:nvPr/>
        </p:nvSpPr>
        <p:spPr>
          <a:xfrm>
            <a:off x="0" y="0"/>
            <a:ext cx="118872" cy="5143500"/>
          </a:xfrm>
          <a:prstGeom prst="rect">
            <a:avLst/>
          </a:prstGeom>
          <a:solidFill>
            <a:srgbClr val="0D6EAF"/>
          </a:solidFill>
          <a:ln w="12700">
            <a:solidFill>
              <a:srgbClr val="0D6EAF"/>
            </a:solidFill>
            <a:prstDash val="solid"/>
          </a:ln>
        </p:spPr>
      </p:sp>
      <p:sp>
        <p:nvSpPr>
          <p:cNvPr id="3" name="Text 1"/>
          <p:cNvSpPr/>
          <p:nvPr/>
        </p:nvSpPr>
        <p:spPr>
          <a:xfrm>
            <a:off x="256032" y="201168"/>
            <a:ext cx="8686800" cy="566928"/>
          </a:xfrm>
          <a:prstGeom prst="rect">
            <a:avLst/>
          </a:prstGeom>
          <a:noFill/>
          <a:ln/>
        </p:spPr>
        <p:txBody>
          <a:bodyPr wrap="square" lIns="0" tIns="0" rIns="0" bIns="0" rtlCol="0" anchor="ctr">
            <a:normAutofit/>
          </a:bodyPr>
          <a:lstStyle/>
          <a:p>
            <a:pPr indent="0" marL="0">
              <a:buNone/>
            </a:pPr>
            <a:r>
              <a:rPr lang="en-US" sz="2600" b="1" dirty="0">
                <a:solidFill>
                  <a:srgbClr val="1B2A4A"/>
                </a:solidFill>
                <a:latin typeface="Calibri" pitchFamily="34" charset="0"/>
                <a:ea typeface="Calibri" pitchFamily="34" charset="-122"/>
                <a:cs typeface="Calibri" pitchFamily="34" charset="-120"/>
              </a:rPr>
              <a:t>Why Is the Furuta Pendulum Hard?</a:t>
            </a:r>
            <a:endParaRPr lang="en-US" sz="2600" dirty="0"/>
          </a:p>
        </p:txBody>
      </p:sp>
      <p:sp>
        <p:nvSpPr>
          <p:cNvPr id="4" name="Text 2"/>
          <p:cNvSpPr/>
          <p:nvPr/>
        </p:nvSpPr>
        <p:spPr>
          <a:xfrm>
            <a:off x="256032" y="768096"/>
            <a:ext cx="8686800" cy="274320"/>
          </a:xfrm>
          <a:prstGeom prst="rect">
            <a:avLst/>
          </a:prstGeom>
          <a:noFill/>
          <a:ln/>
        </p:spPr>
        <p:txBody>
          <a:bodyPr wrap="square" lIns="0" tIns="0" rIns="0" bIns="0" rtlCol="0" anchor="ctr">
            <a:normAutofit/>
          </a:bodyPr>
          <a:lstStyle/>
          <a:p>
            <a:pPr indent="0" marL="0">
              <a:buNone/>
            </a:pPr>
            <a:r>
              <a:rPr lang="en-US" sz="1200" i="1" dirty="0">
                <a:solidFill>
                  <a:srgbClr val="64748B"/>
                </a:solidFill>
                <a:latin typeface="Calibri" pitchFamily="34" charset="0"/>
                <a:ea typeface="Calibri" pitchFamily="34" charset="-122"/>
                <a:cs typeface="Calibri" pitchFamily="34" charset="-120"/>
              </a:rPr>
              <a:t>The instability is fast, the plant is underactuated, and this platform adds actuator mismatch on top of that.</a:t>
            </a:r>
            <a:endParaRPr lang="en-US" sz="1200" dirty="0"/>
          </a:p>
        </p:txBody>
      </p:sp>
      <p:sp>
        <p:nvSpPr>
          <p:cNvPr id="5" name="Shape 3"/>
          <p:cNvSpPr/>
          <p:nvPr/>
        </p:nvSpPr>
        <p:spPr>
          <a:xfrm>
            <a:off x="256032" y="822960"/>
            <a:ext cx="8631936" cy="0"/>
          </a:xfrm>
          <a:prstGeom prst="line">
            <a:avLst/>
          </a:prstGeom>
          <a:noFill/>
          <a:ln w="9525">
            <a:solidFill>
              <a:srgbClr val="DDE3EC"/>
            </a:solidFill>
            <a:prstDash val="solid"/>
          </a:ln>
        </p:spPr>
      </p:sp>
      <p:sp>
        <p:nvSpPr>
          <p:cNvPr id="6" name="Shape 4"/>
          <p:cNvSpPr/>
          <p:nvPr/>
        </p:nvSpPr>
        <p:spPr>
          <a:xfrm>
            <a:off x="548640" y="1097280"/>
            <a:ext cx="3840480" cy="548640"/>
          </a:xfrm>
          <a:prstGeom prst="rect">
            <a:avLst/>
          </a:prstGeom>
          <a:solidFill>
            <a:srgbClr val="FFFFFF"/>
          </a:solidFill>
          <a:ln w="6350">
            <a:solidFill>
              <a:srgbClr val="DDE3EC"/>
            </a:solidFill>
            <a:prstDash val="solid"/>
          </a:ln>
        </p:spPr>
      </p:sp>
      <p:sp>
        <p:nvSpPr>
          <p:cNvPr id="7" name="Text 5"/>
          <p:cNvSpPr/>
          <p:nvPr/>
        </p:nvSpPr>
        <p:spPr>
          <a:xfrm>
            <a:off x="621792" y="1152144"/>
            <a:ext cx="914400" cy="146304"/>
          </a:xfrm>
          <a:prstGeom prst="rect">
            <a:avLst/>
          </a:prstGeom>
          <a:noFill/>
          <a:ln/>
        </p:spPr>
        <p:txBody>
          <a:bodyPr wrap="square" lIns="0" tIns="0" rIns="0" bIns="0" rtlCol="0" anchor="ctr"/>
          <a:lstStyle/>
          <a:p>
            <a:pPr indent="0" marL="0">
              <a:buNone/>
            </a:pPr>
            <a:r>
              <a:rPr lang="en-US" sz="800" i="1" dirty="0">
                <a:solidFill>
                  <a:srgbClr val="64748B"/>
                </a:solidFill>
                <a:latin typeface="Calibri" pitchFamily="34" charset="0"/>
                <a:ea typeface="Calibri" pitchFamily="34" charset="-122"/>
                <a:cs typeface="Calibri" pitchFamily="34" charset="-120"/>
              </a:rPr>
              <a:t>Equation</a:t>
            </a:r>
            <a:endParaRPr lang="en-US" sz="800" dirty="0"/>
          </a:p>
        </p:txBody>
      </p:sp>
      <p:sp>
        <p:nvSpPr>
          <p:cNvPr id="8" name="Shape 6"/>
          <p:cNvSpPr/>
          <p:nvPr/>
        </p:nvSpPr>
        <p:spPr>
          <a:xfrm>
            <a:off x="4617720" y="1051560"/>
            <a:ext cx="1280160" cy="1143000"/>
          </a:xfrm>
          <a:prstGeom prst="rect">
            <a:avLst/>
          </a:prstGeom>
          <a:solidFill>
            <a:srgbClr val="FEF2F2"/>
          </a:solidFill>
          <a:ln w="6350">
            <a:solidFill>
              <a:srgbClr val="DDE3EC"/>
            </a:solidFill>
            <a:prstDash val="solid"/>
          </a:ln>
        </p:spPr>
      </p:sp>
      <p:sp>
        <p:nvSpPr>
          <p:cNvPr id="9" name="Shape 7"/>
          <p:cNvSpPr/>
          <p:nvPr/>
        </p:nvSpPr>
        <p:spPr>
          <a:xfrm>
            <a:off x="4617720" y="1051560"/>
            <a:ext cx="1280160" cy="64008"/>
          </a:xfrm>
          <a:prstGeom prst="rect">
            <a:avLst/>
          </a:prstGeom>
          <a:solidFill>
            <a:srgbClr val="B91C1C"/>
          </a:solidFill>
          <a:ln w="12700">
            <a:solidFill>
              <a:srgbClr val="B91C1C"/>
            </a:solidFill>
            <a:prstDash val="solid"/>
          </a:ln>
        </p:spPr>
      </p:sp>
      <p:sp>
        <p:nvSpPr>
          <p:cNvPr id="10" name="Text 8"/>
          <p:cNvSpPr/>
          <p:nvPr/>
        </p:nvSpPr>
        <p:spPr>
          <a:xfrm>
            <a:off x="4727448" y="1161288"/>
            <a:ext cx="106070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Open-loop pole</a:t>
            </a:r>
            <a:endParaRPr lang="en-US" sz="1150" dirty="0"/>
          </a:p>
        </p:txBody>
      </p:sp>
      <p:sp>
        <p:nvSpPr>
          <p:cNvPr id="11" name="Text 9"/>
          <p:cNvSpPr/>
          <p:nvPr/>
        </p:nvSpPr>
        <p:spPr>
          <a:xfrm>
            <a:off x="4727448" y="1435608"/>
            <a:ext cx="1060704" cy="649224"/>
          </a:xfrm>
          <a:prstGeom prst="rect">
            <a:avLst/>
          </a:prstGeom>
          <a:noFill/>
          <a:ln/>
        </p:spPr>
        <p:txBody>
          <a:bodyPr wrap="square" lIns="0" tIns="0" rIns="0" bIns="0" rtlCol="0" anchor="ctr">
            <a:normAutofit/>
          </a:bodyPr>
          <a:lstStyle/>
          <a:p>
            <a:pPr indent="0" marL="0">
              <a:buNone/>
            </a:pPr>
            <a:r>
              <a:rPr lang="en-US" sz="1000" dirty="0">
                <a:solidFill>
                  <a:srgbClr val="3D5472"/>
                </a:solidFill>
                <a:latin typeface="Calibri" pitchFamily="34" charset="0"/>
                <a:ea typeface="Calibri" pitchFamily="34" charset="-122"/>
                <a:cs typeface="Calibri" pitchFamily="34" charset="-120"/>
              </a:rPr>
              <a:t>$\lambda=\pm 12.47\ \mathrm{rad/s}$</a:t>
            </a:r>
            <a:endParaRPr lang="en-US" sz="1000" dirty="0"/>
          </a:p>
        </p:txBody>
      </p:sp>
      <p:sp>
        <p:nvSpPr>
          <p:cNvPr id="12" name="Shape 10"/>
          <p:cNvSpPr/>
          <p:nvPr/>
        </p:nvSpPr>
        <p:spPr>
          <a:xfrm>
            <a:off x="6080760" y="1051560"/>
            <a:ext cx="1280160" cy="1143000"/>
          </a:xfrm>
          <a:prstGeom prst="rect">
            <a:avLst/>
          </a:prstGeom>
          <a:solidFill>
            <a:srgbClr val="FFFFFF"/>
          </a:solidFill>
          <a:ln w="6350">
            <a:solidFill>
              <a:srgbClr val="DDE3EC"/>
            </a:solidFill>
            <a:prstDash val="solid"/>
          </a:ln>
        </p:spPr>
      </p:sp>
      <p:sp>
        <p:nvSpPr>
          <p:cNvPr id="13" name="Shape 11"/>
          <p:cNvSpPr/>
          <p:nvPr/>
        </p:nvSpPr>
        <p:spPr>
          <a:xfrm>
            <a:off x="6080760" y="1051560"/>
            <a:ext cx="1280160" cy="64008"/>
          </a:xfrm>
          <a:prstGeom prst="rect">
            <a:avLst/>
          </a:prstGeom>
          <a:solidFill>
            <a:srgbClr val="0D6EAF"/>
          </a:solidFill>
          <a:ln w="12700">
            <a:solidFill>
              <a:srgbClr val="0D6EAF"/>
            </a:solidFill>
            <a:prstDash val="solid"/>
          </a:ln>
        </p:spPr>
      </p:sp>
      <p:sp>
        <p:nvSpPr>
          <p:cNvPr id="14" name="Text 12"/>
          <p:cNvSpPr/>
          <p:nvPr/>
        </p:nvSpPr>
        <p:spPr>
          <a:xfrm>
            <a:off x="6190488" y="1161288"/>
            <a:ext cx="106070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Base travel</a:t>
            </a:r>
            <a:endParaRPr lang="en-US" sz="1150" dirty="0"/>
          </a:p>
        </p:txBody>
      </p:sp>
      <p:sp>
        <p:nvSpPr>
          <p:cNvPr id="15" name="Text 13"/>
          <p:cNvSpPr/>
          <p:nvPr/>
        </p:nvSpPr>
        <p:spPr>
          <a:xfrm>
            <a:off x="6190488" y="1435608"/>
            <a:ext cx="1060704" cy="649224"/>
          </a:xfrm>
          <a:prstGeom prst="rect">
            <a:avLst/>
          </a:prstGeom>
          <a:noFill/>
          <a:ln/>
        </p:spPr>
        <p:txBody>
          <a:bodyPr wrap="square" lIns="0" tIns="0" rIns="0" bIns="0" rtlCol="0" anchor="ctr">
            <a:normAutofit/>
          </a:bodyPr>
          <a:lstStyle/>
          <a:p>
            <a:pPr indent="0" marL="0">
              <a:buNone/>
            </a:pPr>
            <a:r>
              <a:rPr lang="en-US" sz="1000" dirty="0">
                <a:solidFill>
                  <a:srgbClr val="3D5472"/>
                </a:solidFill>
                <a:latin typeface="Calibri" pitchFamily="34" charset="0"/>
                <a:ea typeface="Calibri" pitchFamily="34" charset="-122"/>
                <a:cs typeface="Calibri" pitchFamily="34" charset="-120"/>
              </a:rPr>
              <a:t>$|\theta| \le 80^\circ$</a:t>
            </a:r>
            <a:endParaRPr lang="en-US" sz="1000" dirty="0"/>
          </a:p>
        </p:txBody>
      </p:sp>
      <p:sp>
        <p:nvSpPr>
          <p:cNvPr id="16" name="Shape 14"/>
          <p:cNvSpPr/>
          <p:nvPr/>
        </p:nvSpPr>
        <p:spPr>
          <a:xfrm>
            <a:off x="7543800" y="1051560"/>
            <a:ext cx="1143000" cy="1143000"/>
          </a:xfrm>
          <a:prstGeom prst="rect">
            <a:avLst/>
          </a:prstGeom>
          <a:solidFill>
            <a:srgbClr val="FFFFFF"/>
          </a:solidFill>
          <a:ln w="6350">
            <a:solidFill>
              <a:srgbClr val="DDE3EC"/>
            </a:solidFill>
            <a:prstDash val="solid"/>
          </a:ln>
        </p:spPr>
      </p:sp>
      <p:sp>
        <p:nvSpPr>
          <p:cNvPr id="17" name="Shape 15"/>
          <p:cNvSpPr/>
          <p:nvPr/>
        </p:nvSpPr>
        <p:spPr>
          <a:xfrm>
            <a:off x="7543800" y="1051560"/>
            <a:ext cx="1143000" cy="64008"/>
          </a:xfrm>
          <a:prstGeom prst="rect">
            <a:avLst/>
          </a:prstGeom>
          <a:solidFill>
            <a:srgbClr val="0D6EAF"/>
          </a:solidFill>
          <a:ln w="12700">
            <a:solidFill>
              <a:srgbClr val="0D6EAF"/>
            </a:solidFill>
            <a:prstDash val="solid"/>
          </a:ln>
        </p:spPr>
      </p:sp>
      <p:sp>
        <p:nvSpPr>
          <p:cNvPr id="18" name="Text 16"/>
          <p:cNvSpPr/>
          <p:nvPr/>
        </p:nvSpPr>
        <p:spPr>
          <a:xfrm>
            <a:off x="7653528" y="1161288"/>
            <a:ext cx="92354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Engage window</a:t>
            </a:r>
            <a:endParaRPr lang="en-US" sz="1150" dirty="0"/>
          </a:p>
        </p:txBody>
      </p:sp>
      <p:sp>
        <p:nvSpPr>
          <p:cNvPr id="19" name="Text 17"/>
          <p:cNvSpPr/>
          <p:nvPr/>
        </p:nvSpPr>
        <p:spPr>
          <a:xfrm>
            <a:off x="7653528" y="1435608"/>
            <a:ext cx="923544" cy="649224"/>
          </a:xfrm>
          <a:prstGeom prst="rect">
            <a:avLst/>
          </a:prstGeom>
          <a:noFill/>
          <a:ln/>
        </p:spPr>
        <p:txBody>
          <a:bodyPr wrap="square" lIns="0" tIns="0" rIns="0" bIns="0" rtlCol="0" anchor="ctr">
            <a:normAutofit/>
          </a:bodyPr>
          <a:lstStyle/>
          <a:p>
            <a:pPr indent="0" marL="0">
              <a:buNone/>
            </a:pPr>
            <a:r>
              <a:rPr lang="en-US" sz="1000" dirty="0">
                <a:solidFill>
                  <a:srgbClr val="3D5472"/>
                </a:solidFill>
                <a:latin typeface="Calibri" pitchFamily="34" charset="0"/>
                <a:ea typeface="Calibri" pitchFamily="34" charset="-122"/>
                <a:cs typeface="Calibri" pitchFamily="34" charset="-120"/>
              </a:rPr>
              <a:t>$|\alpha|&lt;3^\circ,\ |\dot{\alpha}|&lt;20^\circ/s$</a:t>
            </a:r>
            <a:endParaRPr lang="en-US" sz="1000" dirty="0"/>
          </a:p>
        </p:txBody>
      </p:sp>
      <p:sp>
        <p:nvSpPr>
          <p:cNvPr id="20" name="Shape 18"/>
          <p:cNvSpPr/>
          <p:nvPr/>
        </p:nvSpPr>
        <p:spPr>
          <a:xfrm>
            <a:off x="411480" y="2057400"/>
            <a:ext cx="4069080" cy="1828800"/>
          </a:xfrm>
          <a:prstGeom prst="rect">
            <a:avLst/>
          </a:prstGeom>
          <a:solidFill>
            <a:srgbClr val="FFFFFF"/>
          </a:solidFill>
          <a:ln w="6350">
            <a:solidFill>
              <a:srgbClr val="DDE3EC"/>
            </a:solidFill>
            <a:prstDash val="solid"/>
          </a:ln>
        </p:spPr>
      </p:sp>
      <p:sp>
        <p:nvSpPr>
          <p:cNvPr id="21" name="Shape 19"/>
          <p:cNvSpPr/>
          <p:nvPr/>
        </p:nvSpPr>
        <p:spPr>
          <a:xfrm>
            <a:off x="411480" y="2057400"/>
            <a:ext cx="4069080" cy="64008"/>
          </a:xfrm>
          <a:prstGeom prst="rect">
            <a:avLst/>
          </a:prstGeom>
          <a:solidFill>
            <a:srgbClr val="0D6EAF"/>
          </a:solidFill>
          <a:ln w="12700">
            <a:solidFill>
              <a:srgbClr val="0D6EAF"/>
            </a:solidFill>
            <a:prstDash val="solid"/>
          </a:ln>
        </p:spPr>
      </p:sp>
      <p:sp>
        <p:nvSpPr>
          <p:cNvPr id="22" name="Text 20"/>
          <p:cNvSpPr/>
          <p:nvPr/>
        </p:nvSpPr>
        <p:spPr>
          <a:xfrm>
            <a:off x="521208" y="2167128"/>
            <a:ext cx="384962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Classical difficulty</a:t>
            </a:r>
            <a:endParaRPr lang="en-US" sz="1150" dirty="0"/>
          </a:p>
        </p:txBody>
      </p:sp>
      <p:sp>
        <p:nvSpPr>
          <p:cNvPr id="23" name="Text 21"/>
          <p:cNvSpPr/>
          <p:nvPr/>
        </p:nvSpPr>
        <p:spPr>
          <a:xfrm>
            <a:off x="521208" y="2441448"/>
            <a:ext cx="3849624" cy="1335024"/>
          </a:xfrm>
          <a:prstGeom prst="rect">
            <a:avLst/>
          </a:prstGeom>
          <a:noFill/>
          <a:ln/>
        </p:spPr>
        <p:txBody>
          <a:bodyPr wrap="square" lIns="0" tIns="0" rIns="0" bIns="0" rtlCol="0" anchor="ctr">
            <a:normAutofit/>
          </a:bodyPr>
          <a:lstStyle/>
          <a:p>
            <a:pPr indent="0" marL="0">
              <a:buNone/>
            </a:pPr>
            <a:r>
              <a:rPr lang="en-US" sz="980" dirty="0">
                <a:solidFill>
                  <a:srgbClr val="3D5472"/>
                </a:solidFill>
                <a:latin typeface="Calibri" pitchFamily="34" charset="0"/>
                <a:ea typeface="Calibri" pitchFamily="34" charset="-122"/>
                <a:cs typeface="Calibri" pitchFamily="34" charset="-120"/>
              </a:rPr>
              <a:t>• Underactuated system: the pendulum is not actuated directly; only the base is.</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The unstable mode is fast enough that estimation and actuation lag matter immediately.</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Nonlinear gravity and centrifugal coupling remain active even near upright.</a:t>
            </a:r>
            <a:endParaRPr lang="en-US" sz="980" dirty="0"/>
          </a:p>
        </p:txBody>
      </p:sp>
      <p:sp>
        <p:nvSpPr>
          <p:cNvPr id="24" name="Shape 22"/>
          <p:cNvSpPr/>
          <p:nvPr/>
        </p:nvSpPr>
        <p:spPr>
          <a:xfrm>
            <a:off x="4617720" y="2057400"/>
            <a:ext cx="4069080" cy="1828800"/>
          </a:xfrm>
          <a:prstGeom prst="rect">
            <a:avLst/>
          </a:prstGeom>
          <a:solidFill>
            <a:srgbClr val="FFFBEB"/>
          </a:solidFill>
          <a:ln w="6350">
            <a:solidFill>
              <a:srgbClr val="DDE3EC"/>
            </a:solidFill>
            <a:prstDash val="solid"/>
          </a:ln>
        </p:spPr>
      </p:sp>
      <p:sp>
        <p:nvSpPr>
          <p:cNvPr id="25" name="Shape 23"/>
          <p:cNvSpPr/>
          <p:nvPr/>
        </p:nvSpPr>
        <p:spPr>
          <a:xfrm>
            <a:off x="4617720" y="2057400"/>
            <a:ext cx="4069080" cy="64008"/>
          </a:xfrm>
          <a:prstGeom prst="rect">
            <a:avLst/>
          </a:prstGeom>
          <a:solidFill>
            <a:srgbClr val="D97706"/>
          </a:solidFill>
          <a:ln w="12700">
            <a:solidFill>
              <a:srgbClr val="D97706"/>
            </a:solidFill>
            <a:prstDash val="solid"/>
          </a:ln>
        </p:spPr>
      </p:sp>
      <p:sp>
        <p:nvSpPr>
          <p:cNvPr id="26" name="Text 24"/>
          <p:cNvSpPr/>
          <p:nvPr/>
        </p:nvSpPr>
        <p:spPr>
          <a:xfrm>
            <a:off x="4727448" y="2167128"/>
            <a:ext cx="384962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Platform-specific difficulty</a:t>
            </a:r>
            <a:endParaRPr lang="en-US" sz="1150" dirty="0"/>
          </a:p>
        </p:txBody>
      </p:sp>
      <p:sp>
        <p:nvSpPr>
          <p:cNvPr id="27" name="Text 25"/>
          <p:cNvSpPr/>
          <p:nvPr/>
        </p:nvSpPr>
        <p:spPr>
          <a:xfrm>
            <a:off x="4727448" y="2441448"/>
            <a:ext cx="3849624" cy="1335024"/>
          </a:xfrm>
          <a:prstGeom prst="rect">
            <a:avLst/>
          </a:prstGeom>
          <a:noFill/>
          <a:ln/>
        </p:spPr>
        <p:txBody>
          <a:bodyPr wrap="square" lIns="0" tIns="0" rIns="0" bIns="0" rtlCol="0" anchor="ctr">
            <a:normAutofit/>
          </a:bodyPr>
          <a:lstStyle/>
          <a:p>
            <a:pPr indent="0" marL="0">
              <a:buNone/>
            </a:pPr>
            <a:r>
              <a:rPr lang="en-US" sz="980" dirty="0">
                <a:solidFill>
                  <a:srgbClr val="3D5472"/>
                </a:solidFill>
                <a:latin typeface="Calibri" pitchFamily="34" charset="0"/>
                <a:ea typeface="Calibri" pitchFamily="34" charset="-122"/>
                <a:cs typeface="Calibri" pitchFamily="34" charset="-120"/>
              </a:rPr>
              <a:t>• The controller computes acceleration, but the firmware realizes it by integrating to a speed command.</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The base is measured in closed loop, but the motor itself is still commanded open loop.</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Sensor mux glitches, missed steps, and mechanical travel limits all feed back into control design.</a:t>
            </a:r>
            <a:endParaRPr lang="en-US" sz="980" dirty="0"/>
          </a:p>
        </p:txBody>
      </p:sp>
      <p:sp>
        <p:nvSpPr>
          <p:cNvPr id="28" name="Text 26"/>
          <p:cNvSpPr/>
          <p:nvPr/>
        </p:nvSpPr>
        <p:spPr>
          <a:xfrm>
            <a:off x="8412480" y="4892040"/>
            <a:ext cx="640080" cy="201168"/>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4 / 38</a:t>
            </a:r>
            <a:endParaRPr lang="en-US" sz="900" dirty="0"/>
          </a:p>
        </p:txBody>
      </p:sp>
      <p:sp>
        <p:nvSpPr>
          <p:cNvPr id="29" name="Shape 27"/>
          <p:cNvSpPr/>
          <p:nvPr/>
        </p:nvSpPr>
        <p:spPr>
          <a:xfrm>
            <a:off x="256032" y="4882896"/>
            <a:ext cx="8631936" cy="36576"/>
          </a:xfrm>
          <a:prstGeom prst="rect">
            <a:avLst/>
          </a:prstGeom>
          <a:solidFill>
            <a:srgbClr val="0D6EAF">
              <a:alpha val="15000"/>
            </a:srgbClr>
          </a:solidFill>
          <a:ln w="12700">
            <a:solidFill>
              <a:srgbClr val="0D6EAF"/>
            </a:solidFill>
            <a:prstDash val="solid"/>
          </a:ln>
        </p:spPr>
      </p:sp>
      <p:sp>
        <p:nvSpPr>
          <p:cNvPr id="30" name="Shape 28"/>
          <p:cNvSpPr/>
          <p:nvPr/>
        </p:nvSpPr>
        <p:spPr>
          <a:xfrm>
            <a:off x="256032" y="4882896"/>
            <a:ext cx="908625" cy="36576"/>
          </a:xfrm>
          <a:prstGeom prst="rect">
            <a:avLst/>
          </a:prstGeom>
          <a:solidFill>
            <a:srgbClr val="0D6EAF"/>
          </a:solidFill>
          <a:ln w="12700">
            <a:solidFill>
              <a:srgbClr val="0D6EAF"/>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8FA"/>
        </a:solidFill>
      </p:bgPr>
    </p:bg>
    <p:spTree>
      <p:nvGrpSpPr>
        <p:cNvPr id="1" name=""/>
        <p:cNvGrpSpPr/>
        <p:nvPr/>
      </p:nvGrpSpPr>
      <p:grpSpPr>
        <a:xfrm>
          <a:off x="0" y="0"/>
          <a:ext cx="0" cy="0"/>
          <a:chOff x="0" y="0"/>
          <a:chExt cx="0" cy="0"/>
        </a:xfrm>
      </p:grpSpPr>
      <p:sp>
        <p:nvSpPr>
          <p:cNvPr id="2" name="Shape 0"/>
          <p:cNvSpPr/>
          <p:nvPr/>
        </p:nvSpPr>
        <p:spPr>
          <a:xfrm>
            <a:off x="0" y="0"/>
            <a:ext cx="118872" cy="5143500"/>
          </a:xfrm>
          <a:prstGeom prst="rect">
            <a:avLst/>
          </a:prstGeom>
          <a:solidFill>
            <a:srgbClr val="0D6EAF"/>
          </a:solidFill>
          <a:ln w="12700">
            <a:solidFill>
              <a:srgbClr val="0D6EAF"/>
            </a:solidFill>
            <a:prstDash val="solid"/>
          </a:ln>
        </p:spPr>
      </p:sp>
      <p:sp>
        <p:nvSpPr>
          <p:cNvPr id="3" name="Text 1"/>
          <p:cNvSpPr/>
          <p:nvPr/>
        </p:nvSpPr>
        <p:spPr>
          <a:xfrm>
            <a:off x="256032" y="201168"/>
            <a:ext cx="8686800" cy="566928"/>
          </a:xfrm>
          <a:prstGeom prst="rect">
            <a:avLst/>
          </a:prstGeom>
          <a:noFill/>
          <a:ln/>
        </p:spPr>
        <p:txBody>
          <a:bodyPr wrap="square" lIns="0" tIns="0" rIns="0" bIns="0" rtlCol="0" anchor="ctr">
            <a:normAutofit/>
          </a:bodyPr>
          <a:lstStyle/>
          <a:p>
            <a:pPr indent="0" marL="0">
              <a:buNone/>
            </a:pPr>
            <a:r>
              <a:rPr lang="en-US" sz="2600" b="1" dirty="0">
                <a:solidFill>
                  <a:srgbClr val="1B2A4A"/>
                </a:solidFill>
                <a:latin typeface="Calibri" pitchFamily="34" charset="0"/>
                <a:ea typeface="Calibri" pitchFamily="34" charset="-122"/>
                <a:cs typeface="Calibri" pitchFamily="34" charset="-120"/>
              </a:rPr>
              <a:t>Hardware Overview</a:t>
            </a:r>
            <a:endParaRPr lang="en-US" sz="2600" dirty="0"/>
          </a:p>
        </p:txBody>
      </p:sp>
      <p:sp>
        <p:nvSpPr>
          <p:cNvPr id="4" name="Text 2"/>
          <p:cNvSpPr/>
          <p:nvPr/>
        </p:nvSpPr>
        <p:spPr>
          <a:xfrm>
            <a:off x="256032" y="768096"/>
            <a:ext cx="8686800" cy="274320"/>
          </a:xfrm>
          <a:prstGeom prst="rect">
            <a:avLst/>
          </a:prstGeom>
          <a:noFill/>
          <a:ln/>
        </p:spPr>
        <p:txBody>
          <a:bodyPr wrap="square" lIns="0" tIns="0" rIns="0" bIns="0" rtlCol="0" anchor="ctr">
            <a:normAutofit/>
          </a:bodyPr>
          <a:lstStyle/>
          <a:p>
            <a:pPr indent="0" marL="0">
              <a:buNone/>
            </a:pPr>
            <a:r>
              <a:rPr lang="en-US" sz="1200" i="1" dirty="0">
                <a:solidFill>
                  <a:srgbClr val="64748B"/>
                </a:solidFill>
                <a:latin typeface="Calibri" pitchFamily="34" charset="0"/>
                <a:ea typeface="Calibri" pitchFamily="34" charset="-122"/>
                <a:cs typeface="Calibri" pitchFamily="34" charset="-120"/>
              </a:rPr>
              <a:t>This is a custom stepper-driven rotary inverted pendulum with an L-shaped pendulum and dual absolute encoders.</a:t>
            </a:r>
            <a:endParaRPr lang="en-US" sz="1200" dirty="0"/>
          </a:p>
        </p:txBody>
      </p:sp>
      <p:sp>
        <p:nvSpPr>
          <p:cNvPr id="5" name="Shape 3"/>
          <p:cNvSpPr/>
          <p:nvPr/>
        </p:nvSpPr>
        <p:spPr>
          <a:xfrm>
            <a:off x="256032" y="822960"/>
            <a:ext cx="8631936" cy="0"/>
          </a:xfrm>
          <a:prstGeom prst="line">
            <a:avLst/>
          </a:prstGeom>
          <a:noFill/>
          <a:ln w="9525">
            <a:solidFill>
              <a:srgbClr val="DDE3EC"/>
            </a:solidFill>
            <a:prstDash val="solid"/>
          </a:ln>
        </p:spPr>
      </p:sp>
      <p:sp>
        <p:nvSpPr>
          <p:cNvPr id="6" name="Shape 4"/>
          <p:cNvSpPr/>
          <p:nvPr/>
        </p:nvSpPr>
        <p:spPr>
          <a:xfrm>
            <a:off x="411480" y="1078992"/>
            <a:ext cx="4480560" cy="3017520"/>
          </a:xfrm>
          <a:prstGeom prst="rect">
            <a:avLst/>
          </a:prstGeom>
          <a:solidFill>
            <a:srgbClr val="FFFFFF"/>
          </a:solidFill>
          <a:ln w="6350">
            <a:solidFill>
              <a:srgbClr val="DDE3EC"/>
            </a:solidFill>
            <a:prstDash val="solid"/>
          </a:ln>
        </p:spPr>
      </p:sp>
      <p:sp>
        <p:nvSpPr>
          <p:cNvPr id="7" name="Text 5"/>
          <p:cNvSpPr/>
          <p:nvPr/>
        </p:nvSpPr>
        <p:spPr>
          <a:xfrm>
            <a:off x="484632" y="1133856"/>
            <a:ext cx="914400" cy="146304"/>
          </a:xfrm>
          <a:prstGeom prst="rect">
            <a:avLst/>
          </a:prstGeom>
          <a:noFill/>
          <a:ln/>
        </p:spPr>
        <p:txBody>
          <a:bodyPr wrap="square" lIns="0" tIns="0" rIns="0" bIns="0" rtlCol="0" anchor="ctr"/>
          <a:lstStyle/>
          <a:p>
            <a:pPr indent="0" marL="0">
              <a:buNone/>
            </a:pPr>
            <a:r>
              <a:rPr lang="en-US" sz="800" i="1" dirty="0">
                <a:solidFill>
                  <a:srgbClr val="64748B"/>
                </a:solidFill>
                <a:latin typeface="Calibri" pitchFamily="34" charset="0"/>
                <a:ea typeface="Calibri" pitchFamily="34" charset="-122"/>
                <a:cs typeface="Calibri" pitchFamily="34" charset="-120"/>
              </a:rPr>
              <a:t>Figure</a:t>
            </a:r>
            <a:endParaRPr lang="en-US" sz="800" dirty="0"/>
          </a:p>
        </p:txBody>
      </p:sp>
      <p:sp>
        <p:nvSpPr>
          <p:cNvPr id="8" name="Text 6"/>
          <p:cNvSpPr/>
          <p:nvPr/>
        </p:nvSpPr>
        <p:spPr>
          <a:xfrm>
            <a:off x="502920" y="4160520"/>
            <a:ext cx="4343400" cy="256032"/>
          </a:xfrm>
          <a:prstGeom prst="rect">
            <a:avLst/>
          </a:prstGeom>
          <a:noFill/>
          <a:ln/>
        </p:spPr>
        <p:txBody>
          <a:bodyPr wrap="square" lIns="0" tIns="0" rIns="0" bIns="0" rtlCol="0" anchor="t">
            <a:normAutofit/>
          </a:bodyPr>
          <a:lstStyle/>
          <a:p>
            <a:pPr algn="l" indent="0" marL="0">
              <a:buNone/>
            </a:pPr>
            <a:r>
              <a:rPr lang="en-US" sz="900" i="1" dirty="0">
                <a:solidFill>
                  <a:srgbClr val="64748B"/>
                </a:solidFill>
                <a:latin typeface="Calibri" pitchFamily="34" charset="0"/>
                <a:ea typeface="Calibri" pitchFamily="34" charset="-122"/>
                <a:cs typeface="Calibri" pitchFamily="34" charset="-120"/>
              </a:rPr>
              <a:t>Custom stepper-driven Furuta rig used for all experiments.</a:t>
            </a:r>
            <a:endParaRPr lang="en-US" sz="900" dirty="0"/>
          </a:p>
        </p:txBody>
      </p:sp>
      <p:sp>
        <p:nvSpPr>
          <p:cNvPr id="9" name="Shape 7"/>
          <p:cNvSpPr/>
          <p:nvPr/>
        </p:nvSpPr>
        <p:spPr>
          <a:xfrm>
            <a:off x="5074920" y="1078992"/>
            <a:ext cx="3611880" cy="1417320"/>
          </a:xfrm>
          <a:prstGeom prst="rect">
            <a:avLst/>
          </a:prstGeom>
          <a:solidFill>
            <a:srgbClr val="FFFFFF"/>
          </a:solidFill>
          <a:ln w="6350">
            <a:solidFill>
              <a:srgbClr val="DDE3EC"/>
            </a:solidFill>
            <a:prstDash val="solid"/>
          </a:ln>
        </p:spPr>
      </p:sp>
      <p:sp>
        <p:nvSpPr>
          <p:cNvPr id="10" name="Shape 8"/>
          <p:cNvSpPr/>
          <p:nvPr/>
        </p:nvSpPr>
        <p:spPr>
          <a:xfrm>
            <a:off x="5074920" y="1078992"/>
            <a:ext cx="3611880" cy="64008"/>
          </a:xfrm>
          <a:prstGeom prst="rect">
            <a:avLst/>
          </a:prstGeom>
          <a:solidFill>
            <a:srgbClr val="0D6EAF"/>
          </a:solidFill>
          <a:ln w="12700">
            <a:solidFill>
              <a:srgbClr val="0D6EAF"/>
            </a:solidFill>
            <a:prstDash val="solid"/>
          </a:ln>
        </p:spPr>
      </p:sp>
      <p:sp>
        <p:nvSpPr>
          <p:cNvPr id="11" name="Text 9"/>
          <p:cNvSpPr/>
          <p:nvPr/>
        </p:nvSpPr>
        <p:spPr>
          <a:xfrm>
            <a:off x="5184648" y="1188720"/>
            <a:ext cx="339242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Main hardware stack</a:t>
            </a:r>
            <a:endParaRPr lang="en-US" sz="1150" dirty="0"/>
          </a:p>
        </p:txBody>
      </p:sp>
      <p:sp>
        <p:nvSpPr>
          <p:cNvPr id="12" name="Text 10"/>
          <p:cNvSpPr/>
          <p:nvPr/>
        </p:nvSpPr>
        <p:spPr>
          <a:xfrm>
            <a:off x="5184648" y="1463040"/>
            <a:ext cx="3392424" cy="923544"/>
          </a:xfrm>
          <a:prstGeom prst="rect">
            <a:avLst/>
          </a:prstGeom>
          <a:noFill/>
          <a:ln/>
        </p:spPr>
        <p:txBody>
          <a:bodyPr wrap="square" lIns="0" tIns="0" rIns="0" bIns="0" rtlCol="0" anchor="ctr">
            <a:normAutofit/>
          </a:bodyPr>
          <a:lstStyle/>
          <a:p>
            <a:pPr indent="0" marL="0">
              <a:buNone/>
            </a:pPr>
            <a:r>
              <a:rPr lang="en-US" sz="980" dirty="0">
                <a:solidFill>
                  <a:srgbClr val="3D5472"/>
                </a:solidFill>
                <a:latin typeface="Calibri" pitchFamily="34" charset="0"/>
                <a:ea typeface="Calibri" pitchFamily="34" charset="-122"/>
                <a:cs typeface="Calibri" pitchFamily="34" charset="-120"/>
              </a:rPr>
              <a:t>• Arduino Mega 2560 + TMC2209 + FastAccelStepper</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NEMA17 stepper at 1600 microsteps/rev</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Two AS5600 absolute encoders via PCA9548A mux</a:t>
            </a:r>
            <a:endParaRPr lang="en-US" sz="980" dirty="0"/>
          </a:p>
        </p:txBody>
      </p:sp>
      <p:sp>
        <p:nvSpPr>
          <p:cNvPr id="13" name="Shape 11"/>
          <p:cNvSpPr/>
          <p:nvPr/>
        </p:nvSpPr>
        <p:spPr>
          <a:xfrm>
            <a:off x="5074920" y="2670048"/>
            <a:ext cx="3611880" cy="1417320"/>
          </a:xfrm>
          <a:prstGeom prst="rect">
            <a:avLst/>
          </a:prstGeom>
          <a:solidFill>
            <a:srgbClr val="FFFFFF"/>
          </a:solidFill>
          <a:ln w="6350">
            <a:solidFill>
              <a:srgbClr val="DDE3EC"/>
            </a:solidFill>
            <a:prstDash val="solid"/>
          </a:ln>
        </p:spPr>
      </p:sp>
      <p:sp>
        <p:nvSpPr>
          <p:cNvPr id="14" name="Shape 12"/>
          <p:cNvSpPr/>
          <p:nvPr/>
        </p:nvSpPr>
        <p:spPr>
          <a:xfrm>
            <a:off x="5074920" y="2670048"/>
            <a:ext cx="3611880" cy="64008"/>
          </a:xfrm>
          <a:prstGeom prst="rect">
            <a:avLst/>
          </a:prstGeom>
          <a:solidFill>
            <a:srgbClr val="0A7A6E"/>
          </a:solidFill>
          <a:ln w="12700">
            <a:solidFill>
              <a:srgbClr val="0A7A6E"/>
            </a:solidFill>
            <a:prstDash val="solid"/>
          </a:ln>
        </p:spPr>
      </p:sp>
      <p:sp>
        <p:nvSpPr>
          <p:cNvPr id="15" name="Text 13"/>
          <p:cNvSpPr/>
          <p:nvPr/>
        </p:nvSpPr>
        <p:spPr>
          <a:xfrm>
            <a:off x="5184648" y="2779776"/>
            <a:ext cx="339242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Mechanical plant</a:t>
            </a:r>
            <a:endParaRPr lang="en-US" sz="1150" dirty="0"/>
          </a:p>
        </p:txBody>
      </p:sp>
      <p:sp>
        <p:nvSpPr>
          <p:cNvPr id="16" name="Text 14"/>
          <p:cNvSpPr/>
          <p:nvPr/>
        </p:nvSpPr>
        <p:spPr>
          <a:xfrm>
            <a:off x="5184648" y="3054096"/>
            <a:ext cx="3392424" cy="923544"/>
          </a:xfrm>
          <a:prstGeom prst="rect">
            <a:avLst/>
          </a:prstGeom>
          <a:noFill/>
          <a:ln/>
        </p:spPr>
        <p:txBody>
          <a:bodyPr wrap="square" lIns="0" tIns="0" rIns="0" bIns="0" rtlCol="0" anchor="ctr">
            <a:normAutofit/>
          </a:bodyPr>
          <a:lstStyle/>
          <a:p>
            <a:pPr indent="0" marL="0">
              <a:buNone/>
            </a:pPr>
            <a:r>
              <a:rPr lang="en-US" sz="980" dirty="0">
                <a:solidFill>
                  <a:srgbClr val="3D5472"/>
                </a:solidFill>
                <a:latin typeface="Calibri" pitchFamily="34" charset="0"/>
                <a:ea typeface="Calibri" pitchFamily="34" charset="-122"/>
                <a:cs typeface="Calibri" pitchFamily="34" charset="-120"/>
              </a:rPr>
              <a:t>• Horizontal arm rotating about the vertical base axis θ</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L-shaped pendulum with horizontal pivot shaft and vertical swinging segment α</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Three 688RS bearings supporting the pendulum pivot</a:t>
            </a:r>
            <a:endParaRPr lang="en-US" sz="980" dirty="0"/>
          </a:p>
        </p:txBody>
      </p:sp>
      <p:sp>
        <p:nvSpPr>
          <p:cNvPr id="17" name="Text 15"/>
          <p:cNvSpPr/>
          <p:nvPr/>
        </p:nvSpPr>
        <p:spPr>
          <a:xfrm>
            <a:off x="8412480" y="4892040"/>
            <a:ext cx="640080" cy="201168"/>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5 / 38</a:t>
            </a:r>
            <a:endParaRPr lang="en-US" sz="900" dirty="0"/>
          </a:p>
        </p:txBody>
      </p:sp>
      <p:sp>
        <p:nvSpPr>
          <p:cNvPr id="18" name="Shape 16"/>
          <p:cNvSpPr/>
          <p:nvPr/>
        </p:nvSpPr>
        <p:spPr>
          <a:xfrm>
            <a:off x="256032" y="4882896"/>
            <a:ext cx="8631936" cy="36576"/>
          </a:xfrm>
          <a:prstGeom prst="rect">
            <a:avLst/>
          </a:prstGeom>
          <a:solidFill>
            <a:srgbClr val="0D6EAF">
              <a:alpha val="15000"/>
            </a:srgbClr>
          </a:solidFill>
          <a:ln w="12700">
            <a:solidFill>
              <a:srgbClr val="0D6EAF"/>
            </a:solidFill>
            <a:prstDash val="solid"/>
          </a:ln>
        </p:spPr>
      </p:sp>
      <p:sp>
        <p:nvSpPr>
          <p:cNvPr id="19" name="Shape 17"/>
          <p:cNvSpPr/>
          <p:nvPr/>
        </p:nvSpPr>
        <p:spPr>
          <a:xfrm>
            <a:off x="256032" y="4882896"/>
            <a:ext cx="1135781" cy="36576"/>
          </a:xfrm>
          <a:prstGeom prst="rect">
            <a:avLst/>
          </a:prstGeom>
          <a:solidFill>
            <a:srgbClr val="0D6EAF"/>
          </a:solidFill>
          <a:ln w="12700">
            <a:solidFill>
              <a:srgbClr val="0D6EAF"/>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BEB"/>
        </a:solidFill>
      </p:bgPr>
    </p:bg>
    <p:spTree>
      <p:nvGrpSpPr>
        <p:cNvPr id="1" name=""/>
        <p:cNvGrpSpPr/>
        <p:nvPr/>
      </p:nvGrpSpPr>
      <p:grpSpPr>
        <a:xfrm>
          <a:off x="0" y="0"/>
          <a:ext cx="0" cy="0"/>
          <a:chOff x="0" y="0"/>
          <a:chExt cx="0" cy="0"/>
        </a:xfrm>
      </p:grpSpPr>
      <p:sp>
        <p:nvSpPr>
          <p:cNvPr id="2" name="Shape 0"/>
          <p:cNvSpPr/>
          <p:nvPr/>
        </p:nvSpPr>
        <p:spPr>
          <a:xfrm>
            <a:off x="0" y="0"/>
            <a:ext cx="118872" cy="5143500"/>
          </a:xfrm>
          <a:prstGeom prst="rect">
            <a:avLst/>
          </a:prstGeom>
          <a:solidFill>
            <a:srgbClr val="D97706"/>
          </a:solidFill>
          <a:ln w="12700">
            <a:solidFill>
              <a:srgbClr val="D97706"/>
            </a:solidFill>
            <a:prstDash val="solid"/>
          </a:ln>
        </p:spPr>
      </p:sp>
      <p:sp>
        <p:nvSpPr>
          <p:cNvPr id="3" name="Shape 1"/>
          <p:cNvSpPr/>
          <p:nvPr/>
        </p:nvSpPr>
        <p:spPr>
          <a:xfrm>
            <a:off x="6263640" y="182880"/>
            <a:ext cx="2651760" cy="320040"/>
          </a:xfrm>
          <a:prstGeom prst="rect">
            <a:avLst/>
          </a:prstGeom>
          <a:solidFill>
            <a:srgbClr val="D97706"/>
          </a:solidFill>
          <a:ln w="12700">
            <a:solidFill>
              <a:srgbClr val="D97706"/>
            </a:solidFill>
            <a:prstDash val="solid"/>
          </a:ln>
        </p:spPr>
      </p:sp>
      <p:sp>
        <p:nvSpPr>
          <p:cNvPr id="4" name="Text 2"/>
          <p:cNvSpPr/>
          <p:nvPr/>
        </p:nvSpPr>
        <p:spPr>
          <a:xfrm>
            <a:off x="6263640" y="182880"/>
            <a:ext cx="2651760"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KEY CONTRIBUTION</a:t>
            </a:r>
            <a:endParaRPr lang="en-US" sz="900" dirty="0"/>
          </a:p>
        </p:txBody>
      </p:sp>
      <p:sp>
        <p:nvSpPr>
          <p:cNvPr id="5" name="Text 3"/>
          <p:cNvSpPr/>
          <p:nvPr/>
        </p:nvSpPr>
        <p:spPr>
          <a:xfrm>
            <a:off x="256032" y="201168"/>
            <a:ext cx="5925312" cy="566928"/>
          </a:xfrm>
          <a:prstGeom prst="rect">
            <a:avLst/>
          </a:prstGeom>
          <a:noFill/>
          <a:ln/>
        </p:spPr>
        <p:txBody>
          <a:bodyPr wrap="square" lIns="0" tIns="0" rIns="0" bIns="0" rtlCol="0" anchor="ctr">
            <a:normAutofit/>
          </a:bodyPr>
          <a:lstStyle/>
          <a:p>
            <a:pPr indent="0" marL="0">
              <a:buNone/>
            </a:pPr>
            <a:r>
              <a:rPr lang="en-US" sz="2200" b="1" dirty="0">
                <a:solidFill>
                  <a:srgbClr val="1B2A4A"/>
                </a:solidFill>
                <a:latin typeface="Calibri" pitchFamily="34" charset="0"/>
                <a:ea typeface="Calibri" pitchFamily="34" charset="-122"/>
                <a:cs typeface="Calibri" pitchFamily="34" charset="-120"/>
              </a:rPr>
              <a:t>Sensor Architecture: Two AS5600s Through One I²C Mux</a:t>
            </a:r>
            <a:endParaRPr lang="en-US" sz="2200" dirty="0"/>
          </a:p>
        </p:txBody>
      </p:sp>
      <p:sp>
        <p:nvSpPr>
          <p:cNvPr id="6" name="Text 4"/>
          <p:cNvSpPr/>
          <p:nvPr/>
        </p:nvSpPr>
        <p:spPr>
          <a:xfrm>
            <a:off x="256032" y="768096"/>
            <a:ext cx="8686800" cy="274320"/>
          </a:xfrm>
          <a:prstGeom prst="rect">
            <a:avLst/>
          </a:prstGeom>
          <a:noFill/>
          <a:ln/>
        </p:spPr>
        <p:txBody>
          <a:bodyPr wrap="square" lIns="0" tIns="0" rIns="0" bIns="0" rtlCol="0" anchor="ctr">
            <a:normAutofit/>
          </a:bodyPr>
          <a:lstStyle/>
          <a:p>
            <a:pPr indent="0" marL="0">
              <a:buNone/>
            </a:pPr>
            <a:r>
              <a:rPr lang="en-US" sz="1200" i="1" dirty="0">
                <a:solidFill>
                  <a:srgbClr val="64748B"/>
                </a:solidFill>
                <a:latin typeface="Calibri" pitchFamily="34" charset="0"/>
                <a:ea typeface="Calibri" pitchFamily="34" charset="-122"/>
                <a:cs typeface="Calibri" pitchFamily="34" charset="-120"/>
              </a:rPr>
              <a:t>The sensing path is simple in concept but critical in practice because both encoders share the same fixed AS5600 address.</a:t>
            </a:r>
            <a:endParaRPr lang="en-US" sz="1200" dirty="0"/>
          </a:p>
        </p:txBody>
      </p:sp>
      <p:sp>
        <p:nvSpPr>
          <p:cNvPr id="7" name="Shape 5"/>
          <p:cNvSpPr/>
          <p:nvPr/>
        </p:nvSpPr>
        <p:spPr>
          <a:xfrm>
            <a:off x="256032" y="822960"/>
            <a:ext cx="8631936" cy="0"/>
          </a:xfrm>
          <a:prstGeom prst="line">
            <a:avLst/>
          </a:prstGeom>
          <a:noFill/>
          <a:ln w="9525">
            <a:solidFill>
              <a:srgbClr val="D97706"/>
            </a:solidFill>
            <a:prstDash val="solid"/>
          </a:ln>
        </p:spPr>
      </p:sp>
      <p:sp>
        <p:nvSpPr>
          <p:cNvPr id="8" name="Shape 6"/>
          <p:cNvSpPr/>
          <p:nvPr/>
        </p:nvSpPr>
        <p:spPr>
          <a:xfrm>
            <a:off x="502920" y="1243584"/>
            <a:ext cx="1495958" cy="625450"/>
          </a:xfrm>
          <a:prstGeom prst="roundRect">
            <a:avLst/>
          </a:prstGeom>
          <a:solidFill>
            <a:srgbClr val="D6E8F5"/>
          </a:solidFill>
          <a:ln w="6350">
            <a:solidFill>
              <a:srgbClr val="DDE3EC"/>
            </a:solidFill>
            <a:prstDash val="solid"/>
          </a:ln>
        </p:spPr>
      </p:sp>
      <p:sp>
        <p:nvSpPr>
          <p:cNvPr id="9" name="Text 7"/>
          <p:cNvSpPr/>
          <p:nvPr/>
        </p:nvSpPr>
        <p:spPr>
          <a:xfrm>
            <a:off x="557784" y="1325880"/>
            <a:ext cx="1386230" cy="460858"/>
          </a:xfrm>
          <a:prstGeom prst="rect">
            <a:avLst/>
          </a:prstGeom>
          <a:noFill/>
          <a:ln/>
        </p:spPr>
        <p:txBody>
          <a:bodyPr wrap="square" lIns="0" tIns="0" rIns="0" bIns="0" rtlCol="0" anchor="ctr">
            <a:normAutofit/>
          </a:bodyPr>
          <a:lstStyle/>
          <a:p>
            <a:pPr algn="ctr" indent="0" marL="0">
              <a:buNone/>
            </a:pPr>
            <a:r>
              <a:rPr lang="en-US" sz="1000" b="1" dirty="0">
                <a:solidFill>
                  <a:srgbClr val="1B2A4A"/>
                </a:solidFill>
                <a:latin typeface="Calibri" pitchFamily="34" charset="0"/>
                <a:ea typeface="Calibri" pitchFamily="34" charset="-122"/>
                <a:cs typeface="Calibri" pitchFamily="34" charset="-120"/>
              </a:rPr>
              <a:t>Pendulum\nAS5600</a:t>
            </a:r>
            <a:endParaRPr lang="en-US" sz="1000" dirty="0"/>
          </a:p>
        </p:txBody>
      </p:sp>
      <p:sp>
        <p:nvSpPr>
          <p:cNvPr id="10" name="Text 8"/>
          <p:cNvSpPr/>
          <p:nvPr/>
        </p:nvSpPr>
        <p:spPr>
          <a:xfrm>
            <a:off x="2017166" y="1389888"/>
            <a:ext cx="128016" cy="228600"/>
          </a:xfrm>
          <a:prstGeom prst="rect">
            <a:avLst/>
          </a:prstGeom>
          <a:noFill/>
          <a:ln/>
        </p:spPr>
        <p:txBody>
          <a:bodyPr wrap="square" lIns="0" tIns="0" rIns="0" bIns="0" rtlCol="0" anchor="ctr"/>
          <a:lstStyle/>
          <a:p>
            <a:pPr algn="ctr" indent="0" marL="0">
              <a:buNone/>
            </a:pPr>
            <a:r>
              <a:rPr lang="en-US" sz="1800" b="1" dirty="0">
                <a:solidFill>
                  <a:srgbClr val="0D6EAF"/>
                </a:solidFill>
                <a:latin typeface="Calibri" pitchFamily="34" charset="0"/>
                <a:ea typeface="Calibri" pitchFamily="34" charset="-122"/>
                <a:cs typeface="Calibri" pitchFamily="34" charset="-120"/>
              </a:rPr>
              <a:t>→</a:t>
            </a:r>
            <a:endParaRPr lang="en-US" sz="1800" dirty="0"/>
          </a:p>
        </p:txBody>
      </p:sp>
      <p:sp>
        <p:nvSpPr>
          <p:cNvPr id="11" name="Shape 9"/>
          <p:cNvSpPr/>
          <p:nvPr/>
        </p:nvSpPr>
        <p:spPr>
          <a:xfrm>
            <a:off x="2163470" y="1243584"/>
            <a:ext cx="1495958" cy="625450"/>
          </a:xfrm>
          <a:prstGeom prst="roundRect">
            <a:avLst/>
          </a:prstGeom>
          <a:solidFill>
            <a:srgbClr val="D6E8F5"/>
          </a:solidFill>
          <a:ln w="6350">
            <a:solidFill>
              <a:srgbClr val="DDE3EC"/>
            </a:solidFill>
            <a:prstDash val="solid"/>
          </a:ln>
        </p:spPr>
      </p:sp>
      <p:sp>
        <p:nvSpPr>
          <p:cNvPr id="12" name="Text 10"/>
          <p:cNvSpPr/>
          <p:nvPr/>
        </p:nvSpPr>
        <p:spPr>
          <a:xfrm>
            <a:off x="2218334" y="1325880"/>
            <a:ext cx="1386230" cy="460858"/>
          </a:xfrm>
          <a:prstGeom prst="rect">
            <a:avLst/>
          </a:prstGeom>
          <a:noFill/>
          <a:ln/>
        </p:spPr>
        <p:txBody>
          <a:bodyPr wrap="square" lIns="0" tIns="0" rIns="0" bIns="0" rtlCol="0" anchor="ctr">
            <a:normAutofit/>
          </a:bodyPr>
          <a:lstStyle/>
          <a:p>
            <a:pPr algn="ctr" indent="0" marL="0">
              <a:buNone/>
            </a:pPr>
            <a:r>
              <a:rPr lang="en-US" sz="1000" b="1" dirty="0">
                <a:solidFill>
                  <a:srgbClr val="1B2A4A"/>
                </a:solidFill>
                <a:latin typeface="Calibri" pitchFamily="34" charset="0"/>
                <a:ea typeface="Calibri" pitchFamily="34" charset="-122"/>
                <a:cs typeface="Calibri" pitchFamily="34" charset="-120"/>
              </a:rPr>
              <a:t>Base\nAS5600</a:t>
            </a:r>
            <a:endParaRPr lang="en-US" sz="1000" dirty="0"/>
          </a:p>
        </p:txBody>
      </p:sp>
      <p:sp>
        <p:nvSpPr>
          <p:cNvPr id="13" name="Text 11"/>
          <p:cNvSpPr/>
          <p:nvPr/>
        </p:nvSpPr>
        <p:spPr>
          <a:xfrm>
            <a:off x="3677717" y="1389888"/>
            <a:ext cx="128016" cy="228600"/>
          </a:xfrm>
          <a:prstGeom prst="rect">
            <a:avLst/>
          </a:prstGeom>
          <a:noFill/>
          <a:ln/>
        </p:spPr>
        <p:txBody>
          <a:bodyPr wrap="square" lIns="0" tIns="0" rIns="0" bIns="0" rtlCol="0" anchor="ctr"/>
          <a:lstStyle/>
          <a:p>
            <a:pPr algn="ctr" indent="0" marL="0">
              <a:buNone/>
            </a:pPr>
            <a:r>
              <a:rPr lang="en-US" sz="1800" b="1" dirty="0">
                <a:solidFill>
                  <a:srgbClr val="0D6EAF"/>
                </a:solidFill>
                <a:latin typeface="Calibri" pitchFamily="34" charset="0"/>
                <a:ea typeface="Calibri" pitchFamily="34" charset="-122"/>
                <a:cs typeface="Calibri" pitchFamily="34" charset="-120"/>
              </a:rPr>
              <a:t>→</a:t>
            </a:r>
            <a:endParaRPr lang="en-US" sz="1800" dirty="0"/>
          </a:p>
        </p:txBody>
      </p:sp>
      <p:sp>
        <p:nvSpPr>
          <p:cNvPr id="14" name="Shape 12"/>
          <p:cNvSpPr/>
          <p:nvPr/>
        </p:nvSpPr>
        <p:spPr>
          <a:xfrm>
            <a:off x="3824021" y="1243584"/>
            <a:ext cx="1495958" cy="625450"/>
          </a:xfrm>
          <a:prstGeom prst="roundRect">
            <a:avLst/>
          </a:prstGeom>
          <a:solidFill>
            <a:srgbClr val="EEF5FB"/>
          </a:solidFill>
          <a:ln w="6350">
            <a:solidFill>
              <a:srgbClr val="DDE3EC"/>
            </a:solidFill>
            <a:prstDash val="solid"/>
          </a:ln>
        </p:spPr>
      </p:sp>
      <p:sp>
        <p:nvSpPr>
          <p:cNvPr id="15" name="Text 13"/>
          <p:cNvSpPr/>
          <p:nvPr/>
        </p:nvSpPr>
        <p:spPr>
          <a:xfrm>
            <a:off x="3878885" y="1325880"/>
            <a:ext cx="1386230" cy="460858"/>
          </a:xfrm>
          <a:prstGeom prst="rect">
            <a:avLst/>
          </a:prstGeom>
          <a:noFill/>
          <a:ln/>
        </p:spPr>
        <p:txBody>
          <a:bodyPr wrap="square" lIns="0" tIns="0" rIns="0" bIns="0" rtlCol="0" anchor="ctr">
            <a:normAutofit/>
          </a:bodyPr>
          <a:lstStyle/>
          <a:p>
            <a:pPr algn="ctr" indent="0" marL="0">
              <a:buNone/>
            </a:pPr>
            <a:r>
              <a:rPr lang="en-US" sz="1000" b="1" dirty="0">
                <a:solidFill>
                  <a:srgbClr val="1B2A4A"/>
                </a:solidFill>
                <a:latin typeface="Calibri" pitchFamily="34" charset="0"/>
                <a:ea typeface="Calibri" pitchFamily="34" charset="-122"/>
                <a:cs typeface="Calibri" pitchFamily="34" charset="-120"/>
              </a:rPr>
              <a:t>PCA9548A\nchannel select</a:t>
            </a:r>
            <a:endParaRPr lang="en-US" sz="1000" dirty="0"/>
          </a:p>
        </p:txBody>
      </p:sp>
      <p:sp>
        <p:nvSpPr>
          <p:cNvPr id="16" name="Text 14"/>
          <p:cNvSpPr/>
          <p:nvPr/>
        </p:nvSpPr>
        <p:spPr>
          <a:xfrm>
            <a:off x="5338267" y="1389888"/>
            <a:ext cx="128016" cy="228600"/>
          </a:xfrm>
          <a:prstGeom prst="rect">
            <a:avLst/>
          </a:prstGeom>
          <a:noFill/>
          <a:ln/>
        </p:spPr>
        <p:txBody>
          <a:bodyPr wrap="square" lIns="0" tIns="0" rIns="0" bIns="0" rtlCol="0" anchor="ctr"/>
          <a:lstStyle/>
          <a:p>
            <a:pPr algn="ctr" indent="0" marL="0">
              <a:buNone/>
            </a:pPr>
            <a:r>
              <a:rPr lang="en-US" sz="1800" b="1" dirty="0">
                <a:solidFill>
                  <a:srgbClr val="0D6EAF"/>
                </a:solidFill>
                <a:latin typeface="Calibri" pitchFamily="34" charset="0"/>
                <a:ea typeface="Calibri" pitchFamily="34" charset="-122"/>
                <a:cs typeface="Calibri" pitchFamily="34" charset="-120"/>
              </a:rPr>
              <a:t>→</a:t>
            </a:r>
            <a:endParaRPr lang="en-US" sz="1800" dirty="0"/>
          </a:p>
        </p:txBody>
      </p:sp>
      <p:sp>
        <p:nvSpPr>
          <p:cNvPr id="17" name="Shape 15"/>
          <p:cNvSpPr/>
          <p:nvPr/>
        </p:nvSpPr>
        <p:spPr>
          <a:xfrm>
            <a:off x="5484571" y="1243584"/>
            <a:ext cx="1495958" cy="625450"/>
          </a:xfrm>
          <a:prstGeom prst="roundRect">
            <a:avLst/>
          </a:prstGeom>
          <a:solidFill>
            <a:srgbClr val="EEF5FB"/>
          </a:solidFill>
          <a:ln w="6350">
            <a:solidFill>
              <a:srgbClr val="DDE3EC"/>
            </a:solidFill>
            <a:prstDash val="solid"/>
          </a:ln>
        </p:spPr>
      </p:sp>
      <p:sp>
        <p:nvSpPr>
          <p:cNvPr id="18" name="Text 16"/>
          <p:cNvSpPr/>
          <p:nvPr/>
        </p:nvSpPr>
        <p:spPr>
          <a:xfrm>
            <a:off x="5539435" y="1325880"/>
            <a:ext cx="1386230" cy="460858"/>
          </a:xfrm>
          <a:prstGeom prst="rect">
            <a:avLst/>
          </a:prstGeom>
          <a:noFill/>
          <a:ln/>
        </p:spPr>
        <p:txBody>
          <a:bodyPr wrap="square" lIns="0" tIns="0" rIns="0" bIns="0" rtlCol="0" anchor="ctr">
            <a:normAutofit/>
          </a:bodyPr>
          <a:lstStyle/>
          <a:p>
            <a:pPr algn="ctr" indent="0" marL="0">
              <a:buNone/>
            </a:pPr>
            <a:r>
              <a:rPr lang="en-US" sz="1000" b="1" dirty="0">
                <a:solidFill>
                  <a:srgbClr val="1B2A4A"/>
                </a:solidFill>
                <a:latin typeface="Calibri" pitchFamily="34" charset="0"/>
                <a:ea typeface="Calibri" pitchFamily="34" charset="-122"/>
                <a:cs typeface="Calibri" pitchFamily="34" charset="-120"/>
              </a:rPr>
              <a:t>200 µs\nsettle delay</a:t>
            </a:r>
            <a:endParaRPr lang="en-US" sz="1000" dirty="0"/>
          </a:p>
        </p:txBody>
      </p:sp>
      <p:sp>
        <p:nvSpPr>
          <p:cNvPr id="19" name="Text 17"/>
          <p:cNvSpPr/>
          <p:nvPr/>
        </p:nvSpPr>
        <p:spPr>
          <a:xfrm>
            <a:off x="6998818" y="1389888"/>
            <a:ext cx="128016" cy="228600"/>
          </a:xfrm>
          <a:prstGeom prst="rect">
            <a:avLst/>
          </a:prstGeom>
          <a:noFill/>
          <a:ln/>
        </p:spPr>
        <p:txBody>
          <a:bodyPr wrap="square" lIns="0" tIns="0" rIns="0" bIns="0" rtlCol="0" anchor="ctr"/>
          <a:lstStyle/>
          <a:p>
            <a:pPr algn="ctr" indent="0" marL="0">
              <a:buNone/>
            </a:pPr>
            <a:r>
              <a:rPr lang="en-US" sz="1800" b="1" dirty="0">
                <a:solidFill>
                  <a:srgbClr val="0D6EAF"/>
                </a:solidFill>
                <a:latin typeface="Calibri" pitchFamily="34" charset="0"/>
                <a:ea typeface="Calibri" pitchFamily="34" charset="-122"/>
                <a:cs typeface="Calibri" pitchFamily="34" charset="-120"/>
              </a:rPr>
              <a:t>→</a:t>
            </a:r>
            <a:endParaRPr lang="en-US" sz="1800" dirty="0"/>
          </a:p>
        </p:txBody>
      </p:sp>
      <p:sp>
        <p:nvSpPr>
          <p:cNvPr id="20" name="Shape 18"/>
          <p:cNvSpPr/>
          <p:nvPr/>
        </p:nvSpPr>
        <p:spPr>
          <a:xfrm>
            <a:off x="7145122" y="1243584"/>
            <a:ext cx="1495958" cy="625450"/>
          </a:xfrm>
          <a:prstGeom prst="roundRect">
            <a:avLst/>
          </a:prstGeom>
          <a:solidFill>
            <a:srgbClr val="D6E8F5"/>
          </a:solidFill>
          <a:ln w="6350">
            <a:solidFill>
              <a:srgbClr val="DDE3EC"/>
            </a:solidFill>
            <a:prstDash val="solid"/>
          </a:ln>
        </p:spPr>
      </p:sp>
      <p:sp>
        <p:nvSpPr>
          <p:cNvPr id="21" name="Text 19"/>
          <p:cNvSpPr/>
          <p:nvPr/>
        </p:nvSpPr>
        <p:spPr>
          <a:xfrm>
            <a:off x="7199986" y="1325880"/>
            <a:ext cx="1386230" cy="460858"/>
          </a:xfrm>
          <a:prstGeom prst="rect">
            <a:avLst/>
          </a:prstGeom>
          <a:noFill/>
          <a:ln/>
        </p:spPr>
        <p:txBody>
          <a:bodyPr wrap="square" lIns="0" tIns="0" rIns="0" bIns="0" rtlCol="0" anchor="ctr">
            <a:normAutofit/>
          </a:bodyPr>
          <a:lstStyle/>
          <a:p>
            <a:pPr algn="ctr" indent="0" marL="0">
              <a:buNone/>
            </a:pPr>
            <a:r>
              <a:rPr lang="en-US" sz="1000" b="1" dirty="0">
                <a:solidFill>
                  <a:srgbClr val="1B2A4A"/>
                </a:solidFill>
                <a:latin typeface="Calibri" pitchFamily="34" charset="0"/>
                <a:ea typeface="Calibri" pitchFamily="34" charset="-122"/>
                <a:cs typeface="Calibri" pitchFamily="34" charset="-120"/>
              </a:rPr>
              <a:t>Arduino\nWire @ 400 kHz</a:t>
            </a:r>
            <a:endParaRPr lang="en-US" sz="1000" dirty="0"/>
          </a:p>
        </p:txBody>
      </p:sp>
      <p:sp>
        <p:nvSpPr>
          <p:cNvPr id="22" name="Shape 20"/>
          <p:cNvSpPr/>
          <p:nvPr/>
        </p:nvSpPr>
        <p:spPr>
          <a:xfrm>
            <a:off x="502920" y="2331720"/>
            <a:ext cx="3886200" cy="1600200"/>
          </a:xfrm>
          <a:prstGeom prst="rect">
            <a:avLst/>
          </a:prstGeom>
          <a:solidFill>
            <a:srgbClr val="FFFFFF"/>
          </a:solidFill>
          <a:ln w="6350">
            <a:solidFill>
              <a:srgbClr val="DDE3EC"/>
            </a:solidFill>
            <a:prstDash val="solid"/>
          </a:ln>
        </p:spPr>
      </p:sp>
      <p:sp>
        <p:nvSpPr>
          <p:cNvPr id="23" name="Shape 21"/>
          <p:cNvSpPr/>
          <p:nvPr/>
        </p:nvSpPr>
        <p:spPr>
          <a:xfrm>
            <a:off x="502920" y="2331720"/>
            <a:ext cx="3886200" cy="64008"/>
          </a:xfrm>
          <a:prstGeom prst="rect">
            <a:avLst/>
          </a:prstGeom>
          <a:solidFill>
            <a:srgbClr val="0D6EAF"/>
          </a:solidFill>
          <a:ln w="12700">
            <a:solidFill>
              <a:srgbClr val="0D6EAF"/>
            </a:solidFill>
            <a:prstDash val="solid"/>
          </a:ln>
        </p:spPr>
      </p:sp>
      <p:sp>
        <p:nvSpPr>
          <p:cNvPr id="24" name="Text 22"/>
          <p:cNvSpPr/>
          <p:nvPr/>
        </p:nvSpPr>
        <p:spPr>
          <a:xfrm>
            <a:off x="612648" y="2441448"/>
            <a:ext cx="366674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Measurement details that matter</a:t>
            </a:r>
            <a:endParaRPr lang="en-US" sz="1150" dirty="0"/>
          </a:p>
        </p:txBody>
      </p:sp>
      <p:sp>
        <p:nvSpPr>
          <p:cNvPr id="25" name="Text 23"/>
          <p:cNvSpPr/>
          <p:nvPr/>
        </p:nvSpPr>
        <p:spPr>
          <a:xfrm>
            <a:off x="612648" y="2715768"/>
            <a:ext cx="3666744" cy="1106424"/>
          </a:xfrm>
          <a:prstGeom prst="rect">
            <a:avLst/>
          </a:prstGeom>
          <a:noFill/>
          <a:ln/>
        </p:spPr>
        <p:txBody>
          <a:bodyPr wrap="square" lIns="0" tIns="0" rIns="0" bIns="0" rtlCol="0" anchor="ctr">
            <a:normAutofit/>
          </a:bodyPr>
          <a:lstStyle/>
          <a:p>
            <a:pPr indent="0" marL="0">
              <a:buNone/>
            </a:pPr>
            <a:r>
              <a:rPr lang="en-US" sz="980" dirty="0">
                <a:solidFill>
                  <a:srgbClr val="3D5472"/>
                </a:solidFill>
                <a:latin typeface="Calibri" pitchFamily="34" charset="0"/>
                <a:ea typeface="Calibri" pitchFamily="34" charset="-122"/>
                <a:cs typeface="Calibri" pitchFamily="34" charset="-120"/>
              </a:rPr>
              <a:t>• Channel 0 reads α, channel 1 reads θ.</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Both sensors are 12-bit absolute encoders over [0, 360°).</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The firmware averages 25 calibration samples to reduce roughly 0.5° single-sample noise.</a:t>
            </a:r>
            <a:endParaRPr lang="en-US" sz="980" dirty="0"/>
          </a:p>
        </p:txBody>
      </p:sp>
      <p:sp>
        <p:nvSpPr>
          <p:cNvPr id="26" name="Shape 24"/>
          <p:cNvSpPr/>
          <p:nvPr/>
        </p:nvSpPr>
        <p:spPr>
          <a:xfrm>
            <a:off x="4617720" y="2331720"/>
            <a:ext cx="4023360" cy="1600200"/>
          </a:xfrm>
          <a:prstGeom prst="rect">
            <a:avLst/>
          </a:prstGeom>
          <a:solidFill>
            <a:srgbClr val="FFFBEB"/>
          </a:solidFill>
          <a:ln w="6350">
            <a:solidFill>
              <a:srgbClr val="DDE3EC"/>
            </a:solidFill>
            <a:prstDash val="solid"/>
          </a:ln>
        </p:spPr>
      </p:sp>
      <p:sp>
        <p:nvSpPr>
          <p:cNvPr id="27" name="Shape 25"/>
          <p:cNvSpPr/>
          <p:nvPr/>
        </p:nvSpPr>
        <p:spPr>
          <a:xfrm>
            <a:off x="4617720" y="2331720"/>
            <a:ext cx="4023360" cy="64008"/>
          </a:xfrm>
          <a:prstGeom prst="rect">
            <a:avLst/>
          </a:prstGeom>
          <a:solidFill>
            <a:srgbClr val="D97706"/>
          </a:solidFill>
          <a:ln w="12700">
            <a:solidFill>
              <a:srgbClr val="D97706"/>
            </a:solidFill>
            <a:prstDash val="solid"/>
          </a:ln>
        </p:spPr>
      </p:sp>
      <p:sp>
        <p:nvSpPr>
          <p:cNvPr id="28" name="Text 26"/>
          <p:cNvSpPr/>
          <p:nvPr/>
        </p:nvSpPr>
        <p:spPr>
          <a:xfrm>
            <a:off x="4727448" y="2441448"/>
            <a:ext cx="380390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Why this deserves emphasis</a:t>
            </a:r>
            <a:endParaRPr lang="en-US" sz="1150" dirty="0"/>
          </a:p>
        </p:txBody>
      </p:sp>
      <p:sp>
        <p:nvSpPr>
          <p:cNvPr id="29" name="Text 27"/>
          <p:cNvSpPr/>
          <p:nvPr/>
        </p:nvSpPr>
        <p:spPr>
          <a:xfrm>
            <a:off x="4727448" y="2715768"/>
            <a:ext cx="3803904" cy="1106424"/>
          </a:xfrm>
          <a:prstGeom prst="rect">
            <a:avLst/>
          </a:prstGeom>
          <a:noFill/>
          <a:ln/>
        </p:spPr>
        <p:txBody>
          <a:bodyPr wrap="square" lIns="0" tIns="0" rIns="0" bIns="0" rtlCol="0" anchor="ctr">
            <a:normAutofit/>
          </a:bodyPr>
          <a:lstStyle/>
          <a:p>
            <a:pPr indent="0" marL="0">
              <a:buNone/>
            </a:pPr>
            <a:r>
              <a:rPr lang="en-US" sz="980" dirty="0">
                <a:solidFill>
                  <a:srgbClr val="3D5472"/>
                </a:solidFill>
                <a:latin typeface="Calibri" pitchFamily="34" charset="0"/>
                <a:ea typeface="Calibri" pitchFamily="34" charset="-122"/>
                <a:cs typeface="Calibri" pitchFamily="34" charset="-120"/>
              </a:rPr>
              <a:t>• The mux is not cosmetic; it is the enabling mechanism that makes dual-AS5600 sensing possible on one bus.</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Noise handling starts at the wiring and magnet geometry, not only in software.</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Every later derivative and controller estimate depends on this sensing path being trustworthy.</a:t>
            </a:r>
            <a:endParaRPr lang="en-US" sz="980" dirty="0"/>
          </a:p>
        </p:txBody>
      </p:sp>
      <p:sp>
        <p:nvSpPr>
          <p:cNvPr id="30" name="Text 28"/>
          <p:cNvSpPr/>
          <p:nvPr/>
        </p:nvSpPr>
        <p:spPr>
          <a:xfrm>
            <a:off x="8412480" y="4892040"/>
            <a:ext cx="640080" cy="201168"/>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6 / 38</a:t>
            </a:r>
            <a:endParaRPr lang="en-US" sz="900" dirty="0"/>
          </a:p>
        </p:txBody>
      </p:sp>
      <p:sp>
        <p:nvSpPr>
          <p:cNvPr id="31" name="Shape 29"/>
          <p:cNvSpPr/>
          <p:nvPr/>
        </p:nvSpPr>
        <p:spPr>
          <a:xfrm>
            <a:off x="256032" y="4882896"/>
            <a:ext cx="8631936" cy="36576"/>
          </a:xfrm>
          <a:prstGeom prst="rect">
            <a:avLst/>
          </a:prstGeom>
          <a:solidFill>
            <a:srgbClr val="D97706">
              <a:alpha val="15000"/>
            </a:srgbClr>
          </a:solidFill>
          <a:ln w="12700">
            <a:solidFill>
              <a:srgbClr val="D97706"/>
            </a:solidFill>
            <a:prstDash val="solid"/>
          </a:ln>
        </p:spPr>
      </p:sp>
      <p:sp>
        <p:nvSpPr>
          <p:cNvPr id="32" name="Shape 30"/>
          <p:cNvSpPr/>
          <p:nvPr/>
        </p:nvSpPr>
        <p:spPr>
          <a:xfrm>
            <a:off x="256032" y="4882896"/>
            <a:ext cx="1362937" cy="36576"/>
          </a:xfrm>
          <a:prstGeom prst="rect">
            <a:avLst/>
          </a:prstGeom>
          <a:solidFill>
            <a:srgbClr val="D97706"/>
          </a:solidFill>
          <a:ln w="12700">
            <a:solidFill>
              <a:srgbClr val="D97706"/>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BEB"/>
        </a:solidFill>
      </p:bgPr>
    </p:bg>
    <p:spTree>
      <p:nvGrpSpPr>
        <p:cNvPr id="1" name=""/>
        <p:cNvGrpSpPr/>
        <p:nvPr/>
      </p:nvGrpSpPr>
      <p:grpSpPr>
        <a:xfrm>
          <a:off x="0" y="0"/>
          <a:ext cx="0" cy="0"/>
          <a:chOff x="0" y="0"/>
          <a:chExt cx="0" cy="0"/>
        </a:xfrm>
      </p:grpSpPr>
      <p:sp>
        <p:nvSpPr>
          <p:cNvPr id="2" name="Shape 0"/>
          <p:cNvSpPr/>
          <p:nvPr/>
        </p:nvSpPr>
        <p:spPr>
          <a:xfrm>
            <a:off x="0" y="0"/>
            <a:ext cx="118872" cy="5143500"/>
          </a:xfrm>
          <a:prstGeom prst="rect">
            <a:avLst/>
          </a:prstGeom>
          <a:solidFill>
            <a:srgbClr val="D97706"/>
          </a:solidFill>
          <a:ln w="12700">
            <a:solidFill>
              <a:srgbClr val="D97706"/>
            </a:solidFill>
            <a:prstDash val="solid"/>
          </a:ln>
        </p:spPr>
      </p:sp>
      <p:sp>
        <p:nvSpPr>
          <p:cNvPr id="3" name="Shape 1"/>
          <p:cNvSpPr/>
          <p:nvPr/>
        </p:nvSpPr>
        <p:spPr>
          <a:xfrm>
            <a:off x="6263640" y="182880"/>
            <a:ext cx="2651760" cy="320040"/>
          </a:xfrm>
          <a:prstGeom prst="rect">
            <a:avLst/>
          </a:prstGeom>
          <a:solidFill>
            <a:srgbClr val="D97706"/>
          </a:solidFill>
          <a:ln w="12700">
            <a:solidFill>
              <a:srgbClr val="D97706"/>
            </a:solidFill>
            <a:prstDash val="solid"/>
          </a:ln>
        </p:spPr>
      </p:sp>
      <p:sp>
        <p:nvSpPr>
          <p:cNvPr id="4" name="Text 2"/>
          <p:cNvSpPr/>
          <p:nvPr/>
        </p:nvSpPr>
        <p:spPr>
          <a:xfrm>
            <a:off x="6263640" y="182880"/>
            <a:ext cx="2651760"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KEY CONTRIBUTION</a:t>
            </a:r>
            <a:endParaRPr lang="en-US" sz="900" dirty="0"/>
          </a:p>
        </p:txBody>
      </p:sp>
      <p:sp>
        <p:nvSpPr>
          <p:cNvPr id="5" name="Text 3"/>
          <p:cNvSpPr/>
          <p:nvPr/>
        </p:nvSpPr>
        <p:spPr>
          <a:xfrm>
            <a:off x="256032" y="201168"/>
            <a:ext cx="5925312" cy="566928"/>
          </a:xfrm>
          <a:prstGeom prst="rect">
            <a:avLst/>
          </a:prstGeom>
          <a:noFill/>
          <a:ln/>
        </p:spPr>
        <p:txBody>
          <a:bodyPr wrap="square" lIns="0" tIns="0" rIns="0" bIns="0" rtlCol="0" anchor="ctr">
            <a:normAutofit/>
          </a:bodyPr>
          <a:lstStyle/>
          <a:p>
            <a:pPr indent="0" marL="0">
              <a:buNone/>
            </a:pPr>
            <a:r>
              <a:rPr lang="en-US" sz="2200" b="1" dirty="0">
                <a:solidFill>
                  <a:srgbClr val="1B2A4A"/>
                </a:solidFill>
                <a:latin typeface="Calibri" pitchFamily="34" charset="0"/>
                <a:ea typeface="Calibri" pitchFamily="34" charset="-122"/>
                <a:cs typeface="Calibri" pitchFamily="34" charset="-120"/>
              </a:rPr>
              <a:t>Stepper Motor → Measured Axis: Closed-Loop Base Tracking Retrofit</a:t>
            </a:r>
            <a:endParaRPr lang="en-US" sz="2200" dirty="0"/>
          </a:p>
        </p:txBody>
      </p:sp>
      <p:sp>
        <p:nvSpPr>
          <p:cNvPr id="6" name="Text 4"/>
          <p:cNvSpPr/>
          <p:nvPr/>
        </p:nvSpPr>
        <p:spPr>
          <a:xfrm>
            <a:off x="256032" y="768096"/>
            <a:ext cx="8686800" cy="274320"/>
          </a:xfrm>
          <a:prstGeom prst="rect">
            <a:avLst/>
          </a:prstGeom>
          <a:noFill/>
          <a:ln/>
        </p:spPr>
        <p:txBody>
          <a:bodyPr wrap="square" lIns="0" tIns="0" rIns="0" bIns="0" rtlCol="0" anchor="ctr">
            <a:normAutofit/>
          </a:bodyPr>
          <a:lstStyle/>
          <a:p>
            <a:pPr indent="0" marL="0">
              <a:buNone/>
            </a:pPr>
            <a:r>
              <a:rPr lang="en-US" sz="1200" i="1" dirty="0">
                <a:solidFill>
                  <a:srgbClr val="64748B"/>
                </a:solidFill>
                <a:latin typeface="Calibri" pitchFamily="34" charset="0"/>
                <a:ea typeface="Calibri" pitchFamily="34" charset="-122"/>
                <a:cs typeface="Calibri" pitchFamily="34" charset="-120"/>
              </a:rPr>
              <a:t>The stepper is still commanded open loop, but the output shaft is now directly measured by a coaxial AS5600 assembly.</a:t>
            </a:r>
            <a:endParaRPr lang="en-US" sz="1200" dirty="0"/>
          </a:p>
        </p:txBody>
      </p:sp>
      <p:sp>
        <p:nvSpPr>
          <p:cNvPr id="7" name="Shape 5"/>
          <p:cNvSpPr/>
          <p:nvPr/>
        </p:nvSpPr>
        <p:spPr>
          <a:xfrm>
            <a:off x="256032" y="822960"/>
            <a:ext cx="8631936" cy="0"/>
          </a:xfrm>
          <a:prstGeom prst="line">
            <a:avLst/>
          </a:prstGeom>
          <a:noFill/>
          <a:ln w="9525">
            <a:solidFill>
              <a:srgbClr val="D97706"/>
            </a:solidFill>
            <a:prstDash val="solid"/>
          </a:ln>
        </p:spPr>
      </p:sp>
      <p:sp>
        <p:nvSpPr>
          <p:cNvPr id="8" name="Shape 6"/>
          <p:cNvSpPr/>
          <p:nvPr/>
        </p:nvSpPr>
        <p:spPr>
          <a:xfrm>
            <a:off x="502920" y="1097280"/>
            <a:ext cx="2468880" cy="1417320"/>
          </a:xfrm>
          <a:prstGeom prst="rect">
            <a:avLst/>
          </a:prstGeom>
          <a:solidFill>
            <a:srgbClr val="FFFFFF"/>
          </a:solidFill>
          <a:ln w="6350">
            <a:solidFill>
              <a:srgbClr val="DDE3EC"/>
            </a:solidFill>
            <a:prstDash val="solid"/>
          </a:ln>
        </p:spPr>
      </p:sp>
      <p:sp>
        <p:nvSpPr>
          <p:cNvPr id="9" name="Text 7"/>
          <p:cNvSpPr/>
          <p:nvPr/>
        </p:nvSpPr>
        <p:spPr>
          <a:xfrm>
            <a:off x="576072" y="1152144"/>
            <a:ext cx="914400" cy="146304"/>
          </a:xfrm>
          <a:prstGeom prst="rect">
            <a:avLst/>
          </a:prstGeom>
          <a:noFill/>
          <a:ln/>
        </p:spPr>
        <p:txBody>
          <a:bodyPr wrap="square" lIns="0" tIns="0" rIns="0" bIns="0" rtlCol="0" anchor="ctr"/>
          <a:lstStyle/>
          <a:p>
            <a:pPr indent="0" marL="0">
              <a:buNone/>
            </a:pPr>
            <a:r>
              <a:rPr lang="en-US" sz="800" i="1" dirty="0">
                <a:solidFill>
                  <a:srgbClr val="64748B"/>
                </a:solidFill>
                <a:latin typeface="Calibri" pitchFamily="34" charset="0"/>
                <a:ea typeface="Calibri" pitchFamily="34" charset="-122"/>
                <a:cs typeface="Calibri" pitchFamily="34" charset="-120"/>
              </a:rPr>
              <a:t>Figure</a:t>
            </a:r>
            <a:endParaRPr lang="en-US" sz="800" dirty="0"/>
          </a:p>
        </p:txBody>
      </p:sp>
      <p:sp>
        <p:nvSpPr>
          <p:cNvPr id="10" name="Shape 8"/>
          <p:cNvSpPr/>
          <p:nvPr/>
        </p:nvSpPr>
        <p:spPr>
          <a:xfrm>
            <a:off x="3154680" y="1097280"/>
            <a:ext cx="2468880" cy="1417320"/>
          </a:xfrm>
          <a:prstGeom prst="rect">
            <a:avLst/>
          </a:prstGeom>
          <a:solidFill>
            <a:srgbClr val="FFFFFF"/>
          </a:solidFill>
          <a:ln w="6350">
            <a:solidFill>
              <a:srgbClr val="DDE3EC"/>
            </a:solidFill>
            <a:prstDash val="solid"/>
          </a:ln>
        </p:spPr>
      </p:sp>
      <p:sp>
        <p:nvSpPr>
          <p:cNvPr id="11" name="Text 9"/>
          <p:cNvSpPr/>
          <p:nvPr/>
        </p:nvSpPr>
        <p:spPr>
          <a:xfrm>
            <a:off x="3227832" y="1152144"/>
            <a:ext cx="914400" cy="146304"/>
          </a:xfrm>
          <a:prstGeom prst="rect">
            <a:avLst/>
          </a:prstGeom>
          <a:noFill/>
          <a:ln/>
        </p:spPr>
        <p:txBody>
          <a:bodyPr wrap="square" lIns="0" tIns="0" rIns="0" bIns="0" rtlCol="0" anchor="ctr"/>
          <a:lstStyle/>
          <a:p>
            <a:pPr indent="0" marL="0">
              <a:buNone/>
            </a:pPr>
            <a:r>
              <a:rPr lang="en-US" sz="800" i="1" dirty="0">
                <a:solidFill>
                  <a:srgbClr val="64748B"/>
                </a:solidFill>
                <a:latin typeface="Calibri" pitchFamily="34" charset="0"/>
                <a:ea typeface="Calibri" pitchFamily="34" charset="-122"/>
                <a:cs typeface="Calibri" pitchFamily="34" charset="-120"/>
              </a:rPr>
              <a:t>Figure</a:t>
            </a:r>
            <a:endParaRPr lang="en-US" sz="800" dirty="0"/>
          </a:p>
        </p:txBody>
      </p:sp>
      <p:sp>
        <p:nvSpPr>
          <p:cNvPr id="12" name="Shape 10"/>
          <p:cNvSpPr/>
          <p:nvPr/>
        </p:nvSpPr>
        <p:spPr>
          <a:xfrm>
            <a:off x="5806440" y="1097280"/>
            <a:ext cx="2468880" cy="1417320"/>
          </a:xfrm>
          <a:prstGeom prst="rect">
            <a:avLst/>
          </a:prstGeom>
          <a:solidFill>
            <a:srgbClr val="FFFFFF"/>
          </a:solidFill>
          <a:ln w="6350">
            <a:solidFill>
              <a:srgbClr val="DDE3EC"/>
            </a:solidFill>
            <a:prstDash val="solid"/>
          </a:ln>
        </p:spPr>
      </p:sp>
      <p:sp>
        <p:nvSpPr>
          <p:cNvPr id="13" name="Text 11"/>
          <p:cNvSpPr/>
          <p:nvPr/>
        </p:nvSpPr>
        <p:spPr>
          <a:xfrm>
            <a:off x="5879592" y="1152144"/>
            <a:ext cx="914400" cy="146304"/>
          </a:xfrm>
          <a:prstGeom prst="rect">
            <a:avLst/>
          </a:prstGeom>
          <a:noFill/>
          <a:ln/>
        </p:spPr>
        <p:txBody>
          <a:bodyPr wrap="square" lIns="0" tIns="0" rIns="0" bIns="0" rtlCol="0" anchor="ctr"/>
          <a:lstStyle/>
          <a:p>
            <a:pPr indent="0" marL="0">
              <a:buNone/>
            </a:pPr>
            <a:r>
              <a:rPr lang="en-US" sz="800" i="1" dirty="0">
                <a:solidFill>
                  <a:srgbClr val="64748B"/>
                </a:solidFill>
                <a:latin typeface="Calibri" pitchFamily="34" charset="0"/>
                <a:ea typeface="Calibri" pitchFamily="34" charset="-122"/>
                <a:cs typeface="Calibri" pitchFamily="34" charset="-120"/>
              </a:rPr>
              <a:t>Figure</a:t>
            </a:r>
            <a:endParaRPr lang="en-US" sz="800" dirty="0"/>
          </a:p>
        </p:txBody>
      </p:sp>
      <p:sp>
        <p:nvSpPr>
          <p:cNvPr id="14" name="Text 12"/>
          <p:cNvSpPr/>
          <p:nvPr/>
        </p:nvSpPr>
        <p:spPr>
          <a:xfrm>
            <a:off x="685800" y="2560320"/>
            <a:ext cx="2057400" cy="182880"/>
          </a:xfrm>
          <a:prstGeom prst="rect">
            <a:avLst/>
          </a:prstGeom>
          <a:noFill/>
          <a:ln/>
        </p:spPr>
        <p:txBody>
          <a:bodyPr wrap="square" lIns="0" tIns="0" rIns="0" bIns="0" rtlCol="0" anchor="t">
            <a:normAutofit/>
          </a:bodyPr>
          <a:lstStyle/>
          <a:p>
            <a:pPr algn="ctr" indent="0" marL="0">
              <a:buNone/>
            </a:pPr>
            <a:r>
              <a:rPr lang="en-US" sz="900" i="1" dirty="0">
                <a:solidFill>
                  <a:srgbClr val="64748B"/>
                </a:solidFill>
                <a:latin typeface="Calibri" pitchFamily="34" charset="0"/>
                <a:ea typeface="Calibri" pitchFamily="34" charset="-122"/>
                <a:cs typeface="Calibri" pitchFamily="34" charset="-120"/>
              </a:rPr>
              <a:t>Front view</a:t>
            </a:r>
            <a:endParaRPr lang="en-US" sz="900" dirty="0"/>
          </a:p>
        </p:txBody>
      </p:sp>
      <p:sp>
        <p:nvSpPr>
          <p:cNvPr id="15" name="Text 13"/>
          <p:cNvSpPr/>
          <p:nvPr/>
        </p:nvSpPr>
        <p:spPr>
          <a:xfrm>
            <a:off x="3337560" y="2560320"/>
            <a:ext cx="2057400" cy="182880"/>
          </a:xfrm>
          <a:prstGeom prst="rect">
            <a:avLst/>
          </a:prstGeom>
          <a:noFill/>
          <a:ln/>
        </p:spPr>
        <p:txBody>
          <a:bodyPr wrap="square" lIns="0" tIns="0" rIns="0" bIns="0" rtlCol="0" anchor="t">
            <a:normAutofit/>
          </a:bodyPr>
          <a:lstStyle/>
          <a:p>
            <a:pPr algn="ctr" indent="0" marL="0">
              <a:buNone/>
            </a:pPr>
            <a:r>
              <a:rPr lang="en-US" sz="900" i="1" dirty="0">
                <a:solidFill>
                  <a:srgbClr val="64748B"/>
                </a:solidFill>
                <a:latin typeface="Calibri" pitchFamily="34" charset="0"/>
                <a:ea typeface="Calibri" pitchFamily="34" charset="-122"/>
                <a:cs typeface="Calibri" pitchFamily="34" charset="-120"/>
              </a:rPr>
              <a:t>Back view</a:t>
            </a:r>
            <a:endParaRPr lang="en-US" sz="900" dirty="0"/>
          </a:p>
        </p:txBody>
      </p:sp>
      <p:sp>
        <p:nvSpPr>
          <p:cNvPr id="16" name="Text 14"/>
          <p:cNvSpPr/>
          <p:nvPr/>
        </p:nvSpPr>
        <p:spPr>
          <a:xfrm>
            <a:off x="5989320" y="2560320"/>
            <a:ext cx="2057400" cy="182880"/>
          </a:xfrm>
          <a:prstGeom prst="rect">
            <a:avLst/>
          </a:prstGeom>
          <a:noFill/>
          <a:ln/>
        </p:spPr>
        <p:txBody>
          <a:bodyPr wrap="square" lIns="0" tIns="0" rIns="0" bIns="0" rtlCol="0" anchor="t">
            <a:normAutofit/>
          </a:bodyPr>
          <a:lstStyle/>
          <a:p>
            <a:pPr algn="ctr" indent="0" marL="0">
              <a:buNone/>
            </a:pPr>
            <a:r>
              <a:rPr lang="en-US" sz="900" i="1" dirty="0">
                <a:solidFill>
                  <a:srgbClr val="64748B"/>
                </a:solidFill>
                <a:latin typeface="Calibri" pitchFamily="34" charset="0"/>
                <a:ea typeface="Calibri" pitchFamily="34" charset="-122"/>
                <a:cs typeface="Calibri" pitchFamily="34" charset="-120"/>
              </a:rPr>
              <a:t>Mounted on the motor base</a:t>
            </a:r>
            <a:endParaRPr lang="en-US" sz="900" dirty="0"/>
          </a:p>
        </p:txBody>
      </p:sp>
      <p:sp>
        <p:nvSpPr>
          <p:cNvPr id="17" name="Shape 15"/>
          <p:cNvSpPr/>
          <p:nvPr/>
        </p:nvSpPr>
        <p:spPr>
          <a:xfrm>
            <a:off x="502920" y="2926080"/>
            <a:ext cx="3840480" cy="1325880"/>
          </a:xfrm>
          <a:prstGeom prst="rect">
            <a:avLst/>
          </a:prstGeom>
          <a:solidFill>
            <a:srgbClr val="FFFBEB"/>
          </a:solidFill>
          <a:ln w="6350">
            <a:solidFill>
              <a:srgbClr val="DDE3EC"/>
            </a:solidFill>
            <a:prstDash val="solid"/>
          </a:ln>
        </p:spPr>
      </p:sp>
      <p:sp>
        <p:nvSpPr>
          <p:cNvPr id="18" name="Shape 16"/>
          <p:cNvSpPr/>
          <p:nvPr/>
        </p:nvSpPr>
        <p:spPr>
          <a:xfrm>
            <a:off x="502920" y="2926080"/>
            <a:ext cx="3840480" cy="64008"/>
          </a:xfrm>
          <a:prstGeom prst="rect">
            <a:avLst/>
          </a:prstGeom>
          <a:solidFill>
            <a:srgbClr val="D97706"/>
          </a:solidFill>
          <a:ln w="12700">
            <a:solidFill>
              <a:srgbClr val="D97706"/>
            </a:solidFill>
            <a:prstDash val="solid"/>
          </a:ln>
        </p:spPr>
      </p:sp>
      <p:sp>
        <p:nvSpPr>
          <p:cNvPr id="19" name="Text 17"/>
          <p:cNvSpPr/>
          <p:nvPr/>
        </p:nvSpPr>
        <p:spPr>
          <a:xfrm>
            <a:off x="612648" y="3035808"/>
            <a:ext cx="362102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Physical trick</a:t>
            </a:r>
            <a:endParaRPr lang="en-US" sz="1150" dirty="0"/>
          </a:p>
        </p:txBody>
      </p:sp>
      <p:sp>
        <p:nvSpPr>
          <p:cNvPr id="20" name="Text 18"/>
          <p:cNvSpPr/>
          <p:nvPr/>
        </p:nvSpPr>
        <p:spPr>
          <a:xfrm>
            <a:off x="612648" y="3310128"/>
            <a:ext cx="3621024" cy="832104"/>
          </a:xfrm>
          <a:prstGeom prst="rect">
            <a:avLst/>
          </a:prstGeom>
          <a:noFill/>
          <a:ln/>
        </p:spPr>
        <p:txBody>
          <a:bodyPr wrap="square" lIns="0" tIns="0" rIns="0" bIns="0" rtlCol="0" anchor="ctr">
            <a:normAutofit/>
          </a:bodyPr>
          <a:lstStyle/>
          <a:p>
            <a:pPr indent="0" marL="0">
              <a:buNone/>
            </a:pPr>
            <a:r>
              <a:rPr lang="en-US" sz="980" dirty="0">
                <a:solidFill>
                  <a:srgbClr val="3D5472"/>
                </a:solidFill>
                <a:latin typeface="Calibri" pitchFamily="34" charset="0"/>
                <a:ea typeface="Calibri" pitchFamily="34" charset="-122"/>
                <a:cs typeface="Calibri" pitchFamily="34" charset="-120"/>
              </a:rPr>
              <a:t>• A magnet is fixed coaxially to the motor output shaft.</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A rigid 3D-printed housing keeps the AS5600 aligned with controlled air gap.</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This turns the motor axis into a measured state instead of trusting commanded steps.</a:t>
            </a:r>
            <a:endParaRPr lang="en-US" sz="980" dirty="0"/>
          </a:p>
        </p:txBody>
      </p:sp>
      <p:sp>
        <p:nvSpPr>
          <p:cNvPr id="21" name="Shape 19"/>
          <p:cNvSpPr/>
          <p:nvPr/>
        </p:nvSpPr>
        <p:spPr>
          <a:xfrm>
            <a:off x="4617720" y="2926080"/>
            <a:ext cx="3931920" cy="1325880"/>
          </a:xfrm>
          <a:prstGeom prst="rect">
            <a:avLst/>
          </a:prstGeom>
          <a:solidFill>
            <a:srgbClr val="FFFFFF"/>
          </a:solidFill>
          <a:ln w="6350">
            <a:solidFill>
              <a:srgbClr val="DDE3EC"/>
            </a:solidFill>
            <a:prstDash val="solid"/>
          </a:ln>
        </p:spPr>
      </p:sp>
      <p:sp>
        <p:nvSpPr>
          <p:cNvPr id="22" name="Shape 20"/>
          <p:cNvSpPr/>
          <p:nvPr/>
        </p:nvSpPr>
        <p:spPr>
          <a:xfrm>
            <a:off x="4617720" y="2926080"/>
            <a:ext cx="3931920" cy="64008"/>
          </a:xfrm>
          <a:prstGeom prst="rect">
            <a:avLst/>
          </a:prstGeom>
          <a:solidFill>
            <a:srgbClr val="0D6EAF"/>
          </a:solidFill>
          <a:ln w="12700">
            <a:solidFill>
              <a:srgbClr val="0D6EAF"/>
            </a:solidFill>
            <a:prstDash val="solid"/>
          </a:ln>
        </p:spPr>
      </p:sp>
      <p:sp>
        <p:nvSpPr>
          <p:cNvPr id="23" name="Text 21"/>
          <p:cNvSpPr/>
          <p:nvPr/>
        </p:nvSpPr>
        <p:spPr>
          <a:xfrm>
            <a:off x="4727448" y="3035808"/>
            <a:ext cx="371246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Why it is not a true servo yet</a:t>
            </a:r>
            <a:endParaRPr lang="en-US" sz="1150" dirty="0"/>
          </a:p>
        </p:txBody>
      </p:sp>
      <p:sp>
        <p:nvSpPr>
          <p:cNvPr id="24" name="Text 22"/>
          <p:cNvSpPr/>
          <p:nvPr/>
        </p:nvSpPr>
        <p:spPr>
          <a:xfrm>
            <a:off x="4727448" y="3310128"/>
            <a:ext cx="3712464" cy="832104"/>
          </a:xfrm>
          <a:prstGeom prst="rect">
            <a:avLst/>
          </a:prstGeom>
          <a:noFill/>
          <a:ln/>
        </p:spPr>
        <p:txBody>
          <a:bodyPr wrap="square" lIns="0" tIns="0" rIns="0" bIns="0" rtlCol="0" anchor="ctr">
            <a:normAutofit/>
          </a:bodyPr>
          <a:lstStyle/>
          <a:p>
            <a:pPr indent="0" marL="0">
              <a:buNone/>
            </a:pPr>
            <a:r>
              <a:rPr lang="en-US" sz="980" dirty="0">
                <a:solidFill>
                  <a:srgbClr val="3D5472"/>
                </a:solidFill>
                <a:latin typeface="Calibri" pitchFamily="34" charset="0"/>
                <a:ea typeface="Calibri" pitchFamily="34" charset="-122"/>
                <a:cs typeface="Calibri" pitchFamily="34" charset="-120"/>
              </a:rPr>
              <a:t>• The controller now knows the actual base angle θ.</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But the TMC2209 still receives STEP/DIR speed commands, not torque commands.</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So the measured axis is closed-loop in sensing, while actuation remains open-loop in realization.</a:t>
            </a:r>
            <a:endParaRPr lang="en-US" sz="980" dirty="0"/>
          </a:p>
        </p:txBody>
      </p:sp>
      <p:sp>
        <p:nvSpPr>
          <p:cNvPr id="25" name="Text 23"/>
          <p:cNvSpPr/>
          <p:nvPr/>
        </p:nvSpPr>
        <p:spPr>
          <a:xfrm>
            <a:off x="8412480" y="4892040"/>
            <a:ext cx="640080" cy="201168"/>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7 / 38</a:t>
            </a:r>
            <a:endParaRPr lang="en-US" sz="900" dirty="0"/>
          </a:p>
        </p:txBody>
      </p:sp>
      <p:sp>
        <p:nvSpPr>
          <p:cNvPr id="26" name="Shape 24"/>
          <p:cNvSpPr/>
          <p:nvPr/>
        </p:nvSpPr>
        <p:spPr>
          <a:xfrm>
            <a:off x="256032" y="4882896"/>
            <a:ext cx="8631936" cy="36576"/>
          </a:xfrm>
          <a:prstGeom prst="rect">
            <a:avLst/>
          </a:prstGeom>
          <a:solidFill>
            <a:srgbClr val="D97706">
              <a:alpha val="15000"/>
            </a:srgbClr>
          </a:solidFill>
          <a:ln w="12700">
            <a:solidFill>
              <a:srgbClr val="D97706"/>
            </a:solidFill>
            <a:prstDash val="solid"/>
          </a:ln>
        </p:spPr>
      </p:sp>
      <p:sp>
        <p:nvSpPr>
          <p:cNvPr id="27" name="Shape 25"/>
          <p:cNvSpPr/>
          <p:nvPr/>
        </p:nvSpPr>
        <p:spPr>
          <a:xfrm>
            <a:off x="256032" y="4882896"/>
            <a:ext cx="1590093" cy="36576"/>
          </a:xfrm>
          <a:prstGeom prst="rect">
            <a:avLst/>
          </a:prstGeom>
          <a:solidFill>
            <a:srgbClr val="D97706"/>
          </a:solidFill>
          <a:ln w="12700">
            <a:solidFill>
              <a:srgbClr val="D97706"/>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8FA"/>
        </a:solidFill>
      </p:bgPr>
    </p:bg>
    <p:spTree>
      <p:nvGrpSpPr>
        <p:cNvPr id="1" name=""/>
        <p:cNvGrpSpPr/>
        <p:nvPr/>
      </p:nvGrpSpPr>
      <p:grpSpPr>
        <a:xfrm>
          <a:off x="0" y="0"/>
          <a:ext cx="0" cy="0"/>
          <a:chOff x="0" y="0"/>
          <a:chExt cx="0" cy="0"/>
        </a:xfrm>
      </p:grpSpPr>
      <p:sp>
        <p:nvSpPr>
          <p:cNvPr id="2" name="Shape 0"/>
          <p:cNvSpPr/>
          <p:nvPr/>
        </p:nvSpPr>
        <p:spPr>
          <a:xfrm>
            <a:off x="0" y="0"/>
            <a:ext cx="118872" cy="5143500"/>
          </a:xfrm>
          <a:prstGeom prst="rect">
            <a:avLst/>
          </a:prstGeom>
          <a:solidFill>
            <a:srgbClr val="0D6EAF"/>
          </a:solidFill>
          <a:ln w="12700">
            <a:solidFill>
              <a:srgbClr val="0D6EAF"/>
            </a:solidFill>
            <a:prstDash val="solid"/>
          </a:ln>
        </p:spPr>
      </p:sp>
      <p:sp>
        <p:nvSpPr>
          <p:cNvPr id="3" name="Text 1"/>
          <p:cNvSpPr/>
          <p:nvPr/>
        </p:nvSpPr>
        <p:spPr>
          <a:xfrm>
            <a:off x="256032" y="201168"/>
            <a:ext cx="8686800" cy="566928"/>
          </a:xfrm>
          <a:prstGeom prst="rect">
            <a:avLst/>
          </a:prstGeom>
          <a:noFill/>
          <a:ln/>
        </p:spPr>
        <p:txBody>
          <a:bodyPr wrap="square" lIns="0" tIns="0" rIns="0" bIns="0" rtlCol="0" anchor="ctr">
            <a:normAutofit/>
          </a:bodyPr>
          <a:lstStyle/>
          <a:p>
            <a:pPr indent="0" marL="0">
              <a:buNone/>
            </a:pPr>
            <a:r>
              <a:rPr lang="en-US" sz="2600" b="1" dirty="0">
                <a:solidFill>
                  <a:srgbClr val="1B2A4A"/>
                </a:solidFill>
                <a:latin typeface="Calibri" pitchFamily="34" charset="0"/>
                <a:ea typeface="Calibri" pitchFamily="34" charset="-122"/>
                <a:cs typeface="Calibri" pitchFamily="34" charset="-120"/>
              </a:rPr>
              <a:t>Hardware Constraints and Limitations</a:t>
            </a:r>
            <a:endParaRPr lang="en-US" sz="2600" dirty="0"/>
          </a:p>
        </p:txBody>
      </p:sp>
      <p:sp>
        <p:nvSpPr>
          <p:cNvPr id="4" name="Text 2"/>
          <p:cNvSpPr/>
          <p:nvPr/>
        </p:nvSpPr>
        <p:spPr>
          <a:xfrm>
            <a:off x="256032" y="768096"/>
            <a:ext cx="8686800" cy="274320"/>
          </a:xfrm>
          <a:prstGeom prst="rect">
            <a:avLst/>
          </a:prstGeom>
          <a:noFill/>
          <a:ln/>
        </p:spPr>
        <p:txBody>
          <a:bodyPr wrap="square" lIns="0" tIns="0" rIns="0" bIns="0" rtlCol="0" anchor="ctr">
            <a:normAutofit/>
          </a:bodyPr>
          <a:lstStyle/>
          <a:p>
            <a:pPr indent="0" marL="0">
              <a:buNone/>
            </a:pPr>
            <a:r>
              <a:rPr lang="en-US" sz="1200" i="1" dirty="0">
                <a:solidFill>
                  <a:srgbClr val="64748B"/>
                </a:solidFill>
                <a:latin typeface="Calibri" pitchFamily="34" charset="0"/>
                <a:ea typeface="Calibri" pitchFamily="34" charset="-122"/>
                <a:cs typeface="Calibri" pitchFamily="34" charset="-120"/>
              </a:rPr>
              <a:t>The controller design is shaped as much by hardware limits as by the equations.</a:t>
            </a:r>
            <a:endParaRPr lang="en-US" sz="1200" dirty="0"/>
          </a:p>
        </p:txBody>
      </p:sp>
      <p:sp>
        <p:nvSpPr>
          <p:cNvPr id="5" name="Shape 3"/>
          <p:cNvSpPr/>
          <p:nvPr/>
        </p:nvSpPr>
        <p:spPr>
          <a:xfrm>
            <a:off x="256032" y="822960"/>
            <a:ext cx="8631936" cy="0"/>
          </a:xfrm>
          <a:prstGeom prst="line">
            <a:avLst/>
          </a:prstGeom>
          <a:noFill/>
          <a:ln w="9525">
            <a:solidFill>
              <a:srgbClr val="DDE3EC"/>
            </a:solidFill>
            <a:prstDash val="solid"/>
          </a:ln>
        </p:spPr>
      </p:sp>
      <p:sp>
        <p:nvSpPr>
          <p:cNvPr id="6" name="Shape 4"/>
          <p:cNvSpPr/>
          <p:nvPr/>
        </p:nvSpPr>
        <p:spPr>
          <a:xfrm>
            <a:off x="502920" y="1078992"/>
            <a:ext cx="1965960" cy="1325880"/>
          </a:xfrm>
          <a:prstGeom prst="rect">
            <a:avLst/>
          </a:prstGeom>
          <a:solidFill>
            <a:srgbClr val="FFFFFF"/>
          </a:solidFill>
          <a:ln w="6350">
            <a:solidFill>
              <a:srgbClr val="DDE3EC"/>
            </a:solidFill>
            <a:prstDash val="solid"/>
          </a:ln>
        </p:spPr>
      </p:sp>
      <p:sp>
        <p:nvSpPr>
          <p:cNvPr id="7" name="Shape 5"/>
          <p:cNvSpPr/>
          <p:nvPr/>
        </p:nvSpPr>
        <p:spPr>
          <a:xfrm>
            <a:off x="502920" y="1078992"/>
            <a:ext cx="1965960" cy="64008"/>
          </a:xfrm>
          <a:prstGeom prst="rect">
            <a:avLst/>
          </a:prstGeom>
          <a:solidFill>
            <a:srgbClr val="0D6EAF"/>
          </a:solidFill>
          <a:ln w="12700">
            <a:solidFill>
              <a:srgbClr val="0D6EAF"/>
            </a:solidFill>
            <a:prstDash val="solid"/>
          </a:ln>
        </p:spPr>
      </p:sp>
      <p:sp>
        <p:nvSpPr>
          <p:cNvPr id="8" name="Text 6"/>
          <p:cNvSpPr/>
          <p:nvPr/>
        </p:nvSpPr>
        <p:spPr>
          <a:xfrm>
            <a:off x="612648" y="1188720"/>
            <a:ext cx="174650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Mechanical travel</a:t>
            </a:r>
            <a:endParaRPr lang="en-US" sz="1150" dirty="0"/>
          </a:p>
        </p:txBody>
      </p:sp>
      <p:sp>
        <p:nvSpPr>
          <p:cNvPr id="9" name="Text 7"/>
          <p:cNvSpPr/>
          <p:nvPr/>
        </p:nvSpPr>
        <p:spPr>
          <a:xfrm>
            <a:off x="612648" y="1463040"/>
            <a:ext cx="1746504" cy="832104"/>
          </a:xfrm>
          <a:prstGeom prst="rect">
            <a:avLst/>
          </a:prstGeom>
          <a:noFill/>
          <a:ln/>
        </p:spPr>
        <p:txBody>
          <a:bodyPr wrap="square" lIns="0" tIns="0" rIns="0" bIns="0" rtlCol="0" anchor="ctr">
            <a:normAutofit/>
          </a:bodyPr>
          <a:lstStyle/>
          <a:p>
            <a:pPr indent="0" marL="0">
              <a:buNone/>
            </a:pPr>
            <a:r>
              <a:rPr lang="en-US" sz="980" dirty="0">
                <a:solidFill>
                  <a:srgbClr val="3D5472"/>
                </a:solidFill>
                <a:latin typeface="Calibri" pitchFamily="34" charset="0"/>
                <a:ea typeface="Calibri" pitchFamily="34" charset="-122"/>
                <a:cs typeface="Calibri" pitchFamily="34" charset="-120"/>
              </a:rPr>
              <a:t>• Base hard limit: $|\theta|&gt;80^\circ$</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Soft outward clamp begins near $78^\circ$</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Pendulum hard limit: $|\alpha|&gt;30^\circ$</a:t>
            </a:r>
            <a:endParaRPr lang="en-US" sz="980" dirty="0"/>
          </a:p>
        </p:txBody>
      </p:sp>
      <p:sp>
        <p:nvSpPr>
          <p:cNvPr id="10" name="Shape 8"/>
          <p:cNvSpPr/>
          <p:nvPr/>
        </p:nvSpPr>
        <p:spPr>
          <a:xfrm>
            <a:off x="2697480" y="1078992"/>
            <a:ext cx="1965960" cy="1325880"/>
          </a:xfrm>
          <a:prstGeom prst="rect">
            <a:avLst/>
          </a:prstGeom>
          <a:solidFill>
            <a:srgbClr val="FEF2F2"/>
          </a:solidFill>
          <a:ln w="6350">
            <a:solidFill>
              <a:srgbClr val="DDE3EC"/>
            </a:solidFill>
            <a:prstDash val="solid"/>
          </a:ln>
        </p:spPr>
      </p:sp>
      <p:sp>
        <p:nvSpPr>
          <p:cNvPr id="11" name="Shape 9"/>
          <p:cNvSpPr/>
          <p:nvPr/>
        </p:nvSpPr>
        <p:spPr>
          <a:xfrm>
            <a:off x="2697480" y="1078992"/>
            <a:ext cx="1965960" cy="64008"/>
          </a:xfrm>
          <a:prstGeom prst="rect">
            <a:avLst/>
          </a:prstGeom>
          <a:solidFill>
            <a:srgbClr val="B91C1C"/>
          </a:solidFill>
          <a:ln w="12700">
            <a:solidFill>
              <a:srgbClr val="B91C1C"/>
            </a:solidFill>
            <a:prstDash val="solid"/>
          </a:ln>
        </p:spPr>
      </p:sp>
      <p:sp>
        <p:nvSpPr>
          <p:cNvPr id="12" name="Text 10"/>
          <p:cNvSpPr/>
          <p:nvPr/>
        </p:nvSpPr>
        <p:spPr>
          <a:xfrm>
            <a:off x="2807208" y="1188720"/>
            <a:ext cx="174650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Actuation mismatch</a:t>
            </a:r>
            <a:endParaRPr lang="en-US" sz="1150" dirty="0"/>
          </a:p>
        </p:txBody>
      </p:sp>
      <p:sp>
        <p:nvSpPr>
          <p:cNvPr id="13" name="Text 11"/>
          <p:cNvSpPr/>
          <p:nvPr/>
        </p:nvSpPr>
        <p:spPr>
          <a:xfrm>
            <a:off x="2807208" y="1463040"/>
            <a:ext cx="1746504" cy="832104"/>
          </a:xfrm>
          <a:prstGeom prst="rect">
            <a:avLst/>
          </a:prstGeom>
          <a:noFill/>
          <a:ln/>
        </p:spPr>
        <p:txBody>
          <a:bodyPr wrap="square" lIns="0" tIns="0" rIns="0" bIns="0" rtlCol="0" anchor="ctr">
            <a:normAutofit/>
          </a:bodyPr>
          <a:lstStyle/>
          <a:p>
            <a:pPr indent="0" marL="0">
              <a:buNone/>
            </a:pPr>
            <a:r>
              <a:rPr lang="en-US" sz="980" dirty="0">
                <a:solidFill>
                  <a:srgbClr val="3D5472"/>
                </a:solidFill>
                <a:latin typeface="Calibri" pitchFamily="34" charset="0"/>
                <a:ea typeface="Calibri" pitchFamily="34" charset="-122"/>
                <a:cs typeface="Calibri" pitchFamily="34" charset="-120"/>
              </a:rPr>
              <a:t>• No torque control</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Acceleration integrated to commanded speed</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Motor can stall or miss motion</a:t>
            </a:r>
            <a:endParaRPr lang="en-US" sz="980" dirty="0"/>
          </a:p>
        </p:txBody>
      </p:sp>
      <p:sp>
        <p:nvSpPr>
          <p:cNvPr id="14" name="Shape 12"/>
          <p:cNvSpPr/>
          <p:nvPr/>
        </p:nvSpPr>
        <p:spPr>
          <a:xfrm>
            <a:off x="4892040" y="1078992"/>
            <a:ext cx="1783080" cy="1325880"/>
          </a:xfrm>
          <a:prstGeom prst="rect">
            <a:avLst/>
          </a:prstGeom>
          <a:solidFill>
            <a:srgbClr val="FFFFFF"/>
          </a:solidFill>
          <a:ln w="6350">
            <a:solidFill>
              <a:srgbClr val="DDE3EC"/>
            </a:solidFill>
            <a:prstDash val="solid"/>
          </a:ln>
        </p:spPr>
      </p:sp>
      <p:sp>
        <p:nvSpPr>
          <p:cNvPr id="15" name="Shape 13"/>
          <p:cNvSpPr/>
          <p:nvPr/>
        </p:nvSpPr>
        <p:spPr>
          <a:xfrm>
            <a:off x="4892040" y="1078992"/>
            <a:ext cx="1783080" cy="64008"/>
          </a:xfrm>
          <a:prstGeom prst="rect">
            <a:avLst/>
          </a:prstGeom>
          <a:solidFill>
            <a:srgbClr val="0D6EAF"/>
          </a:solidFill>
          <a:ln w="12700">
            <a:solidFill>
              <a:srgbClr val="0D6EAF"/>
            </a:solidFill>
            <a:prstDash val="solid"/>
          </a:ln>
        </p:spPr>
      </p:sp>
      <p:sp>
        <p:nvSpPr>
          <p:cNvPr id="16" name="Text 14"/>
          <p:cNvSpPr/>
          <p:nvPr/>
        </p:nvSpPr>
        <p:spPr>
          <a:xfrm>
            <a:off x="5001768" y="1188720"/>
            <a:ext cx="156362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Loop timing</a:t>
            </a:r>
            <a:endParaRPr lang="en-US" sz="1150" dirty="0"/>
          </a:p>
        </p:txBody>
      </p:sp>
      <p:sp>
        <p:nvSpPr>
          <p:cNvPr id="17" name="Text 15"/>
          <p:cNvSpPr/>
          <p:nvPr/>
        </p:nvSpPr>
        <p:spPr>
          <a:xfrm>
            <a:off x="5001768" y="1463040"/>
            <a:ext cx="1563624" cy="832104"/>
          </a:xfrm>
          <a:prstGeom prst="rect">
            <a:avLst/>
          </a:prstGeom>
          <a:noFill/>
          <a:ln/>
        </p:spPr>
        <p:txBody>
          <a:bodyPr wrap="square" lIns="0" tIns="0" rIns="0" bIns="0" rtlCol="0" anchor="ctr">
            <a:normAutofit/>
          </a:bodyPr>
          <a:lstStyle/>
          <a:p>
            <a:pPr indent="0" marL="0">
              <a:buNone/>
            </a:pPr>
            <a:r>
              <a:rPr lang="en-US" sz="980" dirty="0">
                <a:solidFill>
                  <a:srgbClr val="3D5472"/>
                </a:solidFill>
                <a:latin typeface="Calibri" pitchFamily="34" charset="0"/>
                <a:ea typeface="Calibri" pitchFamily="34" charset="-122"/>
                <a:cs typeface="Calibri" pitchFamily="34" charset="-120"/>
              </a:rPr>
              <a:t>• $T_s=5$ ms</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200 Hz control loop</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About 50 Hz logging</a:t>
            </a:r>
            <a:endParaRPr lang="en-US" sz="980" dirty="0"/>
          </a:p>
        </p:txBody>
      </p:sp>
      <p:sp>
        <p:nvSpPr>
          <p:cNvPr id="18" name="Shape 16"/>
          <p:cNvSpPr/>
          <p:nvPr/>
        </p:nvSpPr>
        <p:spPr>
          <a:xfrm>
            <a:off x="6903720" y="1078992"/>
            <a:ext cx="1783080" cy="1325880"/>
          </a:xfrm>
          <a:prstGeom prst="rect">
            <a:avLst/>
          </a:prstGeom>
          <a:solidFill>
            <a:srgbClr val="FFFFFF"/>
          </a:solidFill>
          <a:ln w="6350">
            <a:solidFill>
              <a:srgbClr val="DDE3EC"/>
            </a:solidFill>
            <a:prstDash val="solid"/>
          </a:ln>
        </p:spPr>
      </p:sp>
      <p:sp>
        <p:nvSpPr>
          <p:cNvPr id="19" name="Shape 17"/>
          <p:cNvSpPr/>
          <p:nvPr/>
        </p:nvSpPr>
        <p:spPr>
          <a:xfrm>
            <a:off x="6903720" y="1078992"/>
            <a:ext cx="1783080" cy="64008"/>
          </a:xfrm>
          <a:prstGeom prst="rect">
            <a:avLst/>
          </a:prstGeom>
          <a:solidFill>
            <a:srgbClr val="0D6EAF"/>
          </a:solidFill>
          <a:ln w="12700">
            <a:solidFill>
              <a:srgbClr val="0D6EAF"/>
            </a:solidFill>
            <a:prstDash val="solid"/>
          </a:ln>
        </p:spPr>
      </p:sp>
      <p:sp>
        <p:nvSpPr>
          <p:cNvPr id="20" name="Text 18"/>
          <p:cNvSpPr/>
          <p:nvPr/>
        </p:nvSpPr>
        <p:spPr>
          <a:xfrm>
            <a:off x="7013448" y="1188720"/>
            <a:ext cx="156362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Stall monitor</a:t>
            </a:r>
            <a:endParaRPr lang="en-US" sz="1150" dirty="0"/>
          </a:p>
        </p:txBody>
      </p:sp>
      <p:sp>
        <p:nvSpPr>
          <p:cNvPr id="21" name="Text 19"/>
          <p:cNvSpPr/>
          <p:nvPr/>
        </p:nvSpPr>
        <p:spPr>
          <a:xfrm>
            <a:off x="7013448" y="1463040"/>
            <a:ext cx="1563624" cy="832104"/>
          </a:xfrm>
          <a:prstGeom prst="rect">
            <a:avLst/>
          </a:prstGeom>
          <a:noFill/>
          <a:ln/>
        </p:spPr>
        <p:txBody>
          <a:bodyPr wrap="square" lIns="0" tIns="0" rIns="0" bIns="0" rtlCol="0" anchor="ctr">
            <a:normAutofit/>
          </a:bodyPr>
          <a:lstStyle/>
          <a:p>
            <a:pPr indent="0" marL="0">
              <a:buNone/>
            </a:pPr>
            <a:r>
              <a:rPr lang="en-US" sz="980" dirty="0">
                <a:solidFill>
                  <a:srgbClr val="3D5472"/>
                </a:solidFill>
                <a:latin typeface="Calibri" pitchFamily="34" charset="0"/>
                <a:ea typeface="Calibri" pitchFamily="34" charset="-122"/>
                <a:cs typeface="Calibri" pitchFamily="34" charset="-120"/>
              </a:rPr>
              <a:t>• Expect motion above 500 steps/s</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Warn if $|\Delta\theta|&lt;0.10^\circ$ for 150 ms</a:t>
            </a:r>
            <a:endParaRPr lang="en-US" sz="980" dirty="0"/>
          </a:p>
        </p:txBody>
      </p:sp>
      <p:sp>
        <p:nvSpPr>
          <p:cNvPr id="22" name="Shape 20"/>
          <p:cNvSpPr/>
          <p:nvPr/>
        </p:nvSpPr>
        <p:spPr>
          <a:xfrm>
            <a:off x="502920" y="2651760"/>
            <a:ext cx="4069080" cy="1417320"/>
          </a:xfrm>
          <a:prstGeom prst="rect">
            <a:avLst/>
          </a:prstGeom>
          <a:solidFill>
            <a:srgbClr val="FFFFFF"/>
          </a:solidFill>
          <a:ln w="6350">
            <a:solidFill>
              <a:srgbClr val="DDE3EC"/>
            </a:solidFill>
            <a:prstDash val="solid"/>
          </a:ln>
        </p:spPr>
      </p:sp>
      <p:sp>
        <p:nvSpPr>
          <p:cNvPr id="23" name="Shape 21"/>
          <p:cNvSpPr/>
          <p:nvPr/>
        </p:nvSpPr>
        <p:spPr>
          <a:xfrm>
            <a:off x="502920" y="2651760"/>
            <a:ext cx="4069080" cy="64008"/>
          </a:xfrm>
          <a:prstGeom prst="rect">
            <a:avLst/>
          </a:prstGeom>
          <a:solidFill>
            <a:srgbClr val="0D6EAF"/>
          </a:solidFill>
          <a:ln w="12700">
            <a:solidFill>
              <a:srgbClr val="0D6EAF"/>
            </a:solidFill>
            <a:prstDash val="solid"/>
          </a:ln>
        </p:spPr>
      </p:sp>
      <p:sp>
        <p:nvSpPr>
          <p:cNvPr id="24" name="Text 22"/>
          <p:cNvSpPr/>
          <p:nvPr/>
        </p:nvSpPr>
        <p:spPr>
          <a:xfrm>
            <a:off x="612648" y="2761488"/>
            <a:ext cx="384962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What this means for controller design</a:t>
            </a:r>
            <a:endParaRPr lang="en-US" sz="1150" dirty="0"/>
          </a:p>
        </p:txBody>
      </p:sp>
      <p:sp>
        <p:nvSpPr>
          <p:cNvPr id="25" name="Text 23"/>
          <p:cNvSpPr/>
          <p:nvPr/>
        </p:nvSpPr>
        <p:spPr>
          <a:xfrm>
            <a:off x="612648" y="3035808"/>
            <a:ext cx="3849624" cy="923544"/>
          </a:xfrm>
          <a:prstGeom prst="rect">
            <a:avLst/>
          </a:prstGeom>
          <a:noFill/>
          <a:ln/>
        </p:spPr>
        <p:txBody>
          <a:bodyPr wrap="square" lIns="0" tIns="0" rIns="0" bIns="0" rtlCol="0" anchor="ctr">
            <a:normAutofit/>
          </a:bodyPr>
          <a:lstStyle/>
          <a:p>
            <a:pPr indent="0" marL="0">
              <a:buNone/>
            </a:pPr>
            <a:r>
              <a:rPr lang="en-US" sz="980" dirty="0">
                <a:solidFill>
                  <a:srgbClr val="3D5472"/>
                </a:solidFill>
                <a:latin typeface="Calibri" pitchFamily="34" charset="0"/>
                <a:ea typeface="Calibri" pitchFamily="34" charset="-122"/>
                <a:cs typeface="Calibri" pitchFamily="34" charset="-120"/>
              </a:rPr>
              <a:t>• The implemented law must be stepper-friendly: bounded speed, bounded acceleration, and robust to missed motion.</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Any claim of stability must be read together with the firmware aborts, soft limits, and actuator shaping.</a:t>
            </a:r>
            <a:endParaRPr lang="en-US" sz="980" dirty="0"/>
          </a:p>
        </p:txBody>
      </p:sp>
      <p:sp>
        <p:nvSpPr>
          <p:cNvPr id="26" name="Shape 24"/>
          <p:cNvSpPr/>
          <p:nvPr/>
        </p:nvSpPr>
        <p:spPr>
          <a:xfrm>
            <a:off x="4800600" y="2651760"/>
            <a:ext cx="3886200" cy="1417320"/>
          </a:xfrm>
          <a:prstGeom prst="rect">
            <a:avLst/>
          </a:prstGeom>
          <a:solidFill>
            <a:srgbClr val="FFFFFF"/>
          </a:solidFill>
          <a:ln w="6350">
            <a:solidFill>
              <a:srgbClr val="DDE3EC"/>
            </a:solidFill>
            <a:prstDash val="solid"/>
          </a:ln>
        </p:spPr>
      </p:sp>
      <p:sp>
        <p:nvSpPr>
          <p:cNvPr id="27" name="Shape 25"/>
          <p:cNvSpPr/>
          <p:nvPr/>
        </p:nvSpPr>
        <p:spPr>
          <a:xfrm>
            <a:off x="4800600" y="2651760"/>
            <a:ext cx="3886200" cy="64008"/>
          </a:xfrm>
          <a:prstGeom prst="rect">
            <a:avLst/>
          </a:prstGeom>
          <a:solidFill>
            <a:srgbClr val="0A7A6E"/>
          </a:solidFill>
          <a:ln w="12700">
            <a:solidFill>
              <a:srgbClr val="0A7A6E"/>
            </a:solidFill>
            <a:prstDash val="solid"/>
          </a:ln>
        </p:spPr>
      </p:sp>
      <p:sp>
        <p:nvSpPr>
          <p:cNvPr id="28" name="Text 26"/>
          <p:cNvSpPr/>
          <p:nvPr/>
        </p:nvSpPr>
        <p:spPr>
          <a:xfrm>
            <a:off x="4910328" y="2761488"/>
            <a:ext cx="366674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Firmware response to failure</a:t>
            </a:r>
            <a:endParaRPr lang="en-US" sz="1150" dirty="0"/>
          </a:p>
        </p:txBody>
      </p:sp>
      <p:sp>
        <p:nvSpPr>
          <p:cNvPr id="29" name="Text 27"/>
          <p:cNvSpPr/>
          <p:nvPr/>
        </p:nvSpPr>
        <p:spPr>
          <a:xfrm>
            <a:off x="4910328" y="3035808"/>
            <a:ext cx="3666744" cy="923544"/>
          </a:xfrm>
          <a:prstGeom prst="rect">
            <a:avLst/>
          </a:prstGeom>
          <a:noFill/>
          <a:ln/>
        </p:spPr>
        <p:txBody>
          <a:bodyPr wrap="square" lIns="0" tIns="0" rIns="0" bIns="0" rtlCol="0" anchor="ctr">
            <a:normAutofit/>
          </a:bodyPr>
          <a:lstStyle/>
          <a:p>
            <a:pPr indent="0" marL="0">
              <a:buNone/>
            </a:pPr>
            <a:r>
              <a:rPr lang="en-US" sz="980" dirty="0">
                <a:solidFill>
                  <a:srgbClr val="3D5472"/>
                </a:solidFill>
                <a:latin typeface="Calibri" pitchFamily="34" charset="0"/>
                <a:ea typeface="Calibri" pitchFamily="34" charset="-122"/>
                <a:cs typeface="Calibri" pitchFamily="34" charset="-120"/>
              </a:rPr>
              <a:t>• Soft-limit suppression near the base stop</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Predictable disarm to IDLE after debounced limit violation</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Auto-rearm only after the pendulum re-enters the engage window</a:t>
            </a:r>
            <a:endParaRPr lang="en-US" sz="980" dirty="0"/>
          </a:p>
        </p:txBody>
      </p:sp>
      <p:sp>
        <p:nvSpPr>
          <p:cNvPr id="30" name="Text 28"/>
          <p:cNvSpPr/>
          <p:nvPr/>
        </p:nvSpPr>
        <p:spPr>
          <a:xfrm>
            <a:off x="8412480" y="4892040"/>
            <a:ext cx="640080" cy="201168"/>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8 / 38</a:t>
            </a:r>
            <a:endParaRPr lang="en-US" sz="900" dirty="0"/>
          </a:p>
        </p:txBody>
      </p:sp>
      <p:sp>
        <p:nvSpPr>
          <p:cNvPr id="31" name="Shape 29"/>
          <p:cNvSpPr/>
          <p:nvPr/>
        </p:nvSpPr>
        <p:spPr>
          <a:xfrm>
            <a:off x="256032" y="4882896"/>
            <a:ext cx="8631936" cy="36576"/>
          </a:xfrm>
          <a:prstGeom prst="rect">
            <a:avLst/>
          </a:prstGeom>
          <a:solidFill>
            <a:srgbClr val="0D6EAF">
              <a:alpha val="15000"/>
            </a:srgbClr>
          </a:solidFill>
          <a:ln w="12700">
            <a:solidFill>
              <a:srgbClr val="0D6EAF"/>
            </a:solidFill>
            <a:prstDash val="solid"/>
          </a:ln>
        </p:spPr>
      </p:sp>
      <p:sp>
        <p:nvSpPr>
          <p:cNvPr id="32" name="Shape 30"/>
          <p:cNvSpPr/>
          <p:nvPr/>
        </p:nvSpPr>
        <p:spPr>
          <a:xfrm>
            <a:off x="256032" y="4882896"/>
            <a:ext cx="1817250" cy="36576"/>
          </a:xfrm>
          <a:prstGeom prst="rect">
            <a:avLst/>
          </a:prstGeom>
          <a:solidFill>
            <a:srgbClr val="0D6EAF"/>
          </a:solidFill>
          <a:ln w="12700">
            <a:solidFill>
              <a:srgbClr val="0D6EAF"/>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8FA"/>
        </a:solidFill>
      </p:bgPr>
    </p:bg>
    <p:spTree>
      <p:nvGrpSpPr>
        <p:cNvPr id="1" name=""/>
        <p:cNvGrpSpPr/>
        <p:nvPr/>
      </p:nvGrpSpPr>
      <p:grpSpPr>
        <a:xfrm>
          <a:off x="0" y="0"/>
          <a:ext cx="0" cy="0"/>
          <a:chOff x="0" y="0"/>
          <a:chExt cx="0" cy="0"/>
        </a:xfrm>
      </p:grpSpPr>
      <p:sp>
        <p:nvSpPr>
          <p:cNvPr id="2" name="Shape 0"/>
          <p:cNvSpPr/>
          <p:nvPr/>
        </p:nvSpPr>
        <p:spPr>
          <a:xfrm>
            <a:off x="0" y="0"/>
            <a:ext cx="118872" cy="5143500"/>
          </a:xfrm>
          <a:prstGeom prst="rect">
            <a:avLst/>
          </a:prstGeom>
          <a:solidFill>
            <a:srgbClr val="0D6EAF"/>
          </a:solidFill>
          <a:ln w="12700">
            <a:solidFill>
              <a:srgbClr val="0D6EAF"/>
            </a:solidFill>
            <a:prstDash val="solid"/>
          </a:ln>
        </p:spPr>
      </p:sp>
      <p:sp>
        <p:nvSpPr>
          <p:cNvPr id="3" name="Text 1"/>
          <p:cNvSpPr/>
          <p:nvPr/>
        </p:nvSpPr>
        <p:spPr>
          <a:xfrm>
            <a:off x="256032" y="201168"/>
            <a:ext cx="8686800" cy="566928"/>
          </a:xfrm>
          <a:prstGeom prst="rect">
            <a:avLst/>
          </a:prstGeom>
          <a:noFill/>
          <a:ln/>
        </p:spPr>
        <p:txBody>
          <a:bodyPr wrap="square" lIns="0" tIns="0" rIns="0" bIns="0" rtlCol="0" anchor="ctr">
            <a:normAutofit/>
          </a:bodyPr>
          <a:lstStyle/>
          <a:p>
            <a:pPr indent="0" marL="0">
              <a:buNone/>
            </a:pPr>
            <a:r>
              <a:rPr lang="en-US" sz="2600" b="1" dirty="0">
                <a:solidFill>
                  <a:srgbClr val="1B2A4A"/>
                </a:solidFill>
                <a:latin typeface="Calibri" pitchFamily="34" charset="0"/>
                <a:ea typeface="Calibri" pitchFamily="34" charset="-122"/>
                <a:cs typeface="Calibri" pitchFamily="34" charset="-120"/>
              </a:rPr>
              <a:t>State Machine: Calibrate → Idle → Active</a:t>
            </a:r>
            <a:endParaRPr lang="en-US" sz="2600" dirty="0"/>
          </a:p>
        </p:txBody>
      </p:sp>
      <p:sp>
        <p:nvSpPr>
          <p:cNvPr id="4" name="Text 2"/>
          <p:cNvSpPr/>
          <p:nvPr/>
        </p:nvSpPr>
        <p:spPr>
          <a:xfrm>
            <a:off x="256032" y="768096"/>
            <a:ext cx="8686800" cy="274320"/>
          </a:xfrm>
          <a:prstGeom prst="rect">
            <a:avLst/>
          </a:prstGeom>
          <a:noFill/>
          <a:ln/>
        </p:spPr>
        <p:txBody>
          <a:bodyPr wrap="square" lIns="0" tIns="0" rIns="0" bIns="0" rtlCol="0" anchor="ctr">
            <a:normAutofit/>
          </a:bodyPr>
          <a:lstStyle/>
          <a:p>
            <a:pPr indent="0" marL="0">
              <a:buNone/>
            </a:pPr>
            <a:r>
              <a:rPr lang="en-US" sz="1200" i="1" dirty="0">
                <a:solidFill>
                  <a:srgbClr val="64748B"/>
                </a:solidFill>
                <a:latin typeface="Calibri" pitchFamily="34" charset="0"/>
                <a:ea typeface="Calibri" pitchFamily="34" charset="-122"/>
                <a:cs typeface="Calibri" pitchFamily="34" charset="-120"/>
              </a:rPr>
              <a:t>The control software is organized around an explicit state machine instead of a monolithic loop with hidden assumptions.</a:t>
            </a:r>
            <a:endParaRPr lang="en-US" sz="1200" dirty="0"/>
          </a:p>
        </p:txBody>
      </p:sp>
      <p:sp>
        <p:nvSpPr>
          <p:cNvPr id="5" name="Shape 3"/>
          <p:cNvSpPr/>
          <p:nvPr/>
        </p:nvSpPr>
        <p:spPr>
          <a:xfrm>
            <a:off x="256032" y="822960"/>
            <a:ext cx="8631936" cy="0"/>
          </a:xfrm>
          <a:prstGeom prst="line">
            <a:avLst/>
          </a:prstGeom>
          <a:noFill/>
          <a:ln w="9525">
            <a:solidFill>
              <a:srgbClr val="DDE3EC"/>
            </a:solidFill>
            <a:prstDash val="solid"/>
          </a:ln>
        </p:spPr>
      </p:sp>
      <p:sp>
        <p:nvSpPr>
          <p:cNvPr id="6" name="Shape 4"/>
          <p:cNvSpPr/>
          <p:nvPr/>
        </p:nvSpPr>
        <p:spPr>
          <a:xfrm>
            <a:off x="685800" y="1307592"/>
            <a:ext cx="2511552" cy="691286"/>
          </a:xfrm>
          <a:prstGeom prst="roundRect">
            <a:avLst/>
          </a:prstGeom>
          <a:solidFill>
            <a:srgbClr val="D6E8F5"/>
          </a:solidFill>
          <a:ln w="6350">
            <a:solidFill>
              <a:srgbClr val="DDE3EC"/>
            </a:solidFill>
            <a:prstDash val="solid"/>
          </a:ln>
        </p:spPr>
      </p:sp>
      <p:sp>
        <p:nvSpPr>
          <p:cNvPr id="7" name="Text 5"/>
          <p:cNvSpPr/>
          <p:nvPr/>
        </p:nvSpPr>
        <p:spPr>
          <a:xfrm>
            <a:off x="740664" y="1389888"/>
            <a:ext cx="2401824" cy="526694"/>
          </a:xfrm>
          <a:prstGeom prst="rect">
            <a:avLst/>
          </a:prstGeom>
          <a:noFill/>
          <a:ln/>
        </p:spPr>
        <p:txBody>
          <a:bodyPr wrap="square" lIns="0" tIns="0" rIns="0" bIns="0" rtlCol="0" anchor="ctr">
            <a:normAutofit/>
          </a:bodyPr>
          <a:lstStyle/>
          <a:p>
            <a:pPr algn="ctr" indent="0" marL="0">
              <a:buNone/>
            </a:pPr>
            <a:r>
              <a:rPr lang="en-US" sz="1000" b="1" dirty="0">
                <a:solidFill>
                  <a:srgbClr val="1B2A4A"/>
                </a:solidFill>
                <a:latin typeface="Calibri" pitchFamily="34" charset="0"/>
                <a:ea typeface="Calibri" pitchFamily="34" charset="-122"/>
                <a:cs typeface="Calibri" pitchFamily="34" charset="-120"/>
              </a:rPr>
              <a:t>CALIBRATE</a:t>
            </a:r>
            <a:endParaRPr lang="en-US" sz="1000" dirty="0"/>
          </a:p>
        </p:txBody>
      </p:sp>
      <p:sp>
        <p:nvSpPr>
          <p:cNvPr id="8" name="Text 6"/>
          <p:cNvSpPr/>
          <p:nvPr/>
        </p:nvSpPr>
        <p:spPr>
          <a:xfrm>
            <a:off x="3215640" y="1453896"/>
            <a:ext cx="128016" cy="228600"/>
          </a:xfrm>
          <a:prstGeom prst="rect">
            <a:avLst/>
          </a:prstGeom>
          <a:noFill/>
          <a:ln/>
        </p:spPr>
        <p:txBody>
          <a:bodyPr wrap="square" lIns="0" tIns="0" rIns="0" bIns="0" rtlCol="0" anchor="ctr"/>
          <a:lstStyle/>
          <a:p>
            <a:pPr algn="ctr" indent="0" marL="0">
              <a:buNone/>
            </a:pPr>
            <a:r>
              <a:rPr lang="en-US" sz="1800" b="1" dirty="0">
                <a:solidFill>
                  <a:srgbClr val="0D6EAF"/>
                </a:solidFill>
                <a:latin typeface="Calibri" pitchFamily="34" charset="0"/>
                <a:ea typeface="Calibri" pitchFamily="34" charset="-122"/>
                <a:cs typeface="Calibri" pitchFamily="34" charset="-120"/>
              </a:rPr>
              <a:t>→</a:t>
            </a:r>
            <a:endParaRPr lang="en-US" sz="1800" dirty="0"/>
          </a:p>
        </p:txBody>
      </p:sp>
      <p:sp>
        <p:nvSpPr>
          <p:cNvPr id="9" name="Shape 7"/>
          <p:cNvSpPr/>
          <p:nvPr/>
        </p:nvSpPr>
        <p:spPr>
          <a:xfrm>
            <a:off x="3361944" y="1307592"/>
            <a:ext cx="2511552" cy="691286"/>
          </a:xfrm>
          <a:prstGeom prst="roundRect">
            <a:avLst/>
          </a:prstGeom>
          <a:solidFill>
            <a:srgbClr val="EEF5FB"/>
          </a:solidFill>
          <a:ln w="6350">
            <a:solidFill>
              <a:srgbClr val="DDE3EC"/>
            </a:solidFill>
            <a:prstDash val="solid"/>
          </a:ln>
        </p:spPr>
      </p:sp>
      <p:sp>
        <p:nvSpPr>
          <p:cNvPr id="10" name="Text 8"/>
          <p:cNvSpPr/>
          <p:nvPr/>
        </p:nvSpPr>
        <p:spPr>
          <a:xfrm>
            <a:off x="3416808" y="1389888"/>
            <a:ext cx="2401824" cy="526694"/>
          </a:xfrm>
          <a:prstGeom prst="rect">
            <a:avLst/>
          </a:prstGeom>
          <a:noFill/>
          <a:ln/>
        </p:spPr>
        <p:txBody>
          <a:bodyPr wrap="square" lIns="0" tIns="0" rIns="0" bIns="0" rtlCol="0" anchor="ctr">
            <a:normAutofit/>
          </a:bodyPr>
          <a:lstStyle/>
          <a:p>
            <a:pPr algn="ctr" indent="0" marL="0">
              <a:buNone/>
            </a:pPr>
            <a:r>
              <a:rPr lang="en-US" sz="1000" b="1" dirty="0">
                <a:solidFill>
                  <a:srgbClr val="1B2A4A"/>
                </a:solidFill>
                <a:latin typeface="Calibri" pitchFamily="34" charset="0"/>
                <a:ea typeface="Calibri" pitchFamily="34" charset="-122"/>
                <a:cs typeface="Calibri" pitchFamily="34" charset="-120"/>
              </a:rPr>
              <a:t>IDLE</a:t>
            </a:r>
            <a:endParaRPr lang="en-US" sz="1000" dirty="0"/>
          </a:p>
        </p:txBody>
      </p:sp>
      <p:sp>
        <p:nvSpPr>
          <p:cNvPr id="11" name="Text 9"/>
          <p:cNvSpPr/>
          <p:nvPr/>
        </p:nvSpPr>
        <p:spPr>
          <a:xfrm>
            <a:off x="5891784" y="1453896"/>
            <a:ext cx="128016" cy="228600"/>
          </a:xfrm>
          <a:prstGeom prst="rect">
            <a:avLst/>
          </a:prstGeom>
          <a:noFill/>
          <a:ln/>
        </p:spPr>
        <p:txBody>
          <a:bodyPr wrap="square" lIns="0" tIns="0" rIns="0" bIns="0" rtlCol="0" anchor="ctr"/>
          <a:lstStyle/>
          <a:p>
            <a:pPr algn="ctr" indent="0" marL="0">
              <a:buNone/>
            </a:pPr>
            <a:r>
              <a:rPr lang="en-US" sz="1800" b="1" dirty="0">
                <a:solidFill>
                  <a:srgbClr val="0D6EAF"/>
                </a:solidFill>
                <a:latin typeface="Calibri" pitchFamily="34" charset="0"/>
                <a:ea typeface="Calibri" pitchFamily="34" charset="-122"/>
                <a:cs typeface="Calibri" pitchFamily="34" charset="-120"/>
              </a:rPr>
              <a:t>→</a:t>
            </a:r>
            <a:endParaRPr lang="en-US" sz="1800" dirty="0"/>
          </a:p>
        </p:txBody>
      </p:sp>
      <p:sp>
        <p:nvSpPr>
          <p:cNvPr id="12" name="Shape 10"/>
          <p:cNvSpPr/>
          <p:nvPr/>
        </p:nvSpPr>
        <p:spPr>
          <a:xfrm>
            <a:off x="6038088" y="1307592"/>
            <a:ext cx="2511552" cy="691286"/>
          </a:xfrm>
          <a:prstGeom prst="roundRect">
            <a:avLst/>
          </a:prstGeom>
          <a:solidFill>
            <a:srgbClr val="ECFDF5"/>
          </a:solidFill>
          <a:ln w="6350">
            <a:solidFill>
              <a:srgbClr val="DDE3EC"/>
            </a:solidFill>
            <a:prstDash val="solid"/>
          </a:ln>
        </p:spPr>
      </p:sp>
      <p:sp>
        <p:nvSpPr>
          <p:cNvPr id="13" name="Text 11"/>
          <p:cNvSpPr/>
          <p:nvPr/>
        </p:nvSpPr>
        <p:spPr>
          <a:xfrm>
            <a:off x="6092952" y="1389888"/>
            <a:ext cx="2401824" cy="526694"/>
          </a:xfrm>
          <a:prstGeom prst="rect">
            <a:avLst/>
          </a:prstGeom>
          <a:noFill/>
          <a:ln/>
        </p:spPr>
        <p:txBody>
          <a:bodyPr wrap="square" lIns="0" tIns="0" rIns="0" bIns="0" rtlCol="0" anchor="ctr">
            <a:normAutofit/>
          </a:bodyPr>
          <a:lstStyle/>
          <a:p>
            <a:pPr algn="ctr" indent="0" marL="0">
              <a:buNone/>
            </a:pPr>
            <a:r>
              <a:rPr lang="en-US" sz="1000" b="1" dirty="0">
                <a:solidFill>
                  <a:srgbClr val="1B2A4A"/>
                </a:solidFill>
                <a:latin typeface="Calibri" pitchFamily="34" charset="0"/>
                <a:ea typeface="Calibri" pitchFamily="34" charset="-122"/>
                <a:cs typeface="Calibri" pitchFamily="34" charset="-120"/>
              </a:rPr>
              <a:t>ACTIVE</a:t>
            </a:r>
            <a:endParaRPr lang="en-US" sz="1000" dirty="0"/>
          </a:p>
        </p:txBody>
      </p:sp>
      <p:sp>
        <p:nvSpPr>
          <p:cNvPr id="14" name="Shape 12"/>
          <p:cNvSpPr/>
          <p:nvPr/>
        </p:nvSpPr>
        <p:spPr>
          <a:xfrm>
            <a:off x="594360" y="2514600"/>
            <a:ext cx="3840480" cy="1508760"/>
          </a:xfrm>
          <a:prstGeom prst="rect">
            <a:avLst/>
          </a:prstGeom>
          <a:solidFill>
            <a:srgbClr val="FFFFFF"/>
          </a:solidFill>
          <a:ln w="6350">
            <a:solidFill>
              <a:srgbClr val="DDE3EC"/>
            </a:solidFill>
            <a:prstDash val="solid"/>
          </a:ln>
        </p:spPr>
      </p:sp>
      <p:sp>
        <p:nvSpPr>
          <p:cNvPr id="15" name="Shape 13"/>
          <p:cNvSpPr/>
          <p:nvPr/>
        </p:nvSpPr>
        <p:spPr>
          <a:xfrm>
            <a:off x="594360" y="2514600"/>
            <a:ext cx="3840480" cy="64008"/>
          </a:xfrm>
          <a:prstGeom prst="rect">
            <a:avLst/>
          </a:prstGeom>
          <a:solidFill>
            <a:srgbClr val="0D6EAF"/>
          </a:solidFill>
          <a:ln w="12700">
            <a:solidFill>
              <a:srgbClr val="0D6EAF"/>
            </a:solidFill>
            <a:prstDash val="solid"/>
          </a:ln>
        </p:spPr>
      </p:sp>
      <p:sp>
        <p:nvSpPr>
          <p:cNvPr id="16" name="Text 14"/>
          <p:cNvSpPr/>
          <p:nvPr/>
        </p:nvSpPr>
        <p:spPr>
          <a:xfrm>
            <a:off x="704088" y="2624328"/>
            <a:ext cx="362102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Engage logic</a:t>
            </a:r>
            <a:endParaRPr lang="en-US" sz="1150" dirty="0"/>
          </a:p>
        </p:txBody>
      </p:sp>
      <p:sp>
        <p:nvSpPr>
          <p:cNvPr id="17" name="Text 15"/>
          <p:cNvSpPr/>
          <p:nvPr/>
        </p:nvSpPr>
        <p:spPr>
          <a:xfrm>
            <a:off x="704088" y="2898648"/>
            <a:ext cx="3621024" cy="1014984"/>
          </a:xfrm>
          <a:prstGeom prst="rect">
            <a:avLst/>
          </a:prstGeom>
          <a:noFill/>
          <a:ln/>
        </p:spPr>
        <p:txBody>
          <a:bodyPr wrap="square" lIns="0" tIns="0" rIns="0" bIns="0" rtlCol="0" anchor="ctr">
            <a:normAutofit/>
          </a:bodyPr>
          <a:lstStyle/>
          <a:p>
            <a:pPr indent="0" marL="0">
              <a:buNone/>
            </a:pPr>
            <a:r>
              <a:rPr lang="en-US" sz="980" dirty="0">
                <a:solidFill>
                  <a:srgbClr val="3D5472"/>
                </a:solidFill>
                <a:latin typeface="Calibri" pitchFamily="34" charset="0"/>
                <a:ea typeface="Calibri" pitchFamily="34" charset="-122"/>
                <a:cs typeface="Calibri" pitchFamily="34" charset="-120"/>
              </a:rPr>
              <a:t>• Require $|\alpha|&lt;3^\circ$ and $|\dot{\alpha}|&lt;20^\circ/s$</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Hold the condition for 20 ticks = 100 ms before engage</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Keep derivative history warm when transitioning from IDLE to ACTIVE</a:t>
            </a:r>
            <a:endParaRPr lang="en-US" sz="980" dirty="0"/>
          </a:p>
        </p:txBody>
      </p:sp>
      <p:sp>
        <p:nvSpPr>
          <p:cNvPr id="18" name="Shape 16"/>
          <p:cNvSpPr/>
          <p:nvPr/>
        </p:nvSpPr>
        <p:spPr>
          <a:xfrm>
            <a:off x="4617720" y="2514600"/>
            <a:ext cx="3840480" cy="1508760"/>
          </a:xfrm>
          <a:prstGeom prst="rect">
            <a:avLst/>
          </a:prstGeom>
          <a:solidFill>
            <a:srgbClr val="FEF2F2"/>
          </a:solidFill>
          <a:ln w="6350">
            <a:solidFill>
              <a:srgbClr val="DDE3EC"/>
            </a:solidFill>
            <a:prstDash val="solid"/>
          </a:ln>
        </p:spPr>
      </p:sp>
      <p:sp>
        <p:nvSpPr>
          <p:cNvPr id="19" name="Shape 17"/>
          <p:cNvSpPr/>
          <p:nvPr/>
        </p:nvSpPr>
        <p:spPr>
          <a:xfrm>
            <a:off x="4617720" y="2514600"/>
            <a:ext cx="3840480" cy="64008"/>
          </a:xfrm>
          <a:prstGeom prst="rect">
            <a:avLst/>
          </a:prstGeom>
          <a:solidFill>
            <a:srgbClr val="B91C1C"/>
          </a:solidFill>
          <a:ln w="12700">
            <a:solidFill>
              <a:srgbClr val="B91C1C"/>
            </a:solidFill>
            <a:prstDash val="solid"/>
          </a:ln>
        </p:spPr>
      </p:sp>
      <p:sp>
        <p:nvSpPr>
          <p:cNvPr id="20" name="Text 18"/>
          <p:cNvSpPr/>
          <p:nvPr/>
        </p:nvSpPr>
        <p:spPr>
          <a:xfrm>
            <a:off x="4727448" y="2624328"/>
            <a:ext cx="362102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Disarm logic</a:t>
            </a:r>
            <a:endParaRPr lang="en-US" sz="1150" dirty="0"/>
          </a:p>
        </p:txBody>
      </p:sp>
      <p:sp>
        <p:nvSpPr>
          <p:cNvPr id="21" name="Text 19"/>
          <p:cNvSpPr/>
          <p:nvPr/>
        </p:nvSpPr>
        <p:spPr>
          <a:xfrm>
            <a:off x="4727448" y="2898648"/>
            <a:ext cx="3621024" cy="1014984"/>
          </a:xfrm>
          <a:prstGeom prst="rect">
            <a:avLst/>
          </a:prstGeom>
          <a:noFill/>
          <a:ln/>
        </p:spPr>
        <p:txBody>
          <a:bodyPr wrap="square" lIns="0" tIns="0" rIns="0" bIns="0" rtlCol="0" anchor="ctr">
            <a:normAutofit/>
          </a:bodyPr>
          <a:lstStyle/>
          <a:p>
            <a:pPr indent="0" marL="0">
              <a:buNone/>
            </a:pPr>
            <a:r>
              <a:rPr lang="en-US" sz="980" dirty="0">
                <a:solidFill>
                  <a:srgbClr val="3D5472"/>
                </a:solidFill>
                <a:latin typeface="Calibri" pitchFamily="34" charset="0"/>
                <a:ea typeface="Calibri" pitchFamily="34" charset="-122"/>
                <a:cs typeface="Calibri" pitchFamily="34" charset="-120"/>
              </a:rPr>
              <a:t>• Debounced FALLEN detection over 3 ticks</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Immediate nonlinear abort outside the upright-only SMC window</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Disable stepper outputs and return to IDLE in a predictable way</a:t>
            </a:r>
            <a:endParaRPr lang="en-US" sz="980" dirty="0"/>
          </a:p>
        </p:txBody>
      </p:sp>
      <p:sp>
        <p:nvSpPr>
          <p:cNvPr id="22" name="Text 20"/>
          <p:cNvSpPr/>
          <p:nvPr/>
        </p:nvSpPr>
        <p:spPr>
          <a:xfrm>
            <a:off x="8412480" y="4892040"/>
            <a:ext cx="640080" cy="201168"/>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9 / 38</a:t>
            </a:r>
            <a:endParaRPr lang="en-US" sz="900" dirty="0"/>
          </a:p>
        </p:txBody>
      </p:sp>
      <p:sp>
        <p:nvSpPr>
          <p:cNvPr id="23" name="Shape 21"/>
          <p:cNvSpPr/>
          <p:nvPr/>
        </p:nvSpPr>
        <p:spPr>
          <a:xfrm>
            <a:off x="256032" y="4882896"/>
            <a:ext cx="8631936" cy="36576"/>
          </a:xfrm>
          <a:prstGeom prst="rect">
            <a:avLst/>
          </a:prstGeom>
          <a:solidFill>
            <a:srgbClr val="0D6EAF">
              <a:alpha val="15000"/>
            </a:srgbClr>
          </a:solidFill>
          <a:ln w="12700">
            <a:solidFill>
              <a:srgbClr val="0D6EAF"/>
            </a:solidFill>
            <a:prstDash val="solid"/>
          </a:ln>
        </p:spPr>
      </p:sp>
      <p:sp>
        <p:nvSpPr>
          <p:cNvPr id="24" name="Shape 22"/>
          <p:cNvSpPr/>
          <p:nvPr/>
        </p:nvSpPr>
        <p:spPr>
          <a:xfrm>
            <a:off x="256032" y="4882896"/>
            <a:ext cx="2044406" cy="36576"/>
          </a:xfrm>
          <a:prstGeom prst="rect">
            <a:avLst/>
          </a:prstGeom>
          <a:solidFill>
            <a:srgbClr val="0D6EAF"/>
          </a:solidFill>
          <a:ln w="12700">
            <a:solidFill>
              <a:srgbClr val="0D6EAF"/>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8FA"/>
        </a:solidFill>
      </p:bgPr>
    </p:bg>
    <p:spTree>
      <p:nvGrpSpPr>
        <p:cNvPr id="1" name=""/>
        <p:cNvGrpSpPr/>
        <p:nvPr/>
      </p:nvGrpSpPr>
      <p:grpSpPr>
        <a:xfrm>
          <a:off x="0" y="0"/>
          <a:ext cx="0" cy="0"/>
          <a:chOff x="0" y="0"/>
          <a:chExt cx="0" cy="0"/>
        </a:xfrm>
      </p:grpSpPr>
      <p:sp>
        <p:nvSpPr>
          <p:cNvPr id="2" name="Shape 0"/>
          <p:cNvSpPr/>
          <p:nvPr/>
        </p:nvSpPr>
        <p:spPr>
          <a:xfrm>
            <a:off x="0" y="0"/>
            <a:ext cx="118872" cy="5143500"/>
          </a:xfrm>
          <a:prstGeom prst="rect">
            <a:avLst/>
          </a:prstGeom>
          <a:solidFill>
            <a:srgbClr val="0D6EAF"/>
          </a:solidFill>
          <a:ln w="12700">
            <a:solidFill>
              <a:srgbClr val="0D6EAF"/>
            </a:solidFill>
            <a:prstDash val="solid"/>
          </a:ln>
        </p:spPr>
      </p:sp>
      <p:sp>
        <p:nvSpPr>
          <p:cNvPr id="3" name="Text 1"/>
          <p:cNvSpPr/>
          <p:nvPr/>
        </p:nvSpPr>
        <p:spPr>
          <a:xfrm>
            <a:off x="256032" y="201168"/>
            <a:ext cx="8686800" cy="566928"/>
          </a:xfrm>
          <a:prstGeom prst="rect">
            <a:avLst/>
          </a:prstGeom>
          <a:noFill/>
          <a:ln/>
        </p:spPr>
        <p:txBody>
          <a:bodyPr wrap="square" lIns="0" tIns="0" rIns="0" bIns="0" rtlCol="0" anchor="ctr">
            <a:normAutofit/>
          </a:bodyPr>
          <a:lstStyle/>
          <a:p>
            <a:pPr indent="0" marL="0">
              <a:buNone/>
            </a:pPr>
            <a:r>
              <a:rPr lang="en-US" sz="2600" b="1" dirty="0">
                <a:solidFill>
                  <a:srgbClr val="1B2A4A"/>
                </a:solidFill>
                <a:latin typeface="Calibri" pitchFamily="34" charset="0"/>
                <a:ea typeface="Calibri" pitchFamily="34" charset="-122"/>
                <a:cs typeface="Calibri" pitchFamily="34" charset="-120"/>
              </a:rPr>
              <a:t>Measurement Pipeline Before Any Controller Sees the States</a:t>
            </a:r>
            <a:endParaRPr lang="en-US" sz="2600" dirty="0"/>
          </a:p>
        </p:txBody>
      </p:sp>
      <p:sp>
        <p:nvSpPr>
          <p:cNvPr id="4" name="Text 2"/>
          <p:cNvSpPr/>
          <p:nvPr/>
        </p:nvSpPr>
        <p:spPr>
          <a:xfrm>
            <a:off x="256032" y="768096"/>
            <a:ext cx="8686800" cy="274320"/>
          </a:xfrm>
          <a:prstGeom prst="rect">
            <a:avLst/>
          </a:prstGeom>
          <a:noFill/>
          <a:ln/>
        </p:spPr>
        <p:txBody>
          <a:bodyPr wrap="square" lIns="0" tIns="0" rIns="0" bIns="0" rtlCol="0" anchor="ctr">
            <a:normAutofit/>
          </a:bodyPr>
          <a:lstStyle/>
          <a:p>
            <a:pPr indent="0" marL="0">
              <a:buNone/>
            </a:pPr>
            <a:r>
              <a:rPr lang="en-US" sz="1200" i="1" dirty="0">
                <a:solidFill>
                  <a:srgbClr val="64748B"/>
                </a:solidFill>
                <a:latin typeface="Calibri" pitchFamily="34" charset="0"/>
                <a:ea typeface="Calibri" pitchFamily="34" charset="-122"/>
                <a:cs typeface="Calibri" pitchFamily="34" charset="-120"/>
              </a:rPr>
              <a:t>The estimator is intentionally simple, but the preprocessing around it is where most of the practical robustness comes from.</a:t>
            </a:r>
            <a:endParaRPr lang="en-US" sz="1200" dirty="0"/>
          </a:p>
        </p:txBody>
      </p:sp>
      <p:sp>
        <p:nvSpPr>
          <p:cNvPr id="5" name="Shape 3"/>
          <p:cNvSpPr/>
          <p:nvPr/>
        </p:nvSpPr>
        <p:spPr>
          <a:xfrm>
            <a:off x="256032" y="822960"/>
            <a:ext cx="8631936" cy="0"/>
          </a:xfrm>
          <a:prstGeom prst="line">
            <a:avLst/>
          </a:prstGeom>
          <a:noFill/>
          <a:ln w="9525">
            <a:solidFill>
              <a:srgbClr val="DDE3EC"/>
            </a:solidFill>
            <a:prstDash val="solid"/>
          </a:ln>
        </p:spPr>
      </p:sp>
      <p:sp>
        <p:nvSpPr>
          <p:cNvPr id="6" name="Shape 4"/>
          <p:cNvSpPr/>
          <p:nvPr/>
        </p:nvSpPr>
        <p:spPr>
          <a:xfrm>
            <a:off x="502920" y="1243584"/>
            <a:ext cx="1505102" cy="625450"/>
          </a:xfrm>
          <a:prstGeom prst="roundRect">
            <a:avLst/>
          </a:prstGeom>
          <a:solidFill>
            <a:srgbClr val="D6E8F5"/>
          </a:solidFill>
          <a:ln w="6350">
            <a:solidFill>
              <a:srgbClr val="DDE3EC"/>
            </a:solidFill>
            <a:prstDash val="solid"/>
          </a:ln>
        </p:spPr>
      </p:sp>
      <p:sp>
        <p:nvSpPr>
          <p:cNvPr id="7" name="Text 5"/>
          <p:cNvSpPr/>
          <p:nvPr/>
        </p:nvSpPr>
        <p:spPr>
          <a:xfrm>
            <a:off x="557784" y="1325880"/>
            <a:ext cx="1395374" cy="460858"/>
          </a:xfrm>
          <a:prstGeom prst="rect">
            <a:avLst/>
          </a:prstGeom>
          <a:noFill/>
          <a:ln/>
        </p:spPr>
        <p:txBody>
          <a:bodyPr wrap="square" lIns="0" tIns="0" rIns="0" bIns="0" rtlCol="0" anchor="ctr">
            <a:normAutofit/>
          </a:bodyPr>
          <a:lstStyle/>
          <a:p>
            <a:pPr algn="ctr" indent="0" marL="0">
              <a:buNone/>
            </a:pPr>
            <a:r>
              <a:rPr lang="en-US" sz="1000" b="1" dirty="0">
                <a:solidFill>
                  <a:srgbClr val="1B2A4A"/>
                </a:solidFill>
                <a:latin typeface="Calibri" pitchFamily="34" charset="0"/>
                <a:ea typeface="Calibri" pitchFamily="34" charset="-122"/>
                <a:cs typeface="Calibri" pitchFamily="34" charset="-120"/>
              </a:rPr>
              <a:t>Read raw\nα, θ</a:t>
            </a:r>
            <a:endParaRPr lang="en-US" sz="1000" dirty="0"/>
          </a:p>
        </p:txBody>
      </p:sp>
      <p:sp>
        <p:nvSpPr>
          <p:cNvPr id="8" name="Text 6"/>
          <p:cNvSpPr/>
          <p:nvPr/>
        </p:nvSpPr>
        <p:spPr>
          <a:xfrm>
            <a:off x="2026310" y="1389888"/>
            <a:ext cx="128016" cy="228600"/>
          </a:xfrm>
          <a:prstGeom prst="rect">
            <a:avLst/>
          </a:prstGeom>
          <a:noFill/>
          <a:ln/>
        </p:spPr>
        <p:txBody>
          <a:bodyPr wrap="square" lIns="0" tIns="0" rIns="0" bIns="0" rtlCol="0" anchor="ctr"/>
          <a:lstStyle/>
          <a:p>
            <a:pPr algn="ctr" indent="0" marL="0">
              <a:buNone/>
            </a:pPr>
            <a:r>
              <a:rPr lang="en-US" sz="1800" b="1" dirty="0">
                <a:solidFill>
                  <a:srgbClr val="0D6EAF"/>
                </a:solidFill>
                <a:latin typeface="Calibri" pitchFamily="34" charset="0"/>
                <a:ea typeface="Calibri" pitchFamily="34" charset="-122"/>
                <a:cs typeface="Calibri" pitchFamily="34" charset="-120"/>
              </a:rPr>
              <a:t>→</a:t>
            </a:r>
            <a:endParaRPr lang="en-US" sz="1800" dirty="0"/>
          </a:p>
        </p:txBody>
      </p:sp>
      <p:sp>
        <p:nvSpPr>
          <p:cNvPr id="9" name="Shape 7"/>
          <p:cNvSpPr/>
          <p:nvPr/>
        </p:nvSpPr>
        <p:spPr>
          <a:xfrm>
            <a:off x="2172614" y="1243584"/>
            <a:ext cx="1505102" cy="625450"/>
          </a:xfrm>
          <a:prstGeom prst="roundRect">
            <a:avLst/>
          </a:prstGeom>
          <a:solidFill>
            <a:srgbClr val="EEF5FB"/>
          </a:solidFill>
          <a:ln w="6350">
            <a:solidFill>
              <a:srgbClr val="DDE3EC"/>
            </a:solidFill>
            <a:prstDash val="solid"/>
          </a:ln>
        </p:spPr>
      </p:sp>
      <p:sp>
        <p:nvSpPr>
          <p:cNvPr id="10" name="Text 8"/>
          <p:cNvSpPr/>
          <p:nvPr/>
        </p:nvSpPr>
        <p:spPr>
          <a:xfrm>
            <a:off x="2227478" y="1325880"/>
            <a:ext cx="1395374" cy="460858"/>
          </a:xfrm>
          <a:prstGeom prst="rect">
            <a:avLst/>
          </a:prstGeom>
          <a:noFill/>
          <a:ln/>
        </p:spPr>
        <p:txBody>
          <a:bodyPr wrap="square" lIns="0" tIns="0" rIns="0" bIns="0" rtlCol="0" anchor="ctr">
            <a:normAutofit/>
          </a:bodyPr>
          <a:lstStyle/>
          <a:p>
            <a:pPr algn="ctr" indent="0" marL="0">
              <a:buNone/>
            </a:pPr>
            <a:r>
              <a:rPr lang="en-US" sz="1000" b="1" dirty="0">
                <a:solidFill>
                  <a:srgbClr val="1B2A4A"/>
                </a:solidFill>
                <a:latin typeface="Calibri" pitchFamily="34" charset="0"/>
                <a:ea typeface="Calibri" pitchFamily="34" charset="-122"/>
                <a:cs typeface="Calibri" pitchFamily="34" charset="-120"/>
              </a:rPr>
              <a:t>Wrap-safe\nangle diff</a:t>
            </a:r>
            <a:endParaRPr lang="en-US" sz="1000" dirty="0"/>
          </a:p>
        </p:txBody>
      </p:sp>
      <p:sp>
        <p:nvSpPr>
          <p:cNvPr id="11" name="Text 9"/>
          <p:cNvSpPr/>
          <p:nvPr/>
        </p:nvSpPr>
        <p:spPr>
          <a:xfrm>
            <a:off x="3696005" y="1389888"/>
            <a:ext cx="128016" cy="228600"/>
          </a:xfrm>
          <a:prstGeom prst="rect">
            <a:avLst/>
          </a:prstGeom>
          <a:noFill/>
          <a:ln/>
        </p:spPr>
        <p:txBody>
          <a:bodyPr wrap="square" lIns="0" tIns="0" rIns="0" bIns="0" rtlCol="0" anchor="ctr"/>
          <a:lstStyle/>
          <a:p>
            <a:pPr algn="ctr" indent="0" marL="0">
              <a:buNone/>
            </a:pPr>
            <a:r>
              <a:rPr lang="en-US" sz="1800" b="1" dirty="0">
                <a:solidFill>
                  <a:srgbClr val="0D6EAF"/>
                </a:solidFill>
                <a:latin typeface="Calibri" pitchFamily="34" charset="0"/>
                <a:ea typeface="Calibri" pitchFamily="34" charset="-122"/>
                <a:cs typeface="Calibri" pitchFamily="34" charset="-120"/>
              </a:rPr>
              <a:t>→</a:t>
            </a:r>
            <a:endParaRPr lang="en-US" sz="1800" dirty="0"/>
          </a:p>
        </p:txBody>
      </p:sp>
      <p:sp>
        <p:nvSpPr>
          <p:cNvPr id="12" name="Shape 10"/>
          <p:cNvSpPr/>
          <p:nvPr/>
        </p:nvSpPr>
        <p:spPr>
          <a:xfrm>
            <a:off x="3842309" y="1243584"/>
            <a:ext cx="1505102" cy="625450"/>
          </a:xfrm>
          <a:prstGeom prst="roundRect">
            <a:avLst/>
          </a:prstGeom>
          <a:solidFill>
            <a:srgbClr val="FEF2F2"/>
          </a:solidFill>
          <a:ln w="6350">
            <a:solidFill>
              <a:srgbClr val="DDE3EC"/>
            </a:solidFill>
            <a:prstDash val="solid"/>
          </a:ln>
        </p:spPr>
      </p:sp>
      <p:sp>
        <p:nvSpPr>
          <p:cNvPr id="13" name="Text 11"/>
          <p:cNvSpPr/>
          <p:nvPr/>
        </p:nvSpPr>
        <p:spPr>
          <a:xfrm>
            <a:off x="3897173" y="1325880"/>
            <a:ext cx="1395374" cy="460858"/>
          </a:xfrm>
          <a:prstGeom prst="rect">
            <a:avLst/>
          </a:prstGeom>
          <a:noFill/>
          <a:ln/>
        </p:spPr>
        <p:txBody>
          <a:bodyPr wrap="square" lIns="0" tIns="0" rIns="0" bIns="0" rtlCol="0" anchor="ctr">
            <a:normAutofit/>
          </a:bodyPr>
          <a:lstStyle/>
          <a:p>
            <a:pPr algn="ctr" indent="0" marL="0">
              <a:buNone/>
            </a:pPr>
            <a:r>
              <a:rPr lang="en-US" sz="1000" b="1" dirty="0">
                <a:solidFill>
                  <a:srgbClr val="1B2A4A"/>
                </a:solidFill>
                <a:latin typeface="Calibri" pitchFamily="34" charset="0"/>
                <a:ea typeface="Calibri" pitchFamily="34" charset="-122"/>
                <a:cs typeface="Calibri" pitchFamily="34" charset="-120"/>
              </a:rPr>
              <a:t>Reject &gt;30°\none-tick jumps</a:t>
            </a:r>
            <a:endParaRPr lang="en-US" sz="1000" dirty="0"/>
          </a:p>
        </p:txBody>
      </p:sp>
      <p:sp>
        <p:nvSpPr>
          <p:cNvPr id="14" name="Text 12"/>
          <p:cNvSpPr/>
          <p:nvPr/>
        </p:nvSpPr>
        <p:spPr>
          <a:xfrm>
            <a:off x="5365699" y="1389888"/>
            <a:ext cx="128016" cy="228600"/>
          </a:xfrm>
          <a:prstGeom prst="rect">
            <a:avLst/>
          </a:prstGeom>
          <a:noFill/>
          <a:ln/>
        </p:spPr>
        <p:txBody>
          <a:bodyPr wrap="square" lIns="0" tIns="0" rIns="0" bIns="0" rtlCol="0" anchor="ctr"/>
          <a:lstStyle/>
          <a:p>
            <a:pPr algn="ctr" indent="0" marL="0">
              <a:buNone/>
            </a:pPr>
            <a:r>
              <a:rPr lang="en-US" sz="1800" b="1" dirty="0">
                <a:solidFill>
                  <a:srgbClr val="0D6EAF"/>
                </a:solidFill>
                <a:latin typeface="Calibri" pitchFamily="34" charset="0"/>
                <a:ea typeface="Calibri" pitchFamily="34" charset="-122"/>
                <a:cs typeface="Calibri" pitchFamily="34" charset="-120"/>
              </a:rPr>
              <a:t>→</a:t>
            </a:r>
            <a:endParaRPr lang="en-US" sz="1800" dirty="0"/>
          </a:p>
        </p:txBody>
      </p:sp>
      <p:sp>
        <p:nvSpPr>
          <p:cNvPr id="15" name="Shape 13"/>
          <p:cNvSpPr/>
          <p:nvPr/>
        </p:nvSpPr>
        <p:spPr>
          <a:xfrm>
            <a:off x="5512003" y="1243584"/>
            <a:ext cx="1505102" cy="625450"/>
          </a:xfrm>
          <a:prstGeom prst="roundRect">
            <a:avLst/>
          </a:prstGeom>
          <a:solidFill>
            <a:srgbClr val="D6E8F5"/>
          </a:solidFill>
          <a:ln w="6350">
            <a:solidFill>
              <a:srgbClr val="DDE3EC"/>
            </a:solidFill>
            <a:prstDash val="solid"/>
          </a:ln>
        </p:spPr>
      </p:sp>
      <p:sp>
        <p:nvSpPr>
          <p:cNvPr id="16" name="Text 14"/>
          <p:cNvSpPr/>
          <p:nvPr/>
        </p:nvSpPr>
        <p:spPr>
          <a:xfrm>
            <a:off x="5566867" y="1325880"/>
            <a:ext cx="1395374" cy="460858"/>
          </a:xfrm>
          <a:prstGeom prst="rect">
            <a:avLst/>
          </a:prstGeom>
          <a:noFill/>
          <a:ln/>
        </p:spPr>
        <p:txBody>
          <a:bodyPr wrap="square" lIns="0" tIns="0" rIns="0" bIns="0" rtlCol="0" anchor="ctr">
            <a:normAutofit/>
          </a:bodyPr>
          <a:lstStyle/>
          <a:p>
            <a:pPr algn="ctr" indent="0" marL="0">
              <a:buNone/>
            </a:pPr>
            <a:r>
              <a:rPr lang="en-US" sz="1000" b="1" dirty="0">
                <a:solidFill>
                  <a:srgbClr val="1B2A4A"/>
                </a:solidFill>
                <a:latin typeface="Calibri" pitchFamily="34" charset="0"/>
                <a:ea typeface="Calibri" pitchFamily="34" charset="-122"/>
                <a:cs typeface="Calibri" pitchFamily="34" charset="-120"/>
              </a:rPr>
              <a:t>Tustin\nderivative filter</a:t>
            </a:r>
            <a:endParaRPr lang="en-US" sz="1000" dirty="0"/>
          </a:p>
        </p:txBody>
      </p:sp>
      <p:sp>
        <p:nvSpPr>
          <p:cNvPr id="17" name="Text 15"/>
          <p:cNvSpPr/>
          <p:nvPr/>
        </p:nvSpPr>
        <p:spPr>
          <a:xfrm>
            <a:off x="7035394" y="1389888"/>
            <a:ext cx="128016" cy="228600"/>
          </a:xfrm>
          <a:prstGeom prst="rect">
            <a:avLst/>
          </a:prstGeom>
          <a:noFill/>
          <a:ln/>
        </p:spPr>
        <p:txBody>
          <a:bodyPr wrap="square" lIns="0" tIns="0" rIns="0" bIns="0" rtlCol="0" anchor="ctr"/>
          <a:lstStyle/>
          <a:p>
            <a:pPr algn="ctr" indent="0" marL="0">
              <a:buNone/>
            </a:pPr>
            <a:r>
              <a:rPr lang="en-US" sz="1800" b="1" dirty="0">
                <a:solidFill>
                  <a:srgbClr val="0D6EAF"/>
                </a:solidFill>
                <a:latin typeface="Calibri" pitchFamily="34" charset="0"/>
                <a:ea typeface="Calibri" pitchFamily="34" charset="-122"/>
                <a:cs typeface="Calibri" pitchFamily="34" charset="-120"/>
              </a:rPr>
              <a:t>→</a:t>
            </a:r>
            <a:endParaRPr lang="en-US" sz="1800" dirty="0"/>
          </a:p>
        </p:txBody>
      </p:sp>
      <p:sp>
        <p:nvSpPr>
          <p:cNvPr id="18" name="Shape 16"/>
          <p:cNvSpPr/>
          <p:nvPr/>
        </p:nvSpPr>
        <p:spPr>
          <a:xfrm>
            <a:off x="7181698" y="1243584"/>
            <a:ext cx="1505102" cy="625450"/>
          </a:xfrm>
          <a:prstGeom prst="roundRect">
            <a:avLst/>
          </a:prstGeom>
          <a:solidFill>
            <a:srgbClr val="EEF5FB"/>
          </a:solidFill>
          <a:ln w="6350">
            <a:solidFill>
              <a:srgbClr val="DDE3EC"/>
            </a:solidFill>
            <a:prstDash val="solid"/>
          </a:ln>
        </p:spPr>
      </p:sp>
      <p:sp>
        <p:nvSpPr>
          <p:cNvPr id="19" name="Text 17"/>
          <p:cNvSpPr/>
          <p:nvPr/>
        </p:nvSpPr>
        <p:spPr>
          <a:xfrm>
            <a:off x="7236562" y="1325880"/>
            <a:ext cx="1395374" cy="460858"/>
          </a:xfrm>
          <a:prstGeom prst="rect">
            <a:avLst/>
          </a:prstGeom>
          <a:noFill/>
          <a:ln/>
        </p:spPr>
        <p:txBody>
          <a:bodyPr wrap="square" lIns="0" tIns="0" rIns="0" bIns="0" rtlCol="0" anchor="ctr">
            <a:normAutofit/>
          </a:bodyPr>
          <a:lstStyle/>
          <a:p>
            <a:pPr algn="ctr" indent="0" marL="0">
              <a:buNone/>
            </a:pPr>
            <a:r>
              <a:rPr lang="en-US" sz="1000" b="1" dirty="0">
                <a:solidFill>
                  <a:srgbClr val="1B2A4A"/>
                </a:solidFill>
                <a:latin typeface="Calibri" pitchFamily="34" charset="0"/>
                <a:ea typeface="Calibri" pitchFamily="34" charset="-122"/>
                <a:cs typeface="Calibri" pitchFamily="34" charset="-120"/>
              </a:rPr>
              <a:t>Clamp\nα̇, θ̇</a:t>
            </a:r>
            <a:endParaRPr lang="en-US" sz="1000" dirty="0"/>
          </a:p>
        </p:txBody>
      </p:sp>
      <p:sp>
        <p:nvSpPr>
          <p:cNvPr id="20" name="Shape 18"/>
          <p:cNvSpPr/>
          <p:nvPr/>
        </p:nvSpPr>
        <p:spPr>
          <a:xfrm>
            <a:off x="502920" y="2331720"/>
            <a:ext cx="3794760" cy="1691640"/>
          </a:xfrm>
          <a:prstGeom prst="rect">
            <a:avLst/>
          </a:prstGeom>
          <a:solidFill>
            <a:srgbClr val="FFFFFF"/>
          </a:solidFill>
          <a:ln w="6350">
            <a:solidFill>
              <a:srgbClr val="DDE3EC"/>
            </a:solidFill>
            <a:prstDash val="solid"/>
          </a:ln>
        </p:spPr>
      </p:sp>
      <p:sp>
        <p:nvSpPr>
          <p:cNvPr id="21" name="Shape 19"/>
          <p:cNvSpPr/>
          <p:nvPr/>
        </p:nvSpPr>
        <p:spPr>
          <a:xfrm>
            <a:off x="502920" y="2331720"/>
            <a:ext cx="3794760" cy="64008"/>
          </a:xfrm>
          <a:prstGeom prst="rect">
            <a:avLst/>
          </a:prstGeom>
          <a:solidFill>
            <a:srgbClr val="0D6EAF"/>
          </a:solidFill>
          <a:ln w="12700">
            <a:solidFill>
              <a:srgbClr val="0D6EAF"/>
            </a:solidFill>
            <a:prstDash val="solid"/>
          </a:ln>
        </p:spPr>
      </p:sp>
      <p:sp>
        <p:nvSpPr>
          <p:cNvPr id="22" name="Text 20"/>
          <p:cNvSpPr/>
          <p:nvPr/>
        </p:nvSpPr>
        <p:spPr>
          <a:xfrm>
            <a:off x="612648" y="2441448"/>
            <a:ext cx="357530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Key numerical settings</a:t>
            </a:r>
            <a:endParaRPr lang="en-US" sz="1150" dirty="0"/>
          </a:p>
        </p:txBody>
      </p:sp>
      <p:sp>
        <p:nvSpPr>
          <p:cNvPr id="23" name="Text 21"/>
          <p:cNvSpPr/>
          <p:nvPr/>
        </p:nvSpPr>
        <p:spPr>
          <a:xfrm>
            <a:off x="612648" y="2715768"/>
            <a:ext cx="3575304" cy="1197864"/>
          </a:xfrm>
          <a:prstGeom prst="rect">
            <a:avLst/>
          </a:prstGeom>
          <a:noFill/>
          <a:ln/>
        </p:spPr>
        <p:txBody>
          <a:bodyPr wrap="square" lIns="0" tIns="0" rIns="0" bIns="0" rtlCol="0" anchor="ctr">
            <a:normAutofit/>
          </a:bodyPr>
          <a:lstStyle/>
          <a:p>
            <a:pPr indent="0" marL="0">
              <a:buNone/>
            </a:pPr>
            <a:r>
              <a:rPr lang="en-US" sz="980" dirty="0">
                <a:solidFill>
                  <a:srgbClr val="3D5472"/>
                </a:solidFill>
                <a:latin typeface="Calibri" pitchFamily="34" charset="0"/>
                <a:ea typeface="Calibri" pitchFamily="34" charset="-122"/>
                <a:cs typeface="Calibri" pitchFamily="34" charset="-120"/>
              </a:rPr>
              <a:t>• Nominal loop: 200 Hz, logging: about 50 Hz</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Jump rejection threshold: $30^\circ$ per control tick</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Derivative clamps: $|\dot{\alpha}|, |\dot{\theta}| \le 300^\circ/s$</a:t>
            </a:r>
            <a:endParaRPr lang="en-US" sz="980" dirty="0"/>
          </a:p>
        </p:txBody>
      </p:sp>
      <p:sp>
        <p:nvSpPr>
          <p:cNvPr id="24" name="Shape 22"/>
          <p:cNvSpPr/>
          <p:nvPr/>
        </p:nvSpPr>
        <p:spPr>
          <a:xfrm>
            <a:off x="4572000" y="2331720"/>
            <a:ext cx="4069080" cy="1691640"/>
          </a:xfrm>
          <a:prstGeom prst="rect">
            <a:avLst/>
          </a:prstGeom>
          <a:solidFill>
            <a:srgbClr val="FFFFFF"/>
          </a:solidFill>
          <a:ln w="6350">
            <a:solidFill>
              <a:srgbClr val="DDE3EC"/>
            </a:solidFill>
            <a:prstDash val="solid"/>
          </a:ln>
        </p:spPr>
      </p:sp>
      <p:sp>
        <p:nvSpPr>
          <p:cNvPr id="25" name="Shape 23"/>
          <p:cNvSpPr/>
          <p:nvPr/>
        </p:nvSpPr>
        <p:spPr>
          <a:xfrm>
            <a:off x="4572000" y="2331720"/>
            <a:ext cx="4069080" cy="64008"/>
          </a:xfrm>
          <a:prstGeom prst="rect">
            <a:avLst/>
          </a:prstGeom>
          <a:solidFill>
            <a:srgbClr val="0A7A6E"/>
          </a:solidFill>
          <a:ln w="12700">
            <a:solidFill>
              <a:srgbClr val="0A7A6E"/>
            </a:solidFill>
            <a:prstDash val="solid"/>
          </a:ln>
        </p:spPr>
      </p:sp>
      <p:sp>
        <p:nvSpPr>
          <p:cNvPr id="26" name="Text 24"/>
          <p:cNvSpPr/>
          <p:nvPr/>
        </p:nvSpPr>
        <p:spPr>
          <a:xfrm>
            <a:off x="4681728" y="2441448"/>
            <a:ext cx="384962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Why this stage is central</a:t>
            </a:r>
            <a:endParaRPr lang="en-US" sz="1150" dirty="0"/>
          </a:p>
        </p:txBody>
      </p:sp>
      <p:sp>
        <p:nvSpPr>
          <p:cNvPr id="27" name="Text 25"/>
          <p:cNvSpPr/>
          <p:nvPr/>
        </p:nvSpPr>
        <p:spPr>
          <a:xfrm>
            <a:off x="4681728" y="2715768"/>
            <a:ext cx="3849624" cy="1197864"/>
          </a:xfrm>
          <a:prstGeom prst="rect">
            <a:avLst/>
          </a:prstGeom>
          <a:noFill/>
          <a:ln/>
        </p:spPr>
        <p:txBody>
          <a:bodyPr wrap="square" lIns="0" tIns="0" rIns="0" bIns="0" rtlCol="0" anchor="ctr">
            <a:normAutofit/>
          </a:bodyPr>
          <a:lstStyle/>
          <a:p>
            <a:pPr indent="0" marL="0">
              <a:buNone/>
            </a:pPr>
            <a:r>
              <a:rPr lang="en-US" sz="980" dirty="0">
                <a:solidFill>
                  <a:srgbClr val="3D5472"/>
                </a:solidFill>
                <a:latin typeface="Calibri" pitchFamily="34" charset="0"/>
                <a:ea typeface="Calibri" pitchFamily="34" charset="-122"/>
                <a:cs typeface="Calibri" pitchFamily="34" charset="-120"/>
              </a:rPr>
              <a:t>• Both SMC surfaces depend directly on α̇, so bad derivative estimates immediately corrupt the control law.</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The glitch handling forces impossible jumps to zero before the filter sees them.</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This is why the estimator deserves a dedicated section rather than a one-line implementation note.</a:t>
            </a:r>
            <a:endParaRPr lang="en-US" sz="980" dirty="0"/>
          </a:p>
        </p:txBody>
      </p:sp>
      <p:sp>
        <p:nvSpPr>
          <p:cNvPr id="28" name="Text 26"/>
          <p:cNvSpPr/>
          <p:nvPr/>
        </p:nvSpPr>
        <p:spPr>
          <a:xfrm>
            <a:off x="8412480" y="4892040"/>
            <a:ext cx="640080" cy="201168"/>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10 / 38</a:t>
            </a:r>
            <a:endParaRPr lang="en-US" sz="900" dirty="0"/>
          </a:p>
        </p:txBody>
      </p:sp>
      <p:sp>
        <p:nvSpPr>
          <p:cNvPr id="29" name="Shape 27"/>
          <p:cNvSpPr/>
          <p:nvPr/>
        </p:nvSpPr>
        <p:spPr>
          <a:xfrm>
            <a:off x="256032" y="4882896"/>
            <a:ext cx="8631936" cy="36576"/>
          </a:xfrm>
          <a:prstGeom prst="rect">
            <a:avLst/>
          </a:prstGeom>
          <a:solidFill>
            <a:srgbClr val="0D6EAF">
              <a:alpha val="15000"/>
            </a:srgbClr>
          </a:solidFill>
          <a:ln w="12700">
            <a:solidFill>
              <a:srgbClr val="0D6EAF"/>
            </a:solidFill>
            <a:prstDash val="solid"/>
          </a:ln>
        </p:spPr>
      </p:sp>
      <p:sp>
        <p:nvSpPr>
          <p:cNvPr id="30" name="Shape 28"/>
          <p:cNvSpPr/>
          <p:nvPr/>
        </p:nvSpPr>
        <p:spPr>
          <a:xfrm>
            <a:off x="256032" y="4882896"/>
            <a:ext cx="2271562" cy="36576"/>
          </a:xfrm>
          <a:prstGeom prst="rect">
            <a:avLst/>
          </a:prstGeom>
          <a:solidFill>
            <a:srgbClr val="0D6EAF"/>
          </a:solidFill>
          <a:ln w="12700">
            <a:solidFill>
              <a:srgbClr val="0D6EAF"/>
            </a:solidFill>
            <a:prstDash val="solid"/>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8FA"/>
        </a:solidFill>
      </p:bgPr>
    </p:bg>
    <p:spTree>
      <p:nvGrpSpPr>
        <p:cNvPr id="1" name=""/>
        <p:cNvGrpSpPr/>
        <p:nvPr/>
      </p:nvGrpSpPr>
      <p:grpSpPr>
        <a:xfrm>
          <a:off x="0" y="0"/>
          <a:ext cx="0" cy="0"/>
          <a:chOff x="0" y="0"/>
          <a:chExt cx="0" cy="0"/>
        </a:xfrm>
      </p:grpSpPr>
      <p:sp>
        <p:nvSpPr>
          <p:cNvPr id="2" name="Shape 0"/>
          <p:cNvSpPr/>
          <p:nvPr/>
        </p:nvSpPr>
        <p:spPr>
          <a:xfrm>
            <a:off x="0" y="0"/>
            <a:ext cx="118872" cy="5143500"/>
          </a:xfrm>
          <a:prstGeom prst="rect">
            <a:avLst/>
          </a:prstGeom>
          <a:solidFill>
            <a:srgbClr val="0D6EAF"/>
          </a:solidFill>
          <a:ln w="12700">
            <a:solidFill>
              <a:srgbClr val="0D6EAF"/>
            </a:solidFill>
            <a:prstDash val="solid"/>
          </a:ln>
        </p:spPr>
      </p:sp>
      <p:sp>
        <p:nvSpPr>
          <p:cNvPr id="3" name="Text 1"/>
          <p:cNvSpPr/>
          <p:nvPr/>
        </p:nvSpPr>
        <p:spPr>
          <a:xfrm>
            <a:off x="256032" y="201168"/>
            <a:ext cx="8686800" cy="566928"/>
          </a:xfrm>
          <a:prstGeom prst="rect">
            <a:avLst/>
          </a:prstGeom>
          <a:noFill/>
          <a:ln/>
        </p:spPr>
        <p:txBody>
          <a:bodyPr wrap="square" lIns="0" tIns="0" rIns="0" bIns="0" rtlCol="0" anchor="ctr">
            <a:normAutofit/>
          </a:bodyPr>
          <a:lstStyle/>
          <a:p>
            <a:pPr indent="0" marL="0">
              <a:buNone/>
            </a:pPr>
            <a:r>
              <a:rPr lang="en-US" sz="2600" b="1" dirty="0">
                <a:solidFill>
                  <a:srgbClr val="1B2A4A"/>
                </a:solidFill>
                <a:latin typeface="Calibri" pitchFamily="34" charset="0"/>
                <a:ea typeface="Calibri" pitchFamily="34" charset="-122"/>
                <a:cs typeface="Calibri" pitchFamily="34" charset="-120"/>
              </a:rPr>
              <a:t>Modelling Strategy and Assumptions</a:t>
            </a:r>
            <a:endParaRPr lang="en-US" sz="2600" dirty="0"/>
          </a:p>
        </p:txBody>
      </p:sp>
      <p:sp>
        <p:nvSpPr>
          <p:cNvPr id="4" name="Text 2"/>
          <p:cNvSpPr/>
          <p:nvPr/>
        </p:nvSpPr>
        <p:spPr>
          <a:xfrm>
            <a:off x="256032" y="768096"/>
            <a:ext cx="8686800" cy="274320"/>
          </a:xfrm>
          <a:prstGeom prst="rect">
            <a:avLst/>
          </a:prstGeom>
          <a:noFill/>
          <a:ln/>
        </p:spPr>
        <p:txBody>
          <a:bodyPr wrap="square" lIns="0" tIns="0" rIns="0" bIns="0" rtlCol="0" anchor="ctr">
            <a:normAutofit/>
          </a:bodyPr>
          <a:lstStyle/>
          <a:p>
            <a:pPr indent="0" marL="0">
              <a:buNone/>
            </a:pPr>
            <a:r>
              <a:rPr lang="en-US" sz="1200" i="1" dirty="0">
                <a:solidFill>
                  <a:srgbClr val="64748B"/>
                </a:solidFill>
                <a:latin typeface="Calibri" pitchFamily="34" charset="0"/>
                <a:ea typeface="Calibri" pitchFamily="34" charset="-122"/>
                <a:cs typeface="Calibri" pitchFamily="34" charset="-120"/>
              </a:rPr>
              <a:t>The model is idealized for control design, but the rig-specific geometry is retained instead of collapsing to the usual simplified pendulum picture.</a:t>
            </a:r>
            <a:endParaRPr lang="en-US" sz="1200" dirty="0"/>
          </a:p>
        </p:txBody>
      </p:sp>
      <p:sp>
        <p:nvSpPr>
          <p:cNvPr id="5" name="Shape 3"/>
          <p:cNvSpPr/>
          <p:nvPr/>
        </p:nvSpPr>
        <p:spPr>
          <a:xfrm>
            <a:off x="256032" y="822960"/>
            <a:ext cx="8631936" cy="0"/>
          </a:xfrm>
          <a:prstGeom prst="line">
            <a:avLst/>
          </a:prstGeom>
          <a:noFill/>
          <a:ln w="9525">
            <a:solidFill>
              <a:srgbClr val="DDE3EC"/>
            </a:solidFill>
            <a:prstDash val="solid"/>
          </a:ln>
        </p:spPr>
      </p:sp>
      <p:sp>
        <p:nvSpPr>
          <p:cNvPr id="6" name="Shape 4"/>
          <p:cNvSpPr/>
          <p:nvPr/>
        </p:nvSpPr>
        <p:spPr>
          <a:xfrm>
            <a:off x="502920" y="1097280"/>
            <a:ext cx="2743200" cy="1874520"/>
          </a:xfrm>
          <a:prstGeom prst="rect">
            <a:avLst/>
          </a:prstGeom>
          <a:solidFill>
            <a:srgbClr val="FFFFFF"/>
          </a:solidFill>
          <a:ln w="6350">
            <a:solidFill>
              <a:srgbClr val="DDE3EC"/>
            </a:solidFill>
            <a:prstDash val="solid"/>
          </a:ln>
        </p:spPr>
      </p:sp>
      <p:sp>
        <p:nvSpPr>
          <p:cNvPr id="7" name="Shape 5"/>
          <p:cNvSpPr/>
          <p:nvPr/>
        </p:nvSpPr>
        <p:spPr>
          <a:xfrm>
            <a:off x="502920" y="1097280"/>
            <a:ext cx="2743200" cy="64008"/>
          </a:xfrm>
          <a:prstGeom prst="rect">
            <a:avLst/>
          </a:prstGeom>
          <a:solidFill>
            <a:srgbClr val="0D6EAF"/>
          </a:solidFill>
          <a:ln w="12700">
            <a:solidFill>
              <a:srgbClr val="0D6EAF"/>
            </a:solidFill>
            <a:prstDash val="solid"/>
          </a:ln>
        </p:spPr>
      </p:sp>
      <p:sp>
        <p:nvSpPr>
          <p:cNvPr id="8" name="Text 6"/>
          <p:cNvSpPr/>
          <p:nvPr/>
        </p:nvSpPr>
        <p:spPr>
          <a:xfrm>
            <a:off x="612648" y="1207008"/>
            <a:ext cx="252374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Assumptions</a:t>
            </a:r>
            <a:endParaRPr lang="en-US" sz="1150" dirty="0"/>
          </a:p>
        </p:txBody>
      </p:sp>
      <p:sp>
        <p:nvSpPr>
          <p:cNvPr id="9" name="Text 7"/>
          <p:cNvSpPr/>
          <p:nvPr/>
        </p:nvSpPr>
        <p:spPr>
          <a:xfrm>
            <a:off x="612648" y="1481328"/>
            <a:ext cx="2523744" cy="1380744"/>
          </a:xfrm>
          <a:prstGeom prst="rect">
            <a:avLst/>
          </a:prstGeom>
          <a:noFill/>
          <a:ln/>
        </p:spPr>
        <p:txBody>
          <a:bodyPr wrap="square" lIns="0" tIns="0" rIns="0" bIns="0" rtlCol="0" anchor="ctr">
            <a:normAutofit/>
          </a:bodyPr>
          <a:lstStyle/>
          <a:p>
            <a:pPr indent="0" marL="0">
              <a:buNone/>
            </a:pPr>
            <a:r>
              <a:rPr lang="en-US" sz="980" dirty="0">
                <a:solidFill>
                  <a:srgbClr val="3D5472"/>
                </a:solidFill>
                <a:latin typeface="Calibri" pitchFamily="34" charset="0"/>
                <a:ea typeface="Calibri" pitchFamily="34" charset="-122"/>
                <a:cs typeface="Calibri" pitchFamily="34" charset="-120"/>
              </a:rPr>
              <a:t>• Rigid links and frictionless joints</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No missed steps, no sensor glitches, no actuator saturation inside the analytic model</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Commanded base acceleration θ̈ treated as the abstract input</a:t>
            </a:r>
            <a:endParaRPr lang="en-US" sz="980" dirty="0"/>
          </a:p>
        </p:txBody>
      </p:sp>
      <p:sp>
        <p:nvSpPr>
          <p:cNvPr id="10" name="Shape 8"/>
          <p:cNvSpPr/>
          <p:nvPr/>
        </p:nvSpPr>
        <p:spPr>
          <a:xfrm>
            <a:off x="3429000" y="1097280"/>
            <a:ext cx="2514600" cy="1874520"/>
          </a:xfrm>
          <a:prstGeom prst="rect">
            <a:avLst/>
          </a:prstGeom>
          <a:solidFill>
            <a:srgbClr val="FFFBEB"/>
          </a:solidFill>
          <a:ln w="6350">
            <a:solidFill>
              <a:srgbClr val="DDE3EC"/>
            </a:solidFill>
            <a:prstDash val="solid"/>
          </a:ln>
        </p:spPr>
      </p:sp>
      <p:sp>
        <p:nvSpPr>
          <p:cNvPr id="11" name="Shape 9"/>
          <p:cNvSpPr/>
          <p:nvPr/>
        </p:nvSpPr>
        <p:spPr>
          <a:xfrm>
            <a:off x="3429000" y="1097280"/>
            <a:ext cx="2514600" cy="64008"/>
          </a:xfrm>
          <a:prstGeom prst="rect">
            <a:avLst/>
          </a:prstGeom>
          <a:solidFill>
            <a:srgbClr val="D97706"/>
          </a:solidFill>
          <a:ln w="12700">
            <a:solidFill>
              <a:srgbClr val="D97706"/>
            </a:solidFill>
            <a:prstDash val="solid"/>
          </a:ln>
        </p:spPr>
      </p:sp>
      <p:sp>
        <p:nvSpPr>
          <p:cNvPr id="12" name="Text 10"/>
          <p:cNvSpPr/>
          <p:nvPr/>
        </p:nvSpPr>
        <p:spPr>
          <a:xfrm>
            <a:off x="3538728" y="1207008"/>
            <a:ext cx="229514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Geometry retained</a:t>
            </a:r>
            <a:endParaRPr lang="en-US" sz="1150" dirty="0"/>
          </a:p>
        </p:txBody>
      </p:sp>
      <p:sp>
        <p:nvSpPr>
          <p:cNvPr id="13" name="Text 11"/>
          <p:cNvSpPr/>
          <p:nvPr/>
        </p:nvSpPr>
        <p:spPr>
          <a:xfrm>
            <a:off x="3538728" y="1481328"/>
            <a:ext cx="2295144" cy="1380744"/>
          </a:xfrm>
          <a:prstGeom prst="rect">
            <a:avLst/>
          </a:prstGeom>
          <a:noFill/>
          <a:ln/>
        </p:spPr>
        <p:txBody>
          <a:bodyPr wrap="square" lIns="0" tIns="0" rIns="0" bIns="0" rtlCol="0" anchor="ctr">
            <a:normAutofit/>
          </a:bodyPr>
          <a:lstStyle/>
          <a:p>
            <a:pPr indent="0" marL="0">
              <a:buNone/>
            </a:pPr>
            <a:r>
              <a:rPr lang="en-US" sz="980" dirty="0">
                <a:solidFill>
                  <a:srgbClr val="3D5472"/>
                </a:solidFill>
                <a:latin typeface="Calibri" pitchFamily="34" charset="0"/>
                <a:ea typeface="Calibri" pitchFamily="34" charset="-122"/>
                <a:cs typeface="Calibri" pitchFamily="34" charset="-120"/>
              </a:rPr>
              <a:t>• L-shaped pendulum instead of a single uniform rod</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Mass split between non-swinging shaft mass and swinging mass</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Pendulum COM computed from the real vertical rod plus tip mass</a:t>
            </a:r>
            <a:endParaRPr lang="en-US" sz="980" dirty="0"/>
          </a:p>
        </p:txBody>
      </p:sp>
      <p:sp>
        <p:nvSpPr>
          <p:cNvPr id="14" name="Shape 12"/>
          <p:cNvSpPr/>
          <p:nvPr/>
        </p:nvSpPr>
        <p:spPr>
          <a:xfrm>
            <a:off x="6172200" y="1097280"/>
            <a:ext cx="2468880" cy="1874520"/>
          </a:xfrm>
          <a:prstGeom prst="rect">
            <a:avLst/>
          </a:prstGeom>
          <a:solidFill>
            <a:srgbClr val="FFFFFF"/>
          </a:solidFill>
          <a:ln w="6350">
            <a:solidFill>
              <a:srgbClr val="DDE3EC"/>
            </a:solidFill>
            <a:prstDash val="solid"/>
          </a:ln>
        </p:spPr>
      </p:sp>
      <p:sp>
        <p:nvSpPr>
          <p:cNvPr id="15" name="Shape 13"/>
          <p:cNvSpPr/>
          <p:nvPr/>
        </p:nvSpPr>
        <p:spPr>
          <a:xfrm>
            <a:off x="6172200" y="1097280"/>
            <a:ext cx="2468880" cy="64008"/>
          </a:xfrm>
          <a:prstGeom prst="rect">
            <a:avLst/>
          </a:prstGeom>
          <a:solidFill>
            <a:srgbClr val="0D6EAF"/>
          </a:solidFill>
          <a:ln w="12700">
            <a:solidFill>
              <a:srgbClr val="0D6EAF"/>
            </a:solidFill>
            <a:prstDash val="solid"/>
          </a:ln>
        </p:spPr>
      </p:sp>
      <p:sp>
        <p:nvSpPr>
          <p:cNvPr id="16" name="Text 14"/>
          <p:cNvSpPr/>
          <p:nvPr/>
        </p:nvSpPr>
        <p:spPr>
          <a:xfrm>
            <a:off x="6281928" y="1207008"/>
            <a:ext cx="224942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Grouped constants</a:t>
            </a:r>
            <a:endParaRPr lang="en-US" sz="1150" dirty="0"/>
          </a:p>
        </p:txBody>
      </p:sp>
      <p:sp>
        <p:nvSpPr>
          <p:cNvPr id="17" name="Text 15"/>
          <p:cNvSpPr/>
          <p:nvPr/>
        </p:nvSpPr>
        <p:spPr>
          <a:xfrm>
            <a:off x="6281928" y="1481328"/>
            <a:ext cx="2249424" cy="1380744"/>
          </a:xfrm>
          <a:prstGeom prst="rect">
            <a:avLst/>
          </a:prstGeom>
          <a:noFill/>
          <a:ln/>
        </p:spPr>
        <p:txBody>
          <a:bodyPr wrap="square" lIns="0" tIns="0" rIns="0" bIns="0" rtlCol="0" anchor="ctr">
            <a:normAutofit/>
          </a:bodyPr>
          <a:lstStyle/>
          <a:p>
            <a:pPr indent="0" marL="0">
              <a:buNone/>
            </a:pPr>
            <a:r>
              <a:rPr lang="en-US" sz="980" dirty="0">
                <a:solidFill>
                  <a:srgbClr val="3D5472"/>
                </a:solidFill>
                <a:latin typeface="Calibri" pitchFamily="34" charset="0"/>
                <a:ea typeface="Calibri" pitchFamily="34" charset="-122"/>
                <a:cs typeface="Calibri" pitchFamily="34" charset="-120"/>
              </a:rPr>
              <a:t>• $K = m_p L_r l_p$</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$G = m_p g l_p$</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$\hat J_0 = \hat J_1 + m_p L_r^2$</a:t>
            </a:r>
            <a:endParaRPr lang="en-US" sz="980" dirty="0"/>
          </a:p>
        </p:txBody>
      </p:sp>
      <p:sp>
        <p:nvSpPr>
          <p:cNvPr id="18" name="Shape 16"/>
          <p:cNvSpPr/>
          <p:nvPr/>
        </p:nvSpPr>
        <p:spPr>
          <a:xfrm>
            <a:off x="502920" y="3246120"/>
            <a:ext cx="8138160" cy="914400"/>
          </a:xfrm>
          <a:prstGeom prst="rect">
            <a:avLst/>
          </a:prstGeom>
          <a:solidFill>
            <a:srgbClr val="FFFFFF"/>
          </a:solidFill>
          <a:ln w="6350">
            <a:solidFill>
              <a:srgbClr val="DDE3EC"/>
            </a:solidFill>
            <a:prstDash val="solid"/>
          </a:ln>
        </p:spPr>
      </p:sp>
      <p:sp>
        <p:nvSpPr>
          <p:cNvPr id="19" name="Shape 17"/>
          <p:cNvSpPr/>
          <p:nvPr/>
        </p:nvSpPr>
        <p:spPr>
          <a:xfrm>
            <a:off x="502920" y="3246120"/>
            <a:ext cx="8138160" cy="64008"/>
          </a:xfrm>
          <a:prstGeom prst="rect">
            <a:avLst/>
          </a:prstGeom>
          <a:solidFill>
            <a:srgbClr val="0A7A6E"/>
          </a:solidFill>
          <a:ln w="12700">
            <a:solidFill>
              <a:srgbClr val="0A7A6E"/>
            </a:solidFill>
            <a:prstDash val="solid"/>
          </a:ln>
        </p:spPr>
      </p:sp>
      <p:sp>
        <p:nvSpPr>
          <p:cNvPr id="20" name="Text 18"/>
          <p:cNvSpPr/>
          <p:nvPr/>
        </p:nvSpPr>
        <p:spPr>
          <a:xfrm>
            <a:off x="612648" y="3355848"/>
            <a:ext cx="791870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Design choice to remember</a:t>
            </a:r>
            <a:endParaRPr lang="en-US" sz="1150" dirty="0"/>
          </a:p>
        </p:txBody>
      </p:sp>
      <p:sp>
        <p:nvSpPr>
          <p:cNvPr id="21" name="Text 19"/>
          <p:cNvSpPr/>
          <p:nvPr/>
        </p:nvSpPr>
        <p:spPr>
          <a:xfrm>
            <a:off x="612648" y="3630168"/>
            <a:ext cx="7918704" cy="420624"/>
          </a:xfrm>
          <a:prstGeom prst="rect">
            <a:avLst/>
          </a:prstGeom>
          <a:noFill/>
          <a:ln/>
        </p:spPr>
        <p:txBody>
          <a:bodyPr wrap="square" lIns="0" tIns="0" rIns="0" bIns="0" rtlCol="0" anchor="ctr">
            <a:normAutofit/>
          </a:bodyPr>
          <a:lstStyle/>
          <a:p>
            <a:pPr indent="0" marL="0">
              <a:buNone/>
            </a:pPr>
            <a:r>
              <a:rPr lang="en-US" sz="1000" dirty="0">
                <a:solidFill>
                  <a:srgbClr val="3D5472"/>
                </a:solidFill>
                <a:latin typeface="Calibri" pitchFamily="34" charset="0"/>
                <a:ea typeface="Calibri" pitchFamily="34" charset="-122"/>
                <a:cs typeface="Calibri" pitchFamily="34" charset="-120"/>
              </a:rPr>
              <a:t>Torque appears in the full Euler–Lagrange equations, but the controller chapters intentionally rewrite the upright dynamics in acceleration-input form because that is the quantity the firmware can shape most directly.</a:t>
            </a:r>
            <a:endParaRPr lang="en-US" sz="1000" dirty="0"/>
          </a:p>
        </p:txBody>
      </p:sp>
      <p:sp>
        <p:nvSpPr>
          <p:cNvPr id="22" name="Text 20"/>
          <p:cNvSpPr/>
          <p:nvPr/>
        </p:nvSpPr>
        <p:spPr>
          <a:xfrm>
            <a:off x="8412480" y="4892040"/>
            <a:ext cx="640080" cy="201168"/>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11 / 38</a:t>
            </a:r>
            <a:endParaRPr lang="en-US" sz="900" dirty="0"/>
          </a:p>
        </p:txBody>
      </p:sp>
      <p:sp>
        <p:nvSpPr>
          <p:cNvPr id="23" name="Shape 21"/>
          <p:cNvSpPr/>
          <p:nvPr/>
        </p:nvSpPr>
        <p:spPr>
          <a:xfrm>
            <a:off x="256032" y="4882896"/>
            <a:ext cx="8631936" cy="36576"/>
          </a:xfrm>
          <a:prstGeom prst="rect">
            <a:avLst/>
          </a:prstGeom>
          <a:solidFill>
            <a:srgbClr val="0D6EAF">
              <a:alpha val="15000"/>
            </a:srgbClr>
          </a:solidFill>
          <a:ln w="12700">
            <a:solidFill>
              <a:srgbClr val="0D6EAF"/>
            </a:solidFill>
            <a:prstDash val="solid"/>
          </a:ln>
        </p:spPr>
      </p:sp>
      <p:sp>
        <p:nvSpPr>
          <p:cNvPr id="24" name="Shape 22"/>
          <p:cNvSpPr/>
          <p:nvPr/>
        </p:nvSpPr>
        <p:spPr>
          <a:xfrm>
            <a:off x="256032" y="4882896"/>
            <a:ext cx="2498718" cy="36576"/>
          </a:xfrm>
          <a:prstGeom prst="rect">
            <a:avLst/>
          </a:prstGeom>
          <a:solidFill>
            <a:srgbClr val="0D6EAF"/>
          </a:solidFill>
          <a:ln w="12700">
            <a:solidFill>
              <a:srgbClr val="0D6EAF"/>
            </a:solidFill>
            <a:prstDash val="solid"/>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8FA"/>
        </a:solidFill>
      </p:bgPr>
    </p:bg>
    <p:spTree>
      <p:nvGrpSpPr>
        <p:cNvPr id="1" name=""/>
        <p:cNvGrpSpPr/>
        <p:nvPr/>
      </p:nvGrpSpPr>
      <p:grpSpPr>
        <a:xfrm>
          <a:off x="0" y="0"/>
          <a:ext cx="0" cy="0"/>
          <a:chOff x="0" y="0"/>
          <a:chExt cx="0" cy="0"/>
        </a:xfrm>
      </p:grpSpPr>
      <p:sp>
        <p:nvSpPr>
          <p:cNvPr id="2" name="Shape 0"/>
          <p:cNvSpPr/>
          <p:nvPr/>
        </p:nvSpPr>
        <p:spPr>
          <a:xfrm>
            <a:off x="0" y="0"/>
            <a:ext cx="118872" cy="5143500"/>
          </a:xfrm>
          <a:prstGeom prst="rect">
            <a:avLst/>
          </a:prstGeom>
          <a:solidFill>
            <a:srgbClr val="0D6EAF"/>
          </a:solidFill>
          <a:ln w="12700">
            <a:solidFill>
              <a:srgbClr val="0D6EAF"/>
            </a:solidFill>
            <a:prstDash val="solid"/>
          </a:ln>
        </p:spPr>
      </p:sp>
      <p:sp>
        <p:nvSpPr>
          <p:cNvPr id="3" name="Text 1"/>
          <p:cNvSpPr/>
          <p:nvPr/>
        </p:nvSpPr>
        <p:spPr>
          <a:xfrm>
            <a:off x="256032" y="201168"/>
            <a:ext cx="8686800" cy="566928"/>
          </a:xfrm>
          <a:prstGeom prst="rect">
            <a:avLst/>
          </a:prstGeom>
          <a:noFill/>
          <a:ln/>
        </p:spPr>
        <p:txBody>
          <a:bodyPr wrap="square" lIns="0" tIns="0" rIns="0" bIns="0" rtlCol="0" anchor="ctr">
            <a:normAutofit/>
          </a:bodyPr>
          <a:lstStyle/>
          <a:p>
            <a:pPr indent="0" marL="0">
              <a:buNone/>
            </a:pPr>
            <a:r>
              <a:rPr lang="en-US" sz="2600" b="1" dirty="0">
                <a:solidFill>
                  <a:srgbClr val="1B2A4A"/>
                </a:solidFill>
                <a:latin typeface="Calibri" pitchFamily="34" charset="0"/>
                <a:ea typeface="Calibri" pitchFamily="34" charset="-122"/>
                <a:cs typeface="Calibri" pitchFamily="34" charset="-120"/>
              </a:rPr>
              <a:t>Kinematics and Coordinates</a:t>
            </a:r>
            <a:endParaRPr lang="en-US" sz="2600" dirty="0"/>
          </a:p>
        </p:txBody>
      </p:sp>
      <p:sp>
        <p:nvSpPr>
          <p:cNvPr id="4" name="Text 2"/>
          <p:cNvSpPr/>
          <p:nvPr/>
        </p:nvSpPr>
        <p:spPr>
          <a:xfrm>
            <a:off x="256032" y="768096"/>
            <a:ext cx="8686800" cy="274320"/>
          </a:xfrm>
          <a:prstGeom prst="rect">
            <a:avLst/>
          </a:prstGeom>
          <a:noFill/>
          <a:ln/>
        </p:spPr>
        <p:txBody>
          <a:bodyPr wrap="square" lIns="0" tIns="0" rIns="0" bIns="0" rtlCol="0" anchor="ctr">
            <a:normAutofit/>
          </a:bodyPr>
          <a:lstStyle/>
          <a:p>
            <a:pPr indent="0" marL="0">
              <a:buNone/>
            </a:pPr>
            <a:r>
              <a:rPr lang="en-US" sz="1200" i="1" dirty="0">
                <a:solidFill>
                  <a:srgbClr val="64748B"/>
                </a:solidFill>
                <a:latin typeface="Calibri" pitchFamily="34" charset="0"/>
                <a:ea typeface="Calibri" pitchFamily="34" charset="-122"/>
                <a:cs typeface="Calibri" pitchFamily="34" charset="-120"/>
              </a:rPr>
              <a:t>The coupling between arm rotation and pendulum swing appears already at the position and velocity level.</a:t>
            </a:r>
            <a:endParaRPr lang="en-US" sz="1200" dirty="0"/>
          </a:p>
        </p:txBody>
      </p:sp>
      <p:sp>
        <p:nvSpPr>
          <p:cNvPr id="5" name="Shape 3"/>
          <p:cNvSpPr/>
          <p:nvPr/>
        </p:nvSpPr>
        <p:spPr>
          <a:xfrm>
            <a:off x="256032" y="822960"/>
            <a:ext cx="8631936" cy="0"/>
          </a:xfrm>
          <a:prstGeom prst="line">
            <a:avLst/>
          </a:prstGeom>
          <a:noFill/>
          <a:ln w="9525">
            <a:solidFill>
              <a:srgbClr val="DDE3EC"/>
            </a:solidFill>
            <a:prstDash val="solid"/>
          </a:ln>
        </p:spPr>
      </p:sp>
      <p:sp>
        <p:nvSpPr>
          <p:cNvPr id="6" name="Shape 4"/>
          <p:cNvSpPr/>
          <p:nvPr/>
        </p:nvSpPr>
        <p:spPr>
          <a:xfrm>
            <a:off x="502920" y="1143000"/>
            <a:ext cx="2971800" cy="1737360"/>
          </a:xfrm>
          <a:prstGeom prst="rect">
            <a:avLst/>
          </a:prstGeom>
          <a:solidFill>
            <a:srgbClr val="FFFFFF"/>
          </a:solidFill>
          <a:ln w="6350">
            <a:solidFill>
              <a:srgbClr val="DDE3EC"/>
            </a:solidFill>
            <a:prstDash val="solid"/>
          </a:ln>
        </p:spPr>
      </p:sp>
      <p:sp>
        <p:nvSpPr>
          <p:cNvPr id="7" name="Shape 5"/>
          <p:cNvSpPr/>
          <p:nvPr/>
        </p:nvSpPr>
        <p:spPr>
          <a:xfrm>
            <a:off x="502920" y="1143000"/>
            <a:ext cx="2971800" cy="64008"/>
          </a:xfrm>
          <a:prstGeom prst="rect">
            <a:avLst/>
          </a:prstGeom>
          <a:solidFill>
            <a:srgbClr val="0D6EAF"/>
          </a:solidFill>
          <a:ln w="12700">
            <a:solidFill>
              <a:srgbClr val="0D6EAF"/>
            </a:solidFill>
            <a:prstDash val="solid"/>
          </a:ln>
        </p:spPr>
      </p:sp>
      <p:sp>
        <p:nvSpPr>
          <p:cNvPr id="8" name="Text 6"/>
          <p:cNvSpPr/>
          <p:nvPr/>
        </p:nvSpPr>
        <p:spPr>
          <a:xfrm>
            <a:off x="612648" y="1252728"/>
            <a:ext cx="275234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Coordinates</a:t>
            </a:r>
            <a:endParaRPr lang="en-US" sz="1150" dirty="0"/>
          </a:p>
        </p:txBody>
      </p:sp>
      <p:sp>
        <p:nvSpPr>
          <p:cNvPr id="9" name="Text 7"/>
          <p:cNvSpPr/>
          <p:nvPr/>
        </p:nvSpPr>
        <p:spPr>
          <a:xfrm>
            <a:off x="612648" y="1527048"/>
            <a:ext cx="2752344" cy="1243584"/>
          </a:xfrm>
          <a:prstGeom prst="rect">
            <a:avLst/>
          </a:prstGeom>
          <a:noFill/>
          <a:ln/>
        </p:spPr>
        <p:txBody>
          <a:bodyPr wrap="square" lIns="0" tIns="0" rIns="0" bIns="0" rtlCol="0" anchor="ctr">
            <a:normAutofit/>
          </a:bodyPr>
          <a:lstStyle/>
          <a:p>
            <a:pPr indent="0" marL="0">
              <a:buNone/>
            </a:pPr>
            <a:r>
              <a:rPr lang="en-US" sz="980" dirty="0">
                <a:solidFill>
                  <a:srgbClr val="3D5472"/>
                </a:solidFill>
                <a:latin typeface="Calibri" pitchFamily="34" charset="0"/>
                <a:ea typeface="Calibri" pitchFamily="34" charset="-122"/>
                <a:cs typeface="Calibri" pitchFamily="34" charset="-120"/>
              </a:rPr>
              <a:t>• $\theta$: base yaw angle</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$\alpha$: pendulum angle, with $\alpha=0$ upright</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$L_r$: motor axis to pendulum pivot</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$l_p$: pivot to pendulum COM</a:t>
            </a:r>
            <a:endParaRPr lang="en-US" sz="980" dirty="0"/>
          </a:p>
        </p:txBody>
      </p:sp>
      <p:sp>
        <p:nvSpPr>
          <p:cNvPr id="10" name="Shape 8"/>
          <p:cNvSpPr/>
          <p:nvPr/>
        </p:nvSpPr>
        <p:spPr>
          <a:xfrm>
            <a:off x="3657600" y="1188720"/>
            <a:ext cx="4663440" cy="1417320"/>
          </a:xfrm>
          <a:prstGeom prst="rect">
            <a:avLst/>
          </a:prstGeom>
          <a:solidFill>
            <a:srgbClr val="FFFFFF"/>
          </a:solidFill>
          <a:ln w="6350">
            <a:solidFill>
              <a:srgbClr val="DDE3EC"/>
            </a:solidFill>
            <a:prstDash val="solid"/>
          </a:ln>
        </p:spPr>
      </p:sp>
      <p:sp>
        <p:nvSpPr>
          <p:cNvPr id="11" name="Text 9"/>
          <p:cNvSpPr/>
          <p:nvPr/>
        </p:nvSpPr>
        <p:spPr>
          <a:xfrm>
            <a:off x="3730752" y="1243584"/>
            <a:ext cx="914400" cy="146304"/>
          </a:xfrm>
          <a:prstGeom prst="rect">
            <a:avLst/>
          </a:prstGeom>
          <a:noFill/>
          <a:ln/>
        </p:spPr>
        <p:txBody>
          <a:bodyPr wrap="square" lIns="0" tIns="0" rIns="0" bIns="0" rtlCol="0" anchor="ctr"/>
          <a:lstStyle/>
          <a:p>
            <a:pPr indent="0" marL="0">
              <a:buNone/>
            </a:pPr>
            <a:r>
              <a:rPr lang="en-US" sz="800" i="1" dirty="0">
                <a:solidFill>
                  <a:srgbClr val="64748B"/>
                </a:solidFill>
                <a:latin typeface="Calibri" pitchFamily="34" charset="0"/>
                <a:ea typeface="Calibri" pitchFamily="34" charset="-122"/>
                <a:cs typeface="Calibri" pitchFamily="34" charset="-120"/>
              </a:rPr>
              <a:t>Equation</a:t>
            </a:r>
            <a:endParaRPr lang="en-US" sz="800" dirty="0"/>
          </a:p>
        </p:txBody>
      </p:sp>
      <p:sp>
        <p:nvSpPr>
          <p:cNvPr id="12" name="Shape 10"/>
          <p:cNvSpPr/>
          <p:nvPr/>
        </p:nvSpPr>
        <p:spPr>
          <a:xfrm>
            <a:off x="502920" y="3154680"/>
            <a:ext cx="8138160" cy="1051560"/>
          </a:xfrm>
          <a:prstGeom prst="rect">
            <a:avLst/>
          </a:prstGeom>
          <a:solidFill>
            <a:srgbClr val="FFFFFF"/>
          </a:solidFill>
          <a:ln w="6350">
            <a:solidFill>
              <a:srgbClr val="DDE3EC"/>
            </a:solidFill>
            <a:prstDash val="solid"/>
          </a:ln>
        </p:spPr>
      </p:sp>
      <p:sp>
        <p:nvSpPr>
          <p:cNvPr id="13" name="Shape 11"/>
          <p:cNvSpPr/>
          <p:nvPr/>
        </p:nvSpPr>
        <p:spPr>
          <a:xfrm>
            <a:off x="502920" y="3154680"/>
            <a:ext cx="8138160" cy="64008"/>
          </a:xfrm>
          <a:prstGeom prst="rect">
            <a:avLst/>
          </a:prstGeom>
          <a:solidFill>
            <a:srgbClr val="0A7A6E"/>
          </a:solidFill>
          <a:ln w="12700">
            <a:solidFill>
              <a:srgbClr val="0A7A6E"/>
            </a:solidFill>
            <a:prstDash val="solid"/>
          </a:ln>
        </p:spPr>
      </p:sp>
      <p:sp>
        <p:nvSpPr>
          <p:cNvPr id="14" name="Text 12"/>
          <p:cNvSpPr/>
          <p:nvPr/>
        </p:nvSpPr>
        <p:spPr>
          <a:xfrm>
            <a:off x="612648" y="3264408"/>
            <a:ext cx="791870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Interpretation</a:t>
            </a:r>
            <a:endParaRPr lang="en-US" sz="1150" dirty="0"/>
          </a:p>
        </p:txBody>
      </p:sp>
      <p:sp>
        <p:nvSpPr>
          <p:cNvPr id="15" name="Text 13"/>
          <p:cNvSpPr/>
          <p:nvPr/>
        </p:nvSpPr>
        <p:spPr>
          <a:xfrm>
            <a:off x="612648" y="3538728"/>
            <a:ext cx="7918704" cy="557784"/>
          </a:xfrm>
          <a:prstGeom prst="rect">
            <a:avLst/>
          </a:prstGeom>
          <a:noFill/>
          <a:ln/>
        </p:spPr>
        <p:txBody>
          <a:bodyPr wrap="square" lIns="0" tIns="0" rIns="0" bIns="0" rtlCol="0" anchor="ctr">
            <a:normAutofit/>
          </a:bodyPr>
          <a:lstStyle/>
          <a:p>
            <a:pPr indent="0" marL="0">
              <a:buNone/>
            </a:pPr>
            <a:r>
              <a:rPr lang="en-US" sz="1000" dirty="0">
                <a:solidFill>
                  <a:srgbClr val="3D5472"/>
                </a:solidFill>
                <a:latin typeface="Calibri" pitchFamily="34" charset="0"/>
                <a:ea typeface="Calibri" pitchFamily="34" charset="-122"/>
                <a:cs typeface="Calibri" pitchFamily="34" charset="-120"/>
              </a:rPr>
              <a:t>The mixed term $2L_r l_p \cos\alpha\,\dot{\theta}\dot{\alpha}$ is the first clear sign that arm motion and pendulum motion are dynamically coupled even before the equations of motion are formed.</a:t>
            </a:r>
            <a:endParaRPr lang="en-US" sz="1000" dirty="0"/>
          </a:p>
        </p:txBody>
      </p:sp>
      <p:sp>
        <p:nvSpPr>
          <p:cNvPr id="16" name="Text 14"/>
          <p:cNvSpPr/>
          <p:nvPr/>
        </p:nvSpPr>
        <p:spPr>
          <a:xfrm>
            <a:off x="8412480" y="4892040"/>
            <a:ext cx="640080" cy="201168"/>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12 / 38</a:t>
            </a:r>
            <a:endParaRPr lang="en-US" sz="900" dirty="0"/>
          </a:p>
        </p:txBody>
      </p:sp>
      <p:sp>
        <p:nvSpPr>
          <p:cNvPr id="17" name="Shape 15"/>
          <p:cNvSpPr/>
          <p:nvPr/>
        </p:nvSpPr>
        <p:spPr>
          <a:xfrm>
            <a:off x="256032" y="4882896"/>
            <a:ext cx="8631936" cy="36576"/>
          </a:xfrm>
          <a:prstGeom prst="rect">
            <a:avLst/>
          </a:prstGeom>
          <a:solidFill>
            <a:srgbClr val="0D6EAF">
              <a:alpha val="15000"/>
            </a:srgbClr>
          </a:solidFill>
          <a:ln w="12700">
            <a:solidFill>
              <a:srgbClr val="0D6EAF"/>
            </a:solidFill>
            <a:prstDash val="solid"/>
          </a:ln>
        </p:spPr>
      </p:sp>
      <p:sp>
        <p:nvSpPr>
          <p:cNvPr id="18" name="Shape 16"/>
          <p:cNvSpPr/>
          <p:nvPr/>
        </p:nvSpPr>
        <p:spPr>
          <a:xfrm>
            <a:off x="256032" y="4882896"/>
            <a:ext cx="2725875" cy="36576"/>
          </a:xfrm>
          <a:prstGeom prst="rect">
            <a:avLst/>
          </a:prstGeom>
          <a:solidFill>
            <a:srgbClr val="0D6EAF"/>
          </a:solidFill>
          <a:ln w="12700">
            <a:solidFill>
              <a:srgbClr val="0D6EAF"/>
            </a:solidFill>
            <a:prstDash val="solid"/>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8FA"/>
        </a:solidFill>
      </p:bgPr>
    </p:bg>
    <p:spTree>
      <p:nvGrpSpPr>
        <p:cNvPr id="1" name=""/>
        <p:cNvGrpSpPr/>
        <p:nvPr/>
      </p:nvGrpSpPr>
      <p:grpSpPr>
        <a:xfrm>
          <a:off x="0" y="0"/>
          <a:ext cx="0" cy="0"/>
          <a:chOff x="0" y="0"/>
          <a:chExt cx="0" cy="0"/>
        </a:xfrm>
      </p:grpSpPr>
      <p:sp>
        <p:nvSpPr>
          <p:cNvPr id="2" name="Shape 0"/>
          <p:cNvSpPr/>
          <p:nvPr/>
        </p:nvSpPr>
        <p:spPr>
          <a:xfrm>
            <a:off x="0" y="0"/>
            <a:ext cx="118872" cy="5143500"/>
          </a:xfrm>
          <a:prstGeom prst="rect">
            <a:avLst/>
          </a:prstGeom>
          <a:solidFill>
            <a:srgbClr val="0D6EAF"/>
          </a:solidFill>
          <a:ln w="12700">
            <a:solidFill>
              <a:srgbClr val="0D6EAF"/>
            </a:solidFill>
            <a:prstDash val="solid"/>
          </a:ln>
        </p:spPr>
      </p:sp>
      <p:sp>
        <p:nvSpPr>
          <p:cNvPr id="3" name="Text 1"/>
          <p:cNvSpPr/>
          <p:nvPr/>
        </p:nvSpPr>
        <p:spPr>
          <a:xfrm>
            <a:off x="256032" y="201168"/>
            <a:ext cx="8686800" cy="566928"/>
          </a:xfrm>
          <a:prstGeom prst="rect">
            <a:avLst/>
          </a:prstGeom>
          <a:noFill/>
          <a:ln/>
        </p:spPr>
        <p:txBody>
          <a:bodyPr wrap="square" lIns="0" tIns="0" rIns="0" bIns="0" rtlCol="0" anchor="ctr">
            <a:normAutofit/>
          </a:bodyPr>
          <a:lstStyle/>
          <a:p>
            <a:pPr indent="0" marL="0">
              <a:buNone/>
            </a:pPr>
            <a:r>
              <a:rPr lang="en-US" sz="2600" b="1" dirty="0">
                <a:solidFill>
                  <a:srgbClr val="1B2A4A"/>
                </a:solidFill>
                <a:latin typeface="Calibri" pitchFamily="34" charset="0"/>
                <a:ea typeface="Calibri" pitchFamily="34" charset="-122"/>
                <a:cs typeface="Calibri" pitchFamily="34" charset="-120"/>
              </a:rPr>
              <a:t>Energies, Lagrangian, and Nonlinear Equations of Motion</a:t>
            </a:r>
            <a:endParaRPr lang="en-US" sz="2600" dirty="0"/>
          </a:p>
        </p:txBody>
      </p:sp>
      <p:sp>
        <p:nvSpPr>
          <p:cNvPr id="4" name="Text 2"/>
          <p:cNvSpPr/>
          <p:nvPr/>
        </p:nvSpPr>
        <p:spPr>
          <a:xfrm>
            <a:off x="256032" y="768096"/>
            <a:ext cx="8686800" cy="274320"/>
          </a:xfrm>
          <a:prstGeom prst="rect">
            <a:avLst/>
          </a:prstGeom>
          <a:noFill/>
          <a:ln/>
        </p:spPr>
        <p:txBody>
          <a:bodyPr wrap="square" lIns="0" tIns="0" rIns="0" bIns="0" rtlCol="0" anchor="ctr">
            <a:normAutofit/>
          </a:bodyPr>
          <a:lstStyle/>
          <a:p>
            <a:pPr indent="0" marL="0">
              <a:buNone/>
            </a:pPr>
            <a:r>
              <a:rPr lang="en-US" sz="1200" i="1" dirty="0">
                <a:solidFill>
                  <a:srgbClr val="64748B"/>
                </a:solidFill>
                <a:latin typeface="Calibri" pitchFamily="34" charset="0"/>
                <a:ea typeface="Calibri" pitchFamily="34" charset="-122"/>
                <a:cs typeface="Calibri" pitchFamily="34" charset="-120"/>
              </a:rPr>
              <a:t>Once the rig-specific kinetic energy terms are retained, the Euler–Lagrange equations expose the exact nonlinear structure later used by the SMC designs.</a:t>
            </a:r>
            <a:endParaRPr lang="en-US" sz="1200" dirty="0"/>
          </a:p>
        </p:txBody>
      </p:sp>
      <p:sp>
        <p:nvSpPr>
          <p:cNvPr id="5" name="Shape 3"/>
          <p:cNvSpPr/>
          <p:nvPr/>
        </p:nvSpPr>
        <p:spPr>
          <a:xfrm>
            <a:off x="256032" y="822960"/>
            <a:ext cx="8631936" cy="0"/>
          </a:xfrm>
          <a:prstGeom prst="line">
            <a:avLst/>
          </a:prstGeom>
          <a:noFill/>
          <a:ln w="9525">
            <a:solidFill>
              <a:srgbClr val="DDE3EC"/>
            </a:solidFill>
            <a:prstDash val="solid"/>
          </a:ln>
        </p:spPr>
      </p:sp>
      <p:sp>
        <p:nvSpPr>
          <p:cNvPr id="6" name="Shape 4"/>
          <p:cNvSpPr/>
          <p:nvPr/>
        </p:nvSpPr>
        <p:spPr>
          <a:xfrm>
            <a:off x="594360" y="1115568"/>
            <a:ext cx="3886200" cy="1463040"/>
          </a:xfrm>
          <a:prstGeom prst="rect">
            <a:avLst/>
          </a:prstGeom>
          <a:solidFill>
            <a:srgbClr val="FFFFFF"/>
          </a:solidFill>
          <a:ln w="6350">
            <a:solidFill>
              <a:srgbClr val="DDE3EC"/>
            </a:solidFill>
            <a:prstDash val="solid"/>
          </a:ln>
        </p:spPr>
      </p:sp>
      <p:sp>
        <p:nvSpPr>
          <p:cNvPr id="7" name="Text 5"/>
          <p:cNvSpPr/>
          <p:nvPr/>
        </p:nvSpPr>
        <p:spPr>
          <a:xfrm>
            <a:off x="667512" y="1170432"/>
            <a:ext cx="914400" cy="146304"/>
          </a:xfrm>
          <a:prstGeom prst="rect">
            <a:avLst/>
          </a:prstGeom>
          <a:noFill/>
          <a:ln/>
        </p:spPr>
        <p:txBody>
          <a:bodyPr wrap="square" lIns="0" tIns="0" rIns="0" bIns="0" rtlCol="0" anchor="ctr"/>
          <a:lstStyle/>
          <a:p>
            <a:pPr indent="0" marL="0">
              <a:buNone/>
            </a:pPr>
            <a:r>
              <a:rPr lang="en-US" sz="800" i="1" dirty="0">
                <a:solidFill>
                  <a:srgbClr val="64748B"/>
                </a:solidFill>
                <a:latin typeface="Calibri" pitchFamily="34" charset="0"/>
                <a:ea typeface="Calibri" pitchFamily="34" charset="-122"/>
                <a:cs typeface="Calibri" pitchFamily="34" charset="-120"/>
              </a:rPr>
              <a:t>Equation</a:t>
            </a:r>
            <a:endParaRPr lang="en-US" sz="800" dirty="0"/>
          </a:p>
        </p:txBody>
      </p:sp>
      <p:sp>
        <p:nvSpPr>
          <p:cNvPr id="8" name="Shape 6"/>
          <p:cNvSpPr/>
          <p:nvPr/>
        </p:nvSpPr>
        <p:spPr>
          <a:xfrm>
            <a:off x="4663440" y="1115568"/>
            <a:ext cx="3794760" cy="1600200"/>
          </a:xfrm>
          <a:prstGeom prst="rect">
            <a:avLst/>
          </a:prstGeom>
          <a:solidFill>
            <a:srgbClr val="FFFFFF"/>
          </a:solidFill>
          <a:ln w="6350">
            <a:solidFill>
              <a:srgbClr val="DDE3EC"/>
            </a:solidFill>
            <a:prstDash val="solid"/>
          </a:ln>
        </p:spPr>
      </p:sp>
      <p:sp>
        <p:nvSpPr>
          <p:cNvPr id="9" name="Text 7"/>
          <p:cNvSpPr/>
          <p:nvPr/>
        </p:nvSpPr>
        <p:spPr>
          <a:xfrm>
            <a:off x="4736592" y="1170432"/>
            <a:ext cx="914400" cy="146304"/>
          </a:xfrm>
          <a:prstGeom prst="rect">
            <a:avLst/>
          </a:prstGeom>
          <a:noFill/>
          <a:ln/>
        </p:spPr>
        <p:txBody>
          <a:bodyPr wrap="square" lIns="0" tIns="0" rIns="0" bIns="0" rtlCol="0" anchor="ctr"/>
          <a:lstStyle/>
          <a:p>
            <a:pPr indent="0" marL="0">
              <a:buNone/>
            </a:pPr>
            <a:r>
              <a:rPr lang="en-US" sz="800" i="1" dirty="0">
                <a:solidFill>
                  <a:srgbClr val="64748B"/>
                </a:solidFill>
                <a:latin typeface="Calibri" pitchFamily="34" charset="0"/>
                <a:ea typeface="Calibri" pitchFamily="34" charset="-122"/>
                <a:cs typeface="Calibri" pitchFamily="34" charset="-120"/>
              </a:rPr>
              <a:t>Equation</a:t>
            </a:r>
            <a:endParaRPr lang="en-US" sz="800" dirty="0"/>
          </a:p>
        </p:txBody>
      </p:sp>
      <p:sp>
        <p:nvSpPr>
          <p:cNvPr id="10" name="Shape 8"/>
          <p:cNvSpPr/>
          <p:nvPr/>
        </p:nvSpPr>
        <p:spPr>
          <a:xfrm>
            <a:off x="594360" y="3063240"/>
            <a:ext cx="7863840" cy="1097280"/>
          </a:xfrm>
          <a:prstGeom prst="rect">
            <a:avLst/>
          </a:prstGeom>
          <a:solidFill>
            <a:srgbClr val="FFFBEB"/>
          </a:solidFill>
          <a:ln w="6350">
            <a:solidFill>
              <a:srgbClr val="DDE3EC"/>
            </a:solidFill>
            <a:prstDash val="solid"/>
          </a:ln>
        </p:spPr>
      </p:sp>
      <p:sp>
        <p:nvSpPr>
          <p:cNvPr id="11" name="Shape 9"/>
          <p:cNvSpPr/>
          <p:nvPr/>
        </p:nvSpPr>
        <p:spPr>
          <a:xfrm>
            <a:off x="594360" y="3063240"/>
            <a:ext cx="7863840" cy="64008"/>
          </a:xfrm>
          <a:prstGeom prst="rect">
            <a:avLst/>
          </a:prstGeom>
          <a:solidFill>
            <a:srgbClr val="D97706"/>
          </a:solidFill>
          <a:ln w="12700">
            <a:solidFill>
              <a:srgbClr val="D97706"/>
            </a:solidFill>
            <a:prstDash val="solid"/>
          </a:ln>
        </p:spPr>
      </p:sp>
      <p:sp>
        <p:nvSpPr>
          <p:cNvPr id="12" name="Text 10"/>
          <p:cNvSpPr/>
          <p:nvPr/>
        </p:nvSpPr>
        <p:spPr>
          <a:xfrm>
            <a:off x="704088" y="3172968"/>
            <a:ext cx="764438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What matters later</a:t>
            </a:r>
            <a:endParaRPr lang="en-US" sz="1150" dirty="0"/>
          </a:p>
        </p:txBody>
      </p:sp>
      <p:sp>
        <p:nvSpPr>
          <p:cNvPr id="13" name="Text 11"/>
          <p:cNvSpPr/>
          <p:nvPr/>
        </p:nvSpPr>
        <p:spPr>
          <a:xfrm>
            <a:off x="704088" y="3447288"/>
            <a:ext cx="7644384" cy="603504"/>
          </a:xfrm>
          <a:prstGeom prst="rect">
            <a:avLst/>
          </a:prstGeom>
          <a:noFill/>
          <a:ln/>
        </p:spPr>
        <p:txBody>
          <a:bodyPr wrap="square" lIns="0" tIns="0" rIns="0" bIns="0" rtlCol="0" anchor="ctr">
            <a:normAutofit/>
          </a:bodyPr>
          <a:lstStyle/>
          <a:p>
            <a:pPr indent="0" marL="0">
              <a:buNone/>
            </a:pPr>
            <a:r>
              <a:rPr lang="en-US" sz="1000" dirty="0">
                <a:solidFill>
                  <a:srgbClr val="3D5472"/>
                </a:solidFill>
                <a:latin typeface="Calibri" pitchFamily="34" charset="0"/>
                <a:ea typeface="Calibri" pitchFamily="34" charset="-122"/>
                <a:cs typeface="Calibri" pitchFamily="34" charset="-120"/>
              </a:rPr>
              <a:t>These equations preserve the $\hat J_2\sin^2\alpha$ inertia modulation, the $\sin\alpha\cos\alpha\,\dot\theta^2$ centrifugal effect, and the coupling through $K\cos\alpha$, which are precisely the terms the nonlinear controllers exploit.</a:t>
            </a:r>
            <a:endParaRPr lang="en-US" sz="1000" dirty="0"/>
          </a:p>
        </p:txBody>
      </p:sp>
      <p:sp>
        <p:nvSpPr>
          <p:cNvPr id="14" name="Text 12"/>
          <p:cNvSpPr/>
          <p:nvPr/>
        </p:nvSpPr>
        <p:spPr>
          <a:xfrm>
            <a:off x="8412480" y="4892040"/>
            <a:ext cx="640080" cy="201168"/>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13 / 38</a:t>
            </a:r>
            <a:endParaRPr lang="en-US" sz="900" dirty="0"/>
          </a:p>
        </p:txBody>
      </p:sp>
      <p:sp>
        <p:nvSpPr>
          <p:cNvPr id="15" name="Shape 13"/>
          <p:cNvSpPr/>
          <p:nvPr/>
        </p:nvSpPr>
        <p:spPr>
          <a:xfrm>
            <a:off x="256032" y="4882896"/>
            <a:ext cx="8631936" cy="36576"/>
          </a:xfrm>
          <a:prstGeom prst="rect">
            <a:avLst/>
          </a:prstGeom>
          <a:solidFill>
            <a:srgbClr val="0D6EAF">
              <a:alpha val="15000"/>
            </a:srgbClr>
          </a:solidFill>
          <a:ln w="12700">
            <a:solidFill>
              <a:srgbClr val="0D6EAF"/>
            </a:solidFill>
            <a:prstDash val="solid"/>
          </a:ln>
        </p:spPr>
      </p:sp>
      <p:sp>
        <p:nvSpPr>
          <p:cNvPr id="16" name="Shape 14"/>
          <p:cNvSpPr/>
          <p:nvPr/>
        </p:nvSpPr>
        <p:spPr>
          <a:xfrm>
            <a:off x="256032" y="4882896"/>
            <a:ext cx="2953031" cy="36576"/>
          </a:xfrm>
          <a:prstGeom prst="rect">
            <a:avLst/>
          </a:prstGeom>
          <a:solidFill>
            <a:srgbClr val="0D6EAF"/>
          </a:solidFill>
          <a:ln w="12700">
            <a:solidFill>
              <a:srgbClr val="0D6EAF"/>
            </a:solidFill>
            <a:prstDash val="solid"/>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BEB"/>
        </a:solidFill>
      </p:bgPr>
    </p:bg>
    <p:spTree>
      <p:nvGrpSpPr>
        <p:cNvPr id="1" name=""/>
        <p:cNvGrpSpPr/>
        <p:nvPr/>
      </p:nvGrpSpPr>
      <p:grpSpPr>
        <a:xfrm>
          <a:off x="0" y="0"/>
          <a:ext cx="0" cy="0"/>
          <a:chOff x="0" y="0"/>
          <a:chExt cx="0" cy="0"/>
        </a:xfrm>
      </p:grpSpPr>
      <p:sp>
        <p:nvSpPr>
          <p:cNvPr id="2" name="Shape 0"/>
          <p:cNvSpPr/>
          <p:nvPr/>
        </p:nvSpPr>
        <p:spPr>
          <a:xfrm>
            <a:off x="0" y="0"/>
            <a:ext cx="118872" cy="5143500"/>
          </a:xfrm>
          <a:prstGeom prst="rect">
            <a:avLst/>
          </a:prstGeom>
          <a:solidFill>
            <a:srgbClr val="D97706"/>
          </a:solidFill>
          <a:ln w="12700">
            <a:solidFill>
              <a:srgbClr val="D97706"/>
            </a:solidFill>
            <a:prstDash val="solid"/>
          </a:ln>
        </p:spPr>
      </p:sp>
      <p:sp>
        <p:nvSpPr>
          <p:cNvPr id="3" name="Shape 1"/>
          <p:cNvSpPr/>
          <p:nvPr/>
        </p:nvSpPr>
        <p:spPr>
          <a:xfrm>
            <a:off x="6263640" y="182880"/>
            <a:ext cx="2651760" cy="320040"/>
          </a:xfrm>
          <a:prstGeom prst="rect">
            <a:avLst/>
          </a:prstGeom>
          <a:solidFill>
            <a:srgbClr val="D97706"/>
          </a:solidFill>
          <a:ln w="12700">
            <a:solidFill>
              <a:srgbClr val="D97706"/>
            </a:solidFill>
            <a:prstDash val="solid"/>
          </a:ln>
        </p:spPr>
      </p:sp>
      <p:sp>
        <p:nvSpPr>
          <p:cNvPr id="4" name="Text 2"/>
          <p:cNvSpPr/>
          <p:nvPr/>
        </p:nvSpPr>
        <p:spPr>
          <a:xfrm>
            <a:off x="6263640" y="182880"/>
            <a:ext cx="2651760"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KEY CONTRIBUTION</a:t>
            </a:r>
            <a:endParaRPr lang="en-US" sz="900" dirty="0"/>
          </a:p>
        </p:txBody>
      </p:sp>
      <p:sp>
        <p:nvSpPr>
          <p:cNvPr id="5" name="Text 3"/>
          <p:cNvSpPr/>
          <p:nvPr/>
        </p:nvSpPr>
        <p:spPr>
          <a:xfrm>
            <a:off x="256032" y="201168"/>
            <a:ext cx="5925312" cy="566928"/>
          </a:xfrm>
          <a:prstGeom prst="rect">
            <a:avLst/>
          </a:prstGeom>
          <a:noFill/>
          <a:ln/>
        </p:spPr>
        <p:txBody>
          <a:bodyPr wrap="square" lIns="0" tIns="0" rIns="0" bIns="0" rtlCol="0" anchor="ctr">
            <a:normAutofit/>
          </a:bodyPr>
          <a:lstStyle/>
          <a:p>
            <a:pPr indent="0" marL="0">
              <a:buNone/>
            </a:pPr>
            <a:r>
              <a:rPr lang="en-US" sz="2200" b="1" dirty="0">
                <a:solidFill>
                  <a:srgbClr val="1B2A4A"/>
                </a:solidFill>
                <a:latin typeface="Calibri" pitchFamily="34" charset="0"/>
                <a:ea typeface="Calibri" pitchFamily="34" charset="-122"/>
                <a:cs typeface="Calibri" pitchFamily="34" charset="-120"/>
              </a:rPr>
              <a:t>What Our Model Retains vs Common Simplified Furuta Models</a:t>
            </a:r>
            <a:endParaRPr lang="en-US" sz="2200" dirty="0"/>
          </a:p>
        </p:txBody>
      </p:sp>
      <p:sp>
        <p:nvSpPr>
          <p:cNvPr id="6" name="Text 4"/>
          <p:cNvSpPr/>
          <p:nvPr/>
        </p:nvSpPr>
        <p:spPr>
          <a:xfrm>
            <a:off x="256032" y="768096"/>
            <a:ext cx="8686800" cy="274320"/>
          </a:xfrm>
          <a:prstGeom prst="rect">
            <a:avLst/>
          </a:prstGeom>
          <a:noFill/>
          <a:ln/>
        </p:spPr>
        <p:txBody>
          <a:bodyPr wrap="square" lIns="0" tIns="0" rIns="0" bIns="0" rtlCol="0" anchor="ctr">
            <a:normAutofit/>
          </a:bodyPr>
          <a:lstStyle/>
          <a:p>
            <a:pPr indent="0" marL="0">
              <a:buNone/>
            </a:pPr>
            <a:r>
              <a:rPr lang="en-US" sz="1200" i="1" dirty="0">
                <a:solidFill>
                  <a:srgbClr val="64748B"/>
                </a:solidFill>
                <a:latin typeface="Calibri" pitchFamily="34" charset="0"/>
                <a:ea typeface="Calibri" pitchFamily="34" charset="-122"/>
                <a:cs typeface="Calibri" pitchFamily="34" charset="-120"/>
              </a:rPr>
              <a:t>The point is not rhetorical superiority; it is that several small-looking terms are exactly the ones that matter when you move from a teaching model to a custom stepper rig.</a:t>
            </a:r>
            <a:endParaRPr lang="en-US" sz="1200" dirty="0"/>
          </a:p>
        </p:txBody>
      </p:sp>
      <p:sp>
        <p:nvSpPr>
          <p:cNvPr id="7" name="Shape 5"/>
          <p:cNvSpPr/>
          <p:nvPr/>
        </p:nvSpPr>
        <p:spPr>
          <a:xfrm>
            <a:off x="256032" y="822960"/>
            <a:ext cx="8631936" cy="0"/>
          </a:xfrm>
          <a:prstGeom prst="line">
            <a:avLst/>
          </a:prstGeom>
          <a:noFill/>
          <a:ln w="9525">
            <a:solidFill>
              <a:srgbClr val="D97706"/>
            </a:solidFill>
            <a:prstDash val="solid"/>
          </a:ln>
        </p:spPr>
      </p:sp>
      <p:sp>
        <p:nvSpPr>
          <p:cNvPr id="8" name="Shape 6"/>
          <p:cNvSpPr/>
          <p:nvPr/>
        </p:nvSpPr>
        <p:spPr>
          <a:xfrm>
            <a:off x="502920" y="1170432"/>
            <a:ext cx="2727960" cy="388620"/>
          </a:xfrm>
          <a:prstGeom prst="rect">
            <a:avLst/>
          </a:prstGeom>
          <a:solidFill>
            <a:srgbClr val="FEF3C7"/>
          </a:solidFill>
          <a:ln w="6350">
            <a:solidFill>
              <a:srgbClr val="DDE3EC"/>
            </a:solidFill>
            <a:prstDash val="solid"/>
          </a:ln>
        </p:spPr>
      </p:sp>
      <p:sp>
        <p:nvSpPr>
          <p:cNvPr id="9" name="Text 7"/>
          <p:cNvSpPr/>
          <p:nvPr/>
        </p:nvSpPr>
        <p:spPr>
          <a:xfrm>
            <a:off x="557784" y="1216152"/>
            <a:ext cx="2618232" cy="297180"/>
          </a:xfrm>
          <a:prstGeom prst="rect">
            <a:avLst/>
          </a:prstGeom>
          <a:noFill/>
          <a:ln/>
        </p:spPr>
        <p:txBody>
          <a:bodyPr wrap="square" lIns="0" tIns="0" rIns="0" bIns="0" rtlCol="0" anchor="ctr">
            <a:normAutofit/>
          </a:bodyPr>
          <a:lstStyle/>
          <a:p>
            <a:pPr algn="ctr" indent="0" marL="0">
              <a:buNone/>
            </a:pPr>
            <a:r>
              <a:rPr lang="en-US" sz="950" b="1" dirty="0">
                <a:solidFill>
                  <a:srgbClr val="1B2A4A"/>
                </a:solidFill>
                <a:latin typeface="Calibri" pitchFamily="34" charset="0"/>
                <a:ea typeface="Calibri" pitchFamily="34" charset="-122"/>
                <a:cs typeface="Calibri" pitchFamily="34" charset="-120"/>
              </a:rPr>
              <a:t>Feature</a:t>
            </a:r>
            <a:endParaRPr lang="en-US" sz="950" dirty="0"/>
          </a:p>
        </p:txBody>
      </p:sp>
      <p:sp>
        <p:nvSpPr>
          <p:cNvPr id="10" name="Shape 8"/>
          <p:cNvSpPr/>
          <p:nvPr/>
        </p:nvSpPr>
        <p:spPr>
          <a:xfrm>
            <a:off x="3230880" y="1170432"/>
            <a:ext cx="2727960" cy="388620"/>
          </a:xfrm>
          <a:prstGeom prst="rect">
            <a:avLst/>
          </a:prstGeom>
          <a:solidFill>
            <a:srgbClr val="FEF3C7"/>
          </a:solidFill>
          <a:ln w="6350">
            <a:solidFill>
              <a:srgbClr val="DDE3EC"/>
            </a:solidFill>
            <a:prstDash val="solid"/>
          </a:ln>
        </p:spPr>
      </p:sp>
      <p:sp>
        <p:nvSpPr>
          <p:cNvPr id="11" name="Text 9"/>
          <p:cNvSpPr/>
          <p:nvPr/>
        </p:nvSpPr>
        <p:spPr>
          <a:xfrm>
            <a:off x="3285744" y="1216152"/>
            <a:ext cx="2618232" cy="297180"/>
          </a:xfrm>
          <a:prstGeom prst="rect">
            <a:avLst/>
          </a:prstGeom>
          <a:noFill/>
          <a:ln/>
        </p:spPr>
        <p:txBody>
          <a:bodyPr wrap="square" lIns="0" tIns="0" rIns="0" bIns="0" rtlCol="0" anchor="ctr">
            <a:normAutofit/>
          </a:bodyPr>
          <a:lstStyle/>
          <a:p>
            <a:pPr algn="ctr" indent="0" marL="0">
              <a:buNone/>
            </a:pPr>
            <a:r>
              <a:rPr lang="en-US" sz="950" b="1" dirty="0">
                <a:solidFill>
                  <a:srgbClr val="1B2A4A"/>
                </a:solidFill>
                <a:latin typeface="Calibri" pitchFamily="34" charset="0"/>
                <a:ea typeface="Calibri" pitchFamily="34" charset="-122"/>
                <a:cs typeface="Calibri" pitchFamily="34" charset="-120"/>
              </a:rPr>
              <a:t>Common simplified model</a:t>
            </a:r>
            <a:endParaRPr lang="en-US" sz="950" dirty="0"/>
          </a:p>
        </p:txBody>
      </p:sp>
      <p:sp>
        <p:nvSpPr>
          <p:cNvPr id="12" name="Shape 10"/>
          <p:cNvSpPr/>
          <p:nvPr/>
        </p:nvSpPr>
        <p:spPr>
          <a:xfrm>
            <a:off x="5958840" y="1170432"/>
            <a:ext cx="2727960" cy="388620"/>
          </a:xfrm>
          <a:prstGeom prst="rect">
            <a:avLst/>
          </a:prstGeom>
          <a:solidFill>
            <a:srgbClr val="FEF3C7"/>
          </a:solidFill>
          <a:ln w="6350">
            <a:solidFill>
              <a:srgbClr val="DDE3EC"/>
            </a:solidFill>
            <a:prstDash val="solid"/>
          </a:ln>
        </p:spPr>
      </p:sp>
      <p:sp>
        <p:nvSpPr>
          <p:cNvPr id="13" name="Text 11"/>
          <p:cNvSpPr/>
          <p:nvPr/>
        </p:nvSpPr>
        <p:spPr>
          <a:xfrm>
            <a:off x="6013704" y="1216152"/>
            <a:ext cx="2618232" cy="297180"/>
          </a:xfrm>
          <a:prstGeom prst="rect">
            <a:avLst/>
          </a:prstGeom>
          <a:noFill/>
          <a:ln/>
        </p:spPr>
        <p:txBody>
          <a:bodyPr wrap="square" lIns="0" tIns="0" rIns="0" bIns="0" rtlCol="0" anchor="ctr">
            <a:normAutofit/>
          </a:bodyPr>
          <a:lstStyle/>
          <a:p>
            <a:pPr algn="ctr" indent="0" marL="0">
              <a:buNone/>
            </a:pPr>
            <a:r>
              <a:rPr lang="en-US" sz="950" b="1" dirty="0">
                <a:solidFill>
                  <a:srgbClr val="1B2A4A"/>
                </a:solidFill>
                <a:latin typeface="Calibri" pitchFamily="34" charset="0"/>
                <a:ea typeface="Calibri" pitchFamily="34" charset="-122"/>
                <a:cs typeface="Calibri" pitchFamily="34" charset="-120"/>
              </a:rPr>
              <a:t>This thesis model</a:t>
            </a:r>
            <a:endParaRPr lang="en-US" sz="950" dirty="0"/>
          </a:p>
        </p:txBody>
      </p:sp>
      <p:sp>
        <p:nvSpPr>
          <p:cNvPr id="14" name="Shape 12"/>
          <p:cNvSpPr/>
          <p:nvPr/>
        </p:nvSpPr>
        <p:spPr>
          <a:xfrm>
            <a:off x="502920" y="1559052"/>
            <a:ext cx="2727960" cy="388620"/>
          </a:xfrm>
          <a:prstGeom prst="rect">
            <a:avLst/>
          </a:prstGeom>
          <a:solidFill>
            <a:srgbClr val="FFFFFF"/>
          </a:solidFill>
          <a:ln w="6350">
            <a:solidFill>
              <a:srgbClr val="DDE3EC"/>
            </a:solidFill>
            <a:prstDash val="solid"/>
          </a:ln>
        </p:spPr>
      </p:sp>
      <p:sp>
        <p:nvSpPr>
          <p:cNvPr id="15" name="Text 13"/>
          <p:cNvSpPr/>
          <p:nvPr/>
        </p:nvSpPr>
        <p:spPr>
          <a:xfrm>
            <a:off x="557784" y="1604772"/>
            <a:ext cx="2618232" cy="297180"/>
          </a:xfrm>
          <a:prstGeom prst="rect">
            <a:avLst/>
          </a:prstGeom>
          <a:noFill/>
          <a:ln/>
        </p:spPr>
        <p:txBody>
          <a:bodyPr wrap="square" lIns="0" tIns="0" rIns="0" bIns="0" rtlCol="0" anchor="ctr">
            <a:normAutofit/>
          </a:bodyPr>
          <a:lstStyle/>
          <a:p>
            <a:pPr algn="ctr" indent="0" marL="0">
              <a:buNone/>
            </a:pPr>
            <a:r>
              <a:rPr lang="en-US" sz="900" dirty="0">
                <a:solidFill>
                  <a:srgbClr val="3D5472"/>
                </a:solidFill>
                <a:latin typeface="Calibri" pitchFamily="34" charset="0"/>
                <a:ea typeface="Calibri" pitchFamily="34" charset="-122"/>
                <a:cs typeface="Calibri" pitchFamily="34" charset="-120"/>
              </a:rPr>
              <a:t>Pendulum geometry</a:t>
            </a:r>
            <a:endParaRPr lang="en-US" sz="900" dirty="0"/>
          </a:p>
        </p:txBody>
      </p:sp>
      <p:sp>
        <p:nvSpPr>
          <p:cNvPr id="16" name="Shape 14"/>
          <p:cNvSpPr/>
          <p:nvPr/>
        </p:nvSpPr>
        <p:spPr>
          <a:xfrm>
            <a:off x="3230880" y="1559052"/>
            <a:ext cx="2727960" cy="388620"/>
          </a:xfrm>
          <a:prstGeom prst="rect">
            <a:avLst/>
          </a:prstGeom>
          <a:solidFill>
            <a:srgbClr val="FFFFFF"/>
          </a:solidFill>
          <a:ln w="6350">
            <a:solidFill>
              <a:srgbClr val="DDE3EC"/>
            </a:solidFill>
            <a:prstDash val="solid"/>
          </a:ln>
        </p:spPr>
      </p:sp>
      <p:sp>
        <p:nvSpPr>
          <p:cNvPr id="17" name="Text 15"/>
          <p:cNvSpPr/>
          <p:nvPr/>
        </p:nvSpPr>
        <p:spPr>
          <a:xfrm>
            <a:off x="3285744" y="1604772"/>
            <a:ext cx="2618232" cy="297180"/>
          </a:xfrm>
          <a:prstGeom prst="rect">
            <a:avLst/>
          </a:prstGeom>
          <a:noFill/>
          <a:ln/>
        </p:spPr>
        <p:txBody>
          <a:bodyPr wrap="square" lIns="0" tIns="0" rIns="0" bIns="0" rtlCol="0" anchor="ctr">
            <a:normAutofit/>
          </a:bodyPr>
          <a:lstStyle/>
          <a:p>
            <a:pPr algn="ctr" indent="0" marL="0">
              <a:buNone/>
            </a:pPr>
            <a:r>
              <a:rPr lang="en-US" sz="900" dirty="0">
                <a:solidFill>
                  <a:srgbClr val="3D5472"/>
                </a:solidFill>
                <a:latin typeface="Calibri" pitchFamily="34" charset="0"/>
                <a:ea typeface="Calibri" pitchFamily="34" charset="-122"/>
                <a:cs typeface="Calibri" pitchFamily="34" charset="-120"/>
              </a:rPr>
              <a:t>Uniform rod abstraction</a:t>
            </a:r>
            <a:endParaRPr lang="en-US" sz="900" dirty="0"/>
          </a:p>
        </p:txBody>
      </p:sp>
      <p:sp>
        <p:nvSpPr>
          <p:cNvPr id="18" name="Shape 16"/>
          <p:cNvSpPr/>
          <p:nvPr/>
        </p:nvSpPr>
        <p:spPr>
          <a:xfrm>
            <a:off x="5958840" y="1559052"/>
            <a:ext cx="2727960" cy="388620"/>
          </a:xfrm>
          <a:prstGeom prst="rect">
            <a:avLst/>
          </a:prstGeom>
          <a:solidFill>
            <a:srgbClr val="FFFFFF"/>
          </a:solidFill>
          <a:ln w="6350">
            <a:solidFill>
              <a:srgbClr val="DDE3EC"/>
            </a:solidFill>
            <a:prstDash val="solid"/>
          </a:ln>
        </p:spPr>
      </p:sp>
      <p:sp>
        <p:nvSpPr>
          <p:cNvPr id="19" name="Text 17"/>
          <p:cNvSpPr/>
          <p:nvPr/>
        </p:nvSpPr>
        <p:spPr>
          <a:xfrm>
            <a:off x="6013704" y="1604772"/>
            <a:ext cx="2618232" cy="297180"/>
          </a:xfrm>
          <a:prstGeom prst="rect">
            <a:avLst/>
          </a:prstGeom>
          <a:noFill/>
          <a:ln/>
        </p:spPr>
        <p:txBody>
          <a:bodyPr wrap="square" lIns="0" tIns="0" rIns="0" bIns="0" rtlCol="0" anchor="ctr">
            <a:normAutofit/>
          </a:bodyPr>
          <a:lstStyle/>
          <a:p>
            <a:pPr algn="ctr" indent="0" marL="0">
              <a:buNone/>
            </a:pPr>
            <a:r>
              <a:rPr lang="en-US" sz="900" dirty="0">
                <a:solidFill>
                  <a:srgbClr val="3D5472"/>
                </a:solidFill>
                <a:latin typeface="Calibri" pitchFamily="34" charset="0"/>
                <a:ea typeface="Calibri" pitchFamily="34" charset="-122"/>
                <a:cs typeface="Calibri" pitchFamily="34" charset="-120"/>
              </a:rPr>
              <a:t>Actual L-shaped geometry with shaft mass separated from swinging mass</a:t>
            </a:r>
            <a:endParaRPr lang="en-US" sz="900" dirty="0"/>
          </a:p>
        </p:txBody>
      </p:sp>
      <p:sp>
        <p:nvSpPr>
          <p:cNvPr id="20" name="Shape 18"/>
          <p:cNvSpPr/>
          <p:nvPr/>
        </p:nvSpPr>
        <p:spPr>
          <a:xfrm>
            <a:off x="502920" y="1947672"/>
            <a:ext cx="2727960" cy="388620"/>
          </a:xfrm>
          <a:prstGeom prst="rect">
            <a:avLst/>
          </a:prstGeom>
          <a:solidFill>
            <a:srgbClr val="FFFFFF"/>
          </a:solidFill>
          <a:ln w="6350">
            <a:solidFill>
              <a:srgbClr val="DDE3EC"/>
            </a:solidFill>
            <a:prstDash val="solid"/>
          </a:ln>
        </p:spPr>
      </p:sp>
      <p:sp>
        <p:nvSpPr>
          <p:cNvPr id="21" name="Text 19"/>
          <p:cNvSpPr/>
          <p:nvPr/>
        </p:nvSpPr>
        <p:spPr>
          <a:xfrm>
            <a:off x="557784" y="1993392"/>
            <a:ext cx="2618232" cy="297180"/>
          </a:xfrm>
          <a:prstGeom prst="rect">
            <a:avLst/>
          </a:prstGeom>
          <a:noFill/>
          <a:ln/>
        </p:spPr>
        <p:txBody>
          <a:bodyPr wrap="square" lIns="0" tIns="0" rIns="0" bIns="0" rtlCol="0" anchor="ctr">
            <a:normAutofit/>
          </a:bodyPr>
          <a:lstStyle/>
          <a:p>
            <a:pPr algn="ctr" indent="0" marL="0">
              <a:buNone/>
            </a:pPr>
            <a:r>
              <a:rPr lang="en-US" sz="900" dirty="0">
                <a:solidFill>
                  <a:srgbClr val="3D5472"/>
                </a:solidFill>
                <a:latin typeface="Calibri" pitchFamily="34" charset="0"/>
                <a:ea typeface="Calibri" pitchFamily="34" charset="-122"/>
                <a:cs typeface="Calibri" pitchFamily="34" charset="-120"/>
              </a:rPr>
              <a:t>Yaw inertia term</a:t>
            </a:r>
            <a:endParaRPr lang="en-US" sz="900" dirty="0"/>
          </a:p>
        </p:txBody>
      </p:sp>
      <p:sp>
        <p:nvSpPr>
          <p:cNvPr id="22" name="Shape 20"/>
          <p:cNvSpPr/>
          <p:nvPr/>
        </p:nvSpPr>
        <p:spPr>
          <a:xfrm>
            <a:off x="3230880" y="1947672"/>
            <a:ext cx="2727960" cy="388620"/>
          </a:xfrm>
          <a:prstGeom prst="rect">
            <a:avLst/>
          </a:prstGeom>
          <a:solidFill>
            <a:srgbClr val="FFFFFF"/>
          </a:solidFill>
          <a:ln w="6350">
            <a:solidFill>
              <a:srgbClr val="DDE3EC"/>
            </a:solidFill>
            <a:prstDash val="solid"/>
          </a:ln>
        </p:spPr>
      </p:sp>
      <p:sp>
        <p:nvSpPr>
          <p:cNvPr id="23" name="Text 21"/>
          <p:cNvSpPr/>
          <p:nvPr/>
        </p:nvSpPr>
        <p:spPr>
          <a:xfrm>
            <a:off x="3285744" y="1993392"/>
            <a:ext cx="2618232" cy="297180"/>
          </a:xfrm>
          <a:prstGeom prst="rect">
            <a:avLst/>
          </a:prstGeom>
          <a:noFill/>
          <a:ln/>
        </p:spPr>
        <p:txBody>
          <a:bodyPr wrap="square" lIns="0" tIns="0" rIns="0" bIns="0" rtlCol="0" anchor="ctr">
            <a:normAutofit/>
          </a:bodyPr>
          <a:lstStyle/>
          <a:p>
            <a:pPr algn="ctr" indent="0" marL="0">
              <a:buNone/>
            </a:pPr>
            <a:r>
              <a:rPr lang="en-US" sz="900" dirty="0">
                <a:solidFill>
                  <a:srgbClr val="3D5472"/>
                </a:solidFill>
                <a:latin typeface="Calibri" pitchFamily="34" charset="0"/>
                <a:ea typeface="Calibri" pitchFamily="34" charset="-122"/>
                <a:cs typeface="Calibri" pitchFamily="34" charset="-120"/>
              </a:rPr>
              <a:t>Often constant</a:t>
            </a:r>
            <a:endParaRPr lang="en-US" sz="900" dirty="0"/>
          </a:p>
        </p:txBody>
      </p:sp>
      <p:sp>
        <p:nvSpPr>
          <p:cNvPr id="24" name="Shape 22"/>
          <p:cNvSpPr/>
          <p:nvPr/>
        </p:nvSpPr>
        <p:spPr>
          <a:xfrm>
            <a:off x="5958840" y="1947672"/>
            <a:ext cx="2727960" cy="388620"/>
          </a:xfrm>
          <a:prstGeom prst="rect">
            <a:avLst/>
          </a:prstGeom>
          <a:solidFill>
            <a:srgbClr val="FFFFFF"/>
          </a:solidFill>
          <a:ln w="6350">
            <a:solidFill>
              <a:srgbClr val="DDE3EC"/>
            </a:solidFill>
            <a:prstDash val="solid"/>
          </a:ln>
        </p:spPr>
      </p:sp>
      <p:sp>
        <p:nvSpPr>
          <p:cNvPr id="25" name="Text 23"/>
          <p:cNvSpPr/>
          <p:nvPr/>
        </p:nvSpPr>
        <p:spPr>
          <a:xfrm>
            <a:off x="6013704" y="1993392"/>
            <a:ext cx="2618232" cy="297180"/>
          </a:xfrm>
          <a:prstGeom prst="rect">
            <a:avLst/>
          </a:prstGeom>
          <a:noFill/>
          <a:ln/>
        </p:spPr>
        <p:txBody>
          <a:bodyPr wrap="square" lIns="0" tIns="0" rIns="0" bIns="0" rtlCol="0" anchor="ctr">
            <a:normAutofit/>
          </a:bodyPr>
          <a:lstStyle/>
          <a:p>
            <a:pPr algn="ctr" indent="0" marL="0">
              <a:buNone/>
            </a:pPr>
            <a:r>
              <a:rPr lang="en-US" sz="900" dirty="0">
                <a:solidFill>
                  <a:srgbClr val="3D5472"/>
                </a:solidFill>
                <a:latin typeface="Calibri" pitchFamily="34" charset="0"/>
                <a:ea typeface="Calibri" pitchFamily="34" charset="-122"/>
                <a:cs typeface="Calibri" pitchFamily="34" charset="-120"/>
              </a:rPr>
              <a:t>Retains $\hat J_2\sin^2\alpha$ inside the mass matrix</a:t>
            </a:r>
            <a:endParaRPr lang="en-US" sz="900" dirty="0"/>
          </a:p>
        </p:txBody>
      </p:sp>
      <p:sp>
        <p:nvSpPr>
          <p:cNvPr id="26" name="Shape 24"/>
          <p:cNvSpPr/>
          <p:nvPr/>
        </p:nvSpPr>
        <p:spPr>
          <a:xfrm>
            <a:off x="502920" y="2336292"/>
            <a:ext cx="2727960" cy="388620"/>
          </a:xfrm>
          <a:prstGeom prst="rect">
            <a:avLst/>
          </a:prstGeom>
          <a:solidFill>
            <a:srgbClr val="FFFFFF"/>
          </a:solidFill>
          <a:ln w="6350">
            <a:solidFill>
              <a:srgbClr val="DDE3EC"/>
            </a:solidFill>
            <a:prstDash val="solid"/>
          </a:ln>
        </p:spPr>
      </p:sp>
      <p:sp>
        <p:nvSpPr>
          <p:cNvPr id="27" name="Text 25"/>
          <p:cNvSpPr/>
          <p:nvPr/>
        </p:nvSpPr>
        <p:spPr>
          <a:xfrm>
            <a:off x="557784" y="2382012"/>
            <a:ext cx="2618232" cy="297180"/>
          </a:xfrm>
          <a:prstGeom prst="rect">
            <a:avLst/>
          </a:prstGeom>
          <a:noFill/>
          <a:ln/>
        </p:spPr>
        <p:txBody>
          <a:bodyPr wrap="square" lIns="0" tIns="0" rIns="0" bIns="0" rtlCol="0" anchor="ctr">
            <a:normAutofit/>
          </a:bodyPr>
          <a:lstStyle/>
          <a:p>
            <a:pPr algn="ctr" indent="0" marL="0">
              <a:buNone/>
            </a:pPr>
            <a:r>
              <a:rPr lang="en-US" sz="900" dirty="0">
                <a:solidFill>
                  <a:srgbClr val="3D5472"/>
                </a:solidFill>
                <a:latin typeface="Calibri" pitchFamily="34" charset="0"/>
                <a:ea typeface="Calibri" pitchFamily="34" charset="-122"/>
                <a:cs typeface="Calibri" pitchFamily="34" charset="-120"/>
              </a:rPr>
              <a:t>Pendulum rotational KE</a:t>
            </a:r>
            <a:endParaRPr lang="en-US" sz="900" dirty="0"/>
          </a:p>
        </p:txBody>
      </p:sp>
      <p:sp>
        <p:nvSpPr>
          <p:cNvPr id="28" name="Shape 26"/>
          <p:cNvSpPr/>
          <p:nvPr/>
        </p:nvSpPr>
        <p:spPr>
          <a:xfrm>
            <a:off x="3230880" y="2336292"/>
            <a:ext cx="2727960" cy="388620"/>
          </a:xfrm>
          <a:prstGeom prst="rect">
            <a:avLst/>
          </a:prstGeom>
          <a:solidFill>
            <a:srgbClr val="FFFFFF"/>
          </a:solidFill>
          <a:ln w="6350">
            <a:solidFill>
              <a:srgbClr val="DDE3EC"/>
            </a:solidFill>
            <a:prstDash val="solid"/>
          </a:ln>
        </p:spPr>
      </p:sp>
      <p:sp>
        <p:nvSpPr>
          <p:cNvPr id="29" name="Text 27"/>
          <p:cNvSpPr/>
          <p:nvPr/>
        </p:nvSpPr>
        <p:spPr>
          <a:xfrm>
            <a:off x="3285744" y="2382012"/>
            <a:ext cx="2618232" cy="297180"/>
          </a:xfrm>
          <a:prstGeom prst="rect">
            <a:avLst/>
          </a:prstGeom>
          <a:noFill/>
          <a:ln/>
        </p:spPr>
        <p:txBody>
          <a:bodyPr wrap="square" lIns="0" tIns="0" rIns="0" bIns="0" rtlCol="0" anchor="ctr">
            <a:normAutofit/>
          </a:bodyPr>
          <a:lstStyle/>
          <a:p>
            <a:pPr algn="ctr" indent="0" marL="0">
              <a:buNone/>
            </a:pPr>
            <a:r>
              <a:rPr lang="en-US" sz="900" dirty="0">
                <a:solidFill>
                  <a:srgbClr val="3D5472"/>
                </a:solidFill>
                <a:latin typeface="Calibri" pitchFamily="34" charset="0"/>
                <a:ea typeface="Calibri" pitchFamily="34" charset="-122"/>
                <a:cs typeface="Calibri" pitchFamily="34" charset="-120"/>
              </a:rPr>
              <a:t>Often collapsed or omitted</a:t>
            </a:r>
            <a:endParaRPr lang="en-US" sz="900" dirty="0"/>
          </a:p>
        </p:txBody>
      </p:sp>
      <p:sp>
        <p:nvSpPr>
          <p:cNvPr id="30" name="Shape 28"/>
          <p:cNvSpPr/>
          <p:nvPr/>
        </p:nvSpPr>
        <p:spPr>
          <a:xfrm>
            <a:off x="5958840" y="2336292"/>
            <a:ext cx="2727960" cy="388620"/>
          </a:xfrm>
          <a:prstGeom prst="rect">
            <a:avLst/>
          </a:prstGeom>
          <a:solidFill>
            <a:srgbClr val="FFFFFF"/>
          </a:solidFill>
          <a:ln w="6350">
            <a:solidFill>
              <a:srgbClr val="DDE3EC"/>
            </a:solidFill>
            <a:prstDash val="solid"/>
          </a:ln>
        </p:spPr>
      </p:sp>
      <p:sp>
        <p:nvSpPr>
          <p:cNvPr id="31" name="Text 29"/>
          <p:cNvSpPr/>
          <p:nvPr/>
        </p:nvSpPr>
        <p:spPr>
          <a:xfrm>
            <a:off x="6013704" y="2382012"/>
            <a:ext cx="2618232" cy="297180"/>
          </a:xfrm>
          <a:prstGeom prst="rect">
            <a:avLst/>
          </a:prstGeom>
          <a:noFill/>
          <a:ln/>
        </p:spPr>
        <p:txBody>
          <a:bodyPr wrap="square" lIns="0" tIns="0" rIns="0" bIns="0" rtlCol="0" anchor="ctr">
            <a:normAutofit/>
          </a:bodyPr>
          <a:lstStyle/>
          <a:p>
            <a:pPr algn="ctr" indent="0" marL="0">
              <a:buNone/>
            </a:pPr>
            <a:r>
              <a:rPr lang="en-US" sz="900" dirty="0">
                <a:solidFill>
                  <a:srgbClr val="3D5472"/>
                </a:solidFill>
                <a:latin typeface="Calibri" pitchFamily="34" charset="0"/>
                <a:ea typeface="Calibri" pitchFamily="34" charset="-122"/>
                <a:cs typeface="Calibri" pitchFamily="34" charset="-120"/>
              </a:rPr>
              <a:t>Retains $T_{\mathrm{rot}}=\tfrac12J_p(\dot\alpha^2+\sin^2\alpha\,\dot\theta^2)$</a:t>
            </a:r>
            <a:endParaRPr lang="en-US" sz="900" dirty="0"/>
          </a:p>
        </p:txBody>
      </p:sp>
      <p:sp>
        <p:nvSpPr>
          <p:cNvPr id="32" name="Shape 30"/>
          <p:cNvSpPr/>
          <p:nvPr/>
        </p:nvSpPr>
        <p:spPr>
          <a:xfrm>
            <a:off x="502920" y="2724912"/>
            <a:ext cx="2727960" cy="388620"/>
          </a:xfrm>
          <a:prstGeom prst="rect">
            <a:avLst/>
          </a:prstGeom>
          <a:solidFill>
            <a:srgbClr val="FFFFFF"/>
          </a:solidFill>
          <a:ln w="6350">
            <a:solidFill>
              <a:srgbClr val="DDE3EC"/>
            </a:solidFill>
            <a:prstDash val="solid"/>
          </a:ln>
        </p:spPr>
      </p:sp>
      <p:sp>
        <p:nvSpPr>
          <p:cNvPr id="33" name="Text 31"/>
          <p:cNvSpPr/>
          <p:nvPr/>
        </p:nvSpPr>
        <p:spPr>
          <a:xfrm>
            <a:off x="557784" y="2770632"/>
            <a:ext cx="2618232" cy="297180"/>
          </a:xfrm>
          <a:prstGeom prst="rect">
            <a:avLst/>
          </a:prstGeom>
          <a:noFill/>
          <a:ln/>
        </p:spPr>
        <p:txBody>
          <a:bodyPr wrap="square" lIns="0" tIns="0" rIns="0" bIns="0" rtlCol="0" anchor="ctr">
            <a:normAutofit/>
          </a:bodyPr>
          <a:lstStyle/>
          <a:p>
            <a:pPr algn="ctr" indent="0" marL="0">
              <a:buNone/>
            </a:pPr>
            <a:r>
              <a:rPr lang="en-US" sz="900" dirty="0">
                <a:solidFill>
                  <a:srgbClr val="3D5472"/>
                </a:solidFill>
                <a:latin typeface="Calibri" pitchFamily="34" charset="0"/>
                <a:ea typeface="Calibri" pitchFamily="34" charset="-122"/>
                <a:cs typeface="Calibri" pitchFamily="34" charset="-120"/>
              </a:rPr>
              <a:t>Centrifugal coupling</a:t>
            </a:r>
            <a:endParaRPr lang="en-US" sz="900" dirty="0"/>
          </a:p>
        </p:txBody>
      </p:sp>
      <p:sp>
        <p:nvSpPr>
          <p:cNvPr id="34" name="Shape 32"/>
          <p:cNvSpPr/>
          <p:nvPr/>
        </p:nvSpPr>
        <p:spPr>
          <a:xfrm>
            <a:off x="3230880" y="2724912"/>
            <a:ext cx="2727960" cy="388620"/>
          </a:xfrm>
          <a:prstGeom prst="rect">
            <a:avLst/>
          </a:prstGeom>
          <a:solidFill>
            <a:srgbClr val="FFFFFF"/>
          </a:solidFill>
          <a:ln w="6350">
            <a:solidFill>
              <a:srgbClr val="DDE3EC"/>
            </a:solidFill>
            <a:prstDash val="solid"/>
          </a:ln>
        </p:spPr>
      </p:sp>
      <p:sp>
        <p:nvSpPr>
          <p:cNvPr id="35" name="Text 33"/>
          <p:cNvSpPr/>
          <p:nvPr/>
        </p:nvSpPr>
        <p:spPr>
          <a:xfrm>
            <a:off x="3285744" y="2770632"/>
            <a:ext cx="2618232" cy="297180"/>
          </a:xfrm>
          <a:prstGeom prst="rect">
            <a:avLst/>
          </a:prstGeom>
          <a:noFill/>
          <a:ln/>
        </p:spPr>
        <p:txBody>
          <a:bodyPr wrap="square" lIns="0" tIns="0" rIns="0" bIns="0" rtlCol="0" anchor="ctr">
            <a:normAutofit/>
          </a:bodyPr>
          <a:lstStyle/>
          <a:p>
            <a:pPr algn="ctr" indent="0" marL="0">
              <a:buNone/>
            </a:pPr>
            <a:r>
              <a:rPr lang="en-US" sz="900" dirty="0">
                <a:solidFill>
                  <a:srgbClr val="3D5472"/>
                </a:solidFill>
                <a:latin typeface="Calibri" pitchFamily="34" charset="0"/>
                <a:ea typeface="Calibri" pitchFamily="34" charset="-122"/>
                <a:cs typeface="Calibri" pitchFamily="34" charset="-120"/>
              </a:rPr>
              <a:t>Often dropped near upright</a:t>
            </a:r>
            <a:endParaRPr lang="en-US" sz="900" dirty="0"/>
          </a:p>
        </p:txBody>
      </p:sp>
      <p:sp>
        <p:nvSpPr>
          <p:cNvPr id="36" name="Shape 34"/>
          <p:cNvSpPr/>
          <p:nvPr/>
        </p:nvSpPr>
        <p:spPr>
          <a:xfrm>
            <a:off x="5958840" y="2724912"/>
            <a:ext cx="2727960" cy="388620"/>
          </a:xfrm>
          <a:prstGeom prst="rect">
            <a:avLst/>
          </a:prstGeom>
          <a:solidFill>
            <a:srgbClr val="FFFFFF"/>
          </a:solidFill>
          <a:ln w="6350">
            <a:solidFill>
              <a:srgbClr val="DDE3EC"/>
            </a:solidFill>
            <a:prstDash val="solid"/>
          </a:ln>
        </p:spPr>
      </p:sp>
      <p:sp>
        <p:nvSpPr>
          <p:cNvPr id="37" name="Text 35"/>
          <p:cNvSpPr/>
          <p:nvPr/>
        </p:nvSpPr>
        <p:spPr>
          <a:xfrm>
            <a:off x="6013704" y="2770632"/>
            <a:ext cx="2618232" cy="297180"/>
          </a:xfrm>
          <a:prstGeom prst="rect">
            <a:avLst/>
          </a:prstGeom>
          <a:noFill/>
          <a:ln/>
        </p:spPr>
        <p:txBody>
          <a:bodyPr wrap="square" lIns="0" tIns="0" rIns="0" bIns="0" rtlCol="0" anchor="ctr">
            <a:normAutofit/>
          </a:bodyPr>
          <a:lstStyle/>
          <a:p>
            <a:pPr algn="ctr" indent="0" marL="0">
              <a:buNone/>
            </a:pPr>
            <a:r>
              <a:rPr lang="en-US" sz="900" dirty="0">
                <a:solidFill>
                  <a:srgbClr val="3D5472"/>
                </a:solidFill>
                <a:latin typeface="Calibri" pitchFamily="34" charset="0"/>
                <a:ea typeface="Calibri" pitchFamily="34" charset="-122"/>
                <a:cs typeface="Calibri" pitchFamily="34" charset="-120"/>
              </a:rPr>
              <a:t>Retains $\sin\alpha\cos\alpha\,\dot\theta^2$ explicitly</a:t>
            </a:r>
            <a:endParaRPr lang="en-US" sz="900" dirty="0"/>
          </a:p>
        </p:txBody>
      </p:sp>
      <p:sp>
        <p:nvSpPr>
          <p:cNvPr id="38" name="Shape 36"/>
          <p:cNvSpPr/>
          <p:nvPr/>
        </p:nvSpPr>
        <p:spPr>
          <a:xfrm>
            <a:off x="502920" y="3113532"/>
            <a:ext cx="2727960" cy="388620"/>
          </a:xfrm>
          <a:prstGeom prst="rect">
            <a:avLst/>
          </a:prstGeom>
          <a:solidFill>
            <a:srgbClr val="FFFFFF"/>
          </a:solidFill>
          <a:ln w="6350">
            <a:solidFill>
              <a:srgbClr val="DDE3EC"/>
            </a:solidFill>
            <a:prstDash val="solid"/>
          </a:ln>
        </p:spPr>
      </p:sp>
      <p:sp>
        <p:nvSpPr>
          <p:cNvPr id="39" name="Text 37"/>
          <p:cNvSpPr/>
          <p:nvPr/>
        </p:nvSpPr>
        <p:spPr>
          <a:xfrm>
            <a:off x="557784" y="3159252"/>
            <a:ext cx="2618232" cy="297180"/>
          </a:xfrm>
          <a:prstGeom prst="rect">
            <a:avLst/>
          </a:prstGeom>
          <a:noFill/>
          <a:ln/>
        </p:spPr>
        <p:txBody>
          <a:bodyPr wrap="square" lIns="0" tIns="0" rIns="0" bIns="0" rtlCol="0" anchor="ctr">
            <a:normAutofit/>
          </a:bodyPr>
          <a:lstStyle/>
          <a:p>
            <a:pPr algn="ctr" indent="0" marL="0">
              <a:buNone/>
            </a:pPr>
            <a:r>
              <a:rPr lang="en-US" sz="900" dirty="0">
                <a:solidFill>
                  <a:srgbClr val="3D5472"/>
                </a:solidFill>
                <a:latin typeface="Calibri" pitchFamily="34" charset="0"/>
                <a:ea typeface="Calibri" pitchFamily="34" charset="-122"/>
                <a:cs typeface="Calibri" pitchFamily="34" charset="-120"/>
              </a:rPr>
              <a:t>Control input used later</a:t>
            </a:r>
            <a:endParaRPr lang="en-US" sz="900" dirty="0"/>
          </a:p>
        </p:txBody>
      </p:sp>
      <p:sp>
        <p:nvSpPr>
          <p:cNvPr id="40" name="Shape 38"/>
          <p:cNvSpPr/>
          <p:nvPr/>
        </p:nvSpPr>
        <p:spPr>
          <a:xfrm>
            <a:off x="3230880" y="3113532"/>
            <a:ext cx="2727960" cy="388620"/>
          </a:xfrm>
          <a:prstGeom prst="rect">
            <a:avLst/>
          </a:prstGeom>
          <a:solidFill>
            <a:srgbClr val="FFFFFF"/>
          </a:solidFill>
          <a:ln w="6350">
            <a:solidFill>
              <a:srgbClr val="DDE3EC"/>
            </a:solidFill>
            <a:prstDash val="solid"/>
          </a:ln>
        </p:spPr>
      </p:sp>
      <p:sp>
        <p:nvSpPr>
          <p:cNvPr id="41" name="Text 39"/>
          <p:cNvSpPr/>
          <p:nvPr/>
        </p:nvSpPr>
        <p:spPr>
          <a:xfrm>
            <a:off x="3285744" y="3159252"/>
            <a:ext cx="2618232" cy="297180"/>
          </a:xfrm>
          <a:prstGeom prst="rect">
            <a:avLst/>
          </a:prstGeom>
          <a:noFill/>
          <a:ln/>
        </p:spPr>
        <p:txBody>
          <a:bodyPr wrap="square" lIns="0" tIns="0" rIns="0" bIns="0" rtlCol="0" anchor="ctr">
            <a:normAutofit/>
          </a:bodyPr>
          <a:lstStyle/>
          <a:p>
            <a:pPr algn="ctr" indent="0" marL="0">
              <a:buNone/>
            </a:pPr>
            <a:r>
              <a:rPr lang="en-US" sz="900" dirty="0">
                <a:solidFill>
                  <a:srgbClr val="3D5472"/>
                </a:solidFill>
                <a:latin typeface="Calibri" pitchFamily="34" charset="0"/>
                <a:ea typeface="Calibri" pitchFamily="34" charset="-122"/>
                <a:cs typeface="Calibri" pitchFamily="34" charset="-120"/>
              </a:rPr>
              <a:t>Motor torque</a:t>
            </a:r>
            <a:endParaRPr lang="en-US" sz="900" dirty="0"/>
          </a:p>
        </p:txBody>
      </p:sp>
      <p:sp>
        <p:nvSpPr>
          <p:cNvPr id="42" name="Shape 40"/>
          <p:cNvSpPr/>
          <p:nvPr/>
        </p:nvSpPr>
        <p:spPr>
          <a:xfrm>
            <a:off x="5958840" y="3113532"/>
            <a:ext cx="2727960" cy="388620"/>
          </a:xfrm>
          <a:prstGeom prst="rect">
            <a:avLst/>
          </a:prstGeom>
          <a:solidFill>
            <a:srgbClr val="FFFFFF"/>
          </a:solidFill>
          <a:ln w="6350">
            <a:solidFill>
              <a:srgbClr val="DDE3EC"/>
            </a:solidFill>
            <a:prstDash val="solid"/>
          </a:ln>
        </p:spPr>
      </p:sp>
      <p:sp>
        <p:nvSpPr>
          <p:cNvPr id="43" name="Text 41"/>
          <p:cNvSpPr/>
          <p:nvPr/>
        </p:nvSpPr>
        <p:spPr>
          <a:xfrm>
            <a:off x="6013704" y="3159252"/>
            <a:ext cx="2618232" cy="297180"/>
          </a:xfrm>
          <a:prstGeom prst="rect">
            <a:avLst/>
          </a:prstGeom>
          <a:noFill/>
          <a:ln/>
        </p:spPr>
        <p:txBody>
          <a:bodyPr wrap="square" lIns="0" tIns="0" rIns="0" bIns="0" rtlCol="0" anchor="ctr">
            <a:normAutofit/>
          </a:bodyPr>
          <a:lstStyle/>
          <a:p>
            <a:pPr algn="ctr" indent="0" marL="0">
              <a:buNone/>
            </a:pPr>
            <a:r>
              <a:rPr lang="en-US" sz="900" dirty="0">
                <a:solidFill>
                  <a:srgbClr val="3D5472"/>
                </a:solidFill>
                <a:latin typeface="Calibri" pitchFamily="34" charset="0"/>
                <a:ea typeface="Calibri" pitchFamily="34" charset="-122"/>
                <a:cs typeface="Calibri" pitchFamily="34" charset="-120"/>
              </a:rPr>
              <a:t>Commanded base acceleration matched to firmware architecture</a:t>
            </a:r>
            <a:endParaRPr lang="en-US" sz="900" dirty="0"/>
          </a:p>
        </p:txBody>
      </p:sp>
      <p:sp>
        <p:nvSpPr>
          <p:cNvPr id="44" name="Shape 42"/>
          <p:cNvSpPr/>
          <p:nvPr/>
        </p:nvSpPr>
        <p:spPr>
          <a:xfrm>
            <a:off x="502920" y="3703320"/>
            <a:ext cx="8183880" cy="548640"/>
          </a:xfrm>
          <a:prstGeom prst="rect">
            <a:avLst/>
          </a:prstGeom>
          <a:solidFill>
            <a:srgbClr val="FFFBEB"/>
          </a:solidFill>
          <a:ln w="6350">
            <a:solidFill>
              <a:srgbClr val="DDE3EC"/>
            </a:solidFill>
            <a:prstDash val="solid"/>
          </a:ln>
        </p:spPr>
      </p:sp>
      <p:sp>
        <p:nvSpPr>
          <p:cNvPr id="45" name="Shape 43"/>
          <p:cNvSpPr/>
          <p:nvPr/>
        </p:nvSpPr>
        <p:spPr>
          <a:xfrm>
            <a:off x="502920" y="3703320"/>
            <a:ext cx="8183880" cy="64008"/>
          </a:xfrm>
          <a:prstGeom prst="rect">
            <a:avLst/>
          </a:prstGeom>
          <a:solidFill>
            <a:srgbClr val="D97706"/>
          </a:solidFill>
          <a:ln w="12700">
            <a:solidFill>
              <a:srgbClr val="D97706"/>
            </a:solidFill>
            <a:prstDash val="solid"/>
          </a:ln>
        </p:spPr>
      </p:sp>
      <p:sp>
        <p:nvSpPr>
          <p:cNvPr id="46" name="Text 44"/>
          <p:cNvSpPr/>
          <p:nvPr/>
        </p:nvSpPr>
        <p:spPr>
          <a:xfrm>
            <a:off x="612648" y="3813048"/>
            <a:ext cx="796442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Takeaway</a:t>
            </a:r>
            <a:endParaRPr lang="en-US" sz="1150" dirty="0"/>
          </a:p>
        </p:txBody>
      </p:sp>
      <p:sp>
        <p:nvSpPr>
          <p:cNvPr id="47" name="Text 45"/>
          <p:cNvSpPr/>
          <p:nvPr/>
        </p:nvSpPr>
        <p:spPr>
          <a:xfrm>
            <a:off x="612648" y="4087368"/>
            <a:ext cx="7964424" cy="54864"/>
          </a:xfrm>
          <a:prstGeom prst="rect">
            <a:avLst/>
          </a:prstGeom>
          <a:noFill/>
          <a:ln/>
        </p:spPr>
        <p:txBody>
          <a:bodyPr wrap="square" lIns="0" tIns="0" rIns="0" bIns="0" rtlCol="0" anchor="ctr">
            <a:normAutofit/>
          </a:bodyPr>
          <a:lstStyle/>
          <a:p>
            <a:pPr indent="0" marL="0">
              <a:buNone/>
            </a:pPr>
            <a:r>
              <a:rPr lang="en-US" sz="1000" dirty="0">
                <a:solidFill>
                  <a:srgbClr val="3D5472"/>
                </a:solidFill>
                <a:latin typeface="Calibri" pitchFamily="34" charset="0"/>
                <a:ea typeface="Calibri" pitchFamily="34" charset="-122"/>
                <a:cs typeface="Calibri" pitchFamily="34" charset="-120"/>
              </a:rPr>
              <a:t>The retained terms are not decorative complexity; they are the nonlinear structure that later appears again in the hybrid and full-state SMC derivations.</a:t>
            </a:r>
            <a:endParaRPr lang="en-US" sz="1000" dirty="0"/>
          </a:p>
        </p:txBody>
      </p:sp>
      <p:sp>
        <p:nvSpPr>
          <p:cNvPr id="48" name="Text 46"/>
          <p:cNvSpPr/>
          <p:nvPr/>
        </p:nvSpPr>
        <p:spPr>
          <a:xfrm>
            <a:off x="8412480" y="4892040"/>
            <a:ext cx="640080" cy="201168"/>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14 / 38</a:t>
            </a:r>
            <a:endParaRPr lang="en-US" sz="900" dirty="0"/>
          </a:p>
        </p:txBody>
      </p:sp>
      <p:sp>
        <p:nvSpPr>
          <p:cNvPr id="49" name="Shape 47"/>
          <p:cNvSpPr/>
          <p:nvPr/>
        </p:nvSpPr>
        <p:spPr>
          <a:xfrm>
            <a:off x="256032" y="4882896"/>
            <a:ext cx="8631936" cy="36576"/>
          </a:xfrm>
          <a:prstGeom prst="rect">
            <a:avLst/>
          </a:prstGeom>
          <a:solidFill>
            <a:srgbClr val="D97706">
              <a:alpha val="15000"/>
            </a:srgbClr>
          </a:solidFill>
          <a:ln w="12700">
            <a:solidFill>
              <a:srgbClr val="D97706"/>
            </a:solidFill>
            <a:prstDash val="solid"/>
          </a:ln>
        </p:spPr>
      </p:sp>
      <p:sp>
        <p:nvSpPr>
          <p:cNvPr id="50" name="Shape 48"/>
          <p:cNvSpPr/>
          <p:nvPr/>
        </p:nvSpPr>
        <p:spPr>
          <a:xfrm>
            <a:off x="256032" y="4882896"/>
            <a:ext cx="3180187" cy="36576"/>
          </a:xfrm>
          <a:prstGeom prst="rect">
            <a:avLst/>
          </a:prstGeom>
          <a:solidFill>
            <a:srgbClr val="D97706"/>
          </a:solidFill>
          <a:ln w="12700">
            <a:solidFill>
              <a:srgbClr val="D97706"/>
            </a:solidFill>
            <a:prstDash val="solid"/>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BEB"/>
        </a:solidFill>
      </p:bgPr>
    </p:bg>
    <p:spTree>
      <p:nvGrpSpPr>
        <p:cNvPr id="1" name=""/>
        <p:cNvGrpSpPr/>
        <p:nvPr/>
      </p:nvGrpSpPr>
      <p:grpSpPr>
        <a:xfrm>
          <a:off x="0" y="0"/>
          <a:ext cx="0" cy="0"/>
          <a:chOff x="0" y="0"/>
          <a:chExt cx="0" cy="0"/>
        </a:xfrm>
      </p:grpSpPr>
      <p:sp>
        <p:nvSpPr>
          <p:cNvPr id="2" name="Shape 0"/>
          <p:cNvSpPr/>
          <p:nvPr/>
        </p:nvSpPr>
        <p:spPr>
          <a:xfrm>
            <a:off x="0" y="0"/>
            <a:ext cx="118872" cy="5143500"/>
          </a:xfrm>
          <a:prstGeom prst="rect">
            <a:avLst/>
          </a:prstGeom>
          <a:solidFill>
            <a:srgbClr val="D97706"/>
          </a:solidFill>
          <a:ln w="12700">
            <a:solidFill>
              <a:srgbClr val="D97706"/>
            </a:solidFill>
            <a:prstDash val="solid"/>
          </a:ln>
        </p:spPr>
      </p:sp>
      <p:sp>
        <p:nvSpPr>
          <p:cNvPr id="3" name="Shape 1"/>
          <p:cNvSpPr/>
          <p:nvPr/>
        </p:nvSpPr>
        <p:spPr>
          <a:xfrm>
            <a:off x="6263640" y="182880"/>
            <a:ext cx="2651760" cy="320040"/>
          </a:xfrm>
          <a:prstGeom prst="rect">
            <a:avLst/>
          </a:prstGeom>
          <a:solidFill>
            <a:srgbClr val="D97706"/>
          </a:solidFill>
          <a:ln w="12700">
            <a:solidFill>
              <a:srgbClr val="D97706"/>
            </a:solidFill>
            <a:prstDash val="solid"/>
          </a:ln>
        </p:spPr>
      </p:sp>
      <p:sp>
        <p:nvSpPr>
          <p:cNvPr id="4" name="Text 2"/>
          <p:cNvSpPr/>
          <p:nvPr/>
        </p:nvSpPr>
        <p:spPr>
          <a:xfrm>
            <a:off x="6263640" y="182880"/>
            <a:ext cx="2651760"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KEY CONTRIBUTION</a:t>
            </a:r>
            <a:endParaRPr lang="en-US" sz="900" dirty="0"/>
          </a:p>
        </p:txBody>
      </p:sp>
      <p:sp>
        <p:nvSpPr>
          <p:cNvPr id="5" name="Text 3"/>
          <p:cNvSpPr/>
          <p:nvPr/>
        </p:nvSpPr>
        <p:spPr>
          <a:xfrm>
            <a:off x="256032" y="201168"/>
            <a:ext cx="5925312" cy="566928"/>
          </a:xfrm>
          <a:prstGeom prst="rect">
            <a:avLst/>
          </a:prstGeom>
          <a:noFill/>
          <a:ln/>
        </p:spPr>
        <p:txBody>
          <a:bodyPr wrap="square" lIns="0" tIns="0" rIns="0" bIns="0" rtlCol="0" anchor="ctr">
            <a:normAutofit/>
          </a:bodyPr>
          <a:lstStyle/>
          <a:p>
            <a:pPr indent="0" marL="0">
              <a:buNone/>
            </a:pPr>
            <a:r>
              <a:rPr lang="en-US" sz="2200" b="1" dirty="0">
                <a:solidFill>
                  <a:srgbClr val="1B2A4A"/>
                </a:solidFill>
                <a:latin typeface="Calibri" pitchFamily="34" charset="0"/>
                <a:ea typeface="Calibri" pitchFamily="34" charset="-122"/>
                <a:cs typeface="Calibri" pitchFamily="34" charset="-120"/>
              </a:rPr>
              <a:t>Acceleration as Input: Why and How</a:t>
            </a:r>
            <a:endParaRPr lang="en-US" sz="2200" dirty="0"/>
          </a:p>
        </p:txBody>
      </p:sp>
      <p:sp>
        <p:nvSpPr>
          <p:cNvPr id="6" name="Text 4"/>
          <p:cNvSpPr/>
          <p:nvPr/>
        </p:nvSpPr>
        <p:spPr>
          <a:xfrm>
            <a:off x="256032" y="768096"/>
            <a:ext cx="8686800" cy="274320"/>
          </a:xfrm>
          <a:prstGeom prst="rect">
            <a:avLst/>
          </a:prstGeom>
          <a:noFill/>
          <a:ln/>
        </p:spPr>
        <p:txBody>
          <a:bodyPr wrap="square" lIns="0" tIns="0" rIns="0" bIns="0" rtlCol="0" anchor="ctr">
            <a:normAutofit/>
          </a:bodyPr>
          <a:lstStyle/>
          <a:p>
            <a:pPr indent="0" marL="0">
              <a:buNone/>
            </a:pPr>
            <a:r>
              <a:rPr lang="en-US" sz="1200" i="1" dirty="0">
                <a:solidFill>
                  <a:srgbClr val="64748B"/>
                </a:solidFill>
                <a:latin typeface="Calibri" pitchFamily="34" charset="0"/>
                <a:ea typeface="Calibri" pitchFamily="34" charset="-122"/>
                <a:cs typeface="Calibri" pitchFamily="34" charset="-120"/>
              </a:rPr>
              <a:t>The decisive modelling move is to redesign the plant around the quantity the firmware can shape: commanded base acceleration.</a:t>
            </a:r>
            <a:endParaRPr lang="en-US" sz="1200" dirty="0"/>
          </a:p>
        </p:txBody>
      </p:sp>
      <p:sp>
        <p:nvSpPr>
          <p:cNvPr id="7" name="Shape 5"/>
          <p:cNvSpPr/>
          <p:nvPr/>
        </p:nvSpPr>
        <p:spPr>
          <a:xfrm>
            <a:off x="256032" y="822960"/>
            <a:ext cx="8631936" cy="0"/>
          </a:xfrm>
          <a:prstGeom prst="line">
            <a:avLst/>
          </a:prstGeom>
          <a:noFill/>
          <a:ln w="9525">
            <a:solidFill>
              <a:srgbClr val="D97706"/>
            </a:solidFill>
            <a:prstDash val="solid"/>
          </a:ln>
        </p:spPr>
      </p:sp>
      <p:sp>
        <p:nvSpPr>
          <p:cNvPr id="8" name="Shape 6"/>
          <p:cNvSpPr/>
          <p:nvPr/>
        </p:nvSpPr>
        <p:spPr>
          <a:xfrm>
            <a:off x="685800" y="1143000"/>
            <a:ext cx="4069080" cy="594360"/>
          </a:xfrm>
          <a:prstGeom prst="rect">
            <a:avLst/>
          </a:prstGeom>
          <a:solidFill>
            <a:srgbClr val="FFFFFF"/>
          </a:solidFill>
          <a:ln w="6350">
            <a:solidFill>
              <a:srgbClr val="DDE3EC"/>
            </a:solidFill>
            <a:prstDash val="solid"/>
          </a:ln>
        </p:spPr>
      </p:sp>
      <p:sp>
        <p:nvSpPr>
          <p:cNvPr id="9" name="Text 7"/>
          <p:cNvSpPr/>
          <p:nvPr/>
        </p:nvSpPr>
        <p:spPr>
          <a:xfrm>
            <a:off x="758952" y="1197864"/>
            <a:ext cx="914400" cy="146304"/>
          </a:xfrm>
          <a:prstGeom prst="rect">
            <a:avLst/>
          </a:prstGeom>
          <a:noFill/>
          <a:ln/>
        </p:spPr>
        <p:txBody>
          <a:bodyPr wrap="square" lIns="0" tIns="0" rIns="0" bIns="0" rtlCol="0" anchor="ctr"/>
          <a:lstStyle/>
          <a:p>
            <a:pPr indent="0" marL="0">
              <a:buNone/>
            </a:pPr>
            <a:r>
              <a:rPr lang="en-US" sz="800" i="1" dirty="0">
                <a:solidFill>
                  <a:srgbClr val="64748B"/>
                </a:solidFill>
                <a:latin typeface="Calibri" pitchFamily="34" charset="0"/>
                <a:ea typeface="Calibri" pitchFamily="34" charset="-122"/>
                <a:cs typeface="Calibri" pitchFamily="34" charset="-120"/>
              </a:rPr>
              <a:t>Equation</a:t>
            </a:r>
            <a:endParaRPr lang="en-US" sz="800" dirty="0"/>
          </a:p>
        </p:txBody>
      </p:sp>
      <p:sp>
        <p:nvSpPr>
          <p:cNvPr id="10" name="Shape 8"/>
          <p:cNvSpPr/>
          <p:nvPr/>
        </p:nvSpPr>
        <p:spPr>
          <a:xfrm>
            <a:off x="4983480" y="1097280"/>
            <a:ext cx="1063752" cy="691286"/>
          </a:xfrm>
          <a:prstGeom prst="roundRect">
            <a:avLst/>
          </a:prstGeom>
          <a:solidFill>
            <a:srgbClr val="D6E8F5"/>
          </a:solidFill>
          <a:ln w="6350">
            <a:solidFill>
              <a:srgbClr val="DDE3EC"/>
            </a:solidFill>
            <a:prstDash val="solid"/>
          </a:ln>
        </p:spPr>
      </p:sp>
      <p:sp>
        <p:nvSpPr>
          <p:cNvPr id="11" name="Text 9"/>
          <p:cNvSpPr/>
          <p:nvPr/>
        </p:nvSpPr>
        <p:spPr>
          <a:xfrm>
            <a:off x="5038344" y="1179576"/>
            <a:ext cx="954024" cy="526694"/>
          </a:xfrm>
          <a:prstGeom prst="rect">
            <a:avLst/>
          </a:prstGeom>
          <a:noFill/>
          <a:ln/>
        </p:spPr>
        <p:txBody>
          <a:bodyPr wrap="square" lIns="0" tIns="0" rIns="0" bIns="0" rtlCol="0" anchor="ctr">
            <a:normAutofit/>
          </a:bodyPr>
          <a:lstStyle/>
          <a:p>
            <a:pPr algn="ctr" indent="0" marL="0">
              <a:buNone/>
            </a:pPr>
            <a:r>
              <a:rPr lang="en-US" sz="1000" b="1" dirty="0">
                <a:solidFill>
                  <a:srgbClr val="1B2A4A"/>
                </a:solidFill>
                <a:latin typeface="Calibri" pitchFamily="34" charset="0"/>
                <a:ea typeface="Calibri" pitchFamily="34" charset="-122"/>
                <a:cs typeface="Calibri" pitchFamily="34" charset="-120"/>
              </a:rPr>
              <a:t>Controller\ncomputes θ̈</a:t>
            </a:r>
            <a:endParaRPr lang="en-US" sz="1000" dirty="0"/>
          </a:p>
        </p:txBody>
      </p:sp>
      <p:sp>
        <p:nvSpPr>
          <p:cNvPr id="12" name="Text 10"/>
          <p:cNvSpPr/>
          <p:nvPr/>
        </p:nvSpPr>
        <p:spPr>
          <a:xfrm>
            <a:off x="6065520" y="1243584"/>
            <a:ext cx="128016" cy="228600"/>
          </a:xfrm>
          <a:prstGeom prst="rect">
            <a:avLst/>
          </a:prstGeom>
          <a:noFill/>
          <a:ln/>
        </p:spPr>
        <p:txBody>
          <a:bodyPr wrap="square" lIns="0" tIns="0" rIns="0" bIns="0" rtlCol="0" anchor="ctr"/>
          <a:lstStyle/>
          <a:p>
            <a:pPr algn="ctr" indent="0" marL="0">
              <a:buNone/>
            </a:pPr>
            <a:r>
              <a:rPr lang="en-US" sz="1800" b="1" dirty="0">
                <a:solidFill>
                  <a:srgbClr val="0D6EAF"/>
                </a:solidFill>
                <a:latin typeface="Calibri" pitchFamily="34" charset="0"/>
                <a:ea typeface="Calibri" pitchFamily="34" charset="-122"/>
                <a:cs typeface="Calibri" pitchFamily="34" charset="-120"/>
              </a:rPr>
              <a:t>→</a:t>
            </a:r>
            <a:endParaRPr lang="en-US" sz="1800" dirty="0"/>
          </a:p>
        </p:txBody>
      </p:sp>
      <p:sp>
        <p:nvSpPr>
          <p:cNvPr id="13" name="Shape 11"/>
          <p:cNvSpPr/>
          <p:nvPr/>
        </p:nvSpPr>
        <p:spPr>
          <a:xfrm>
            <a:off x="6211824" y="1097280"/>
            <a:ext cx="1063752" cy="691286"/>
          </a:xfrm>
          <a:prstGeom prst="roundRect">
            <a:avLst/>
          </a:prstGeom>
          <a:solidFill>
            <a:srgbClr val="EEF5FB"/>
          </a:solidFill>
          <a:ln w="6350">
            <a:solidFill>
              <a:srgbClr val="DDE3EC"/>
            </a:solidFill>
            <a:prstDash val="solid"/>
          </a:ln>
        </p:spPr>
      </p:sp>
      <p:sp>
        <p:nvSpPr>
          <p:cNvPr id="14" name="Text 12"/>
          <p:cNvSpPr/>
          <p:nvPr/>
        </p:nvSpPr>
        <p:spPr>
          <a:xfrm>
            <a:off x="6266688" y="1179576"/>
            <a:ext cx="954024" cy="526694"/>
          </a:xfrm>
          <a:prstGeom prst="rect">
            <a:avLst/>
          </a:prstGeom>
          <a:noFill/>
          <a:ln/>
        </p:spPr>
        <p:txBody>
          <a:bodyPr wrap="square" lIns="0" tIns="0" rIns="0" bIns="0" rtlCol="0" anchor="ctr">
            <a:normAutofit/>
          </a:bodyPr>
          <a:lstStyle/>
          <a:p>
            <a:pPr algn="ctr" indent="0" marL="0">
              <a:buNone/>
            </a:pPr>
            <a:r>
              <a:rPr lang="en-US" sz="1000" b="1" dirty="0">
                <a:solidFill>
                  <a:srgbClr val="1B2A4A"/>
                </a:solidFill>
                <a:latin typeface="Calibri" pitchFamily="34" charset="0"/>
                <a:ea typeface="Calibri" pitchFamily="34" charset="-122"/>
                <a:cs typeface="Calibri" pitchFamily="34" charset="-120"/>
              </a:rPr>
              <a:t>Integrate to\ncommanded θ̇</a:t>
            </a:r>
            <a:endParaRPr lang="en-US" sz="1000" dirty="0"/>
          </a:p>
        </p:txBody>
      </p:sp>
      <p:sp>
        <p:nvSpPr>
          <p:cNvPr id="15" name="Text 13"/>
          <p:cNvSpPr/>
          <p:nvPr/>
        </p:nvSpPr>
        <p:spPr>
          <a:xfrm>
            <a:off x="7293864" y="1243584"/>
            <a:ext cx="128016" cy="228600"/>
          </a:xfrm>
          <a:prstGeom prst="rect">
            <a:avLst/>
          </a:prstGeom>
          <a:noFill/>
          <a:ln/>
        </p:spPr>
        <p:txBody>
          <a:bodyPr wrap="square" lIns="0" tIns="0" rIns="0" bIns="0" rtlCol="0" anchor="ctr"/>
          <a:lstStyle/>
          <a:p>
            <a:pPr algn="ctr" indent="0" marL="0">
              <a:buNone/>
            </a:pPr>
            <a:r>
              <a:rPr lang="en-US" sz="1800" b="1" dirty="0">
                <a:solidFill>
                  <a:srgbClr val="0D6EAF"/>
                </a:solidFill>
                <a:latin typeface="Calibri" pitchFamily="34" charset="0"/>
                <a:ea typeface="Calibri" pitchFamily="34" charset="-122"/>
                <a:cs typeface="Calibri" pitchFamily="34" charset="-120"/>
              </a:rPr>
              <a:t>→</a:t>
            </a:r>
            <a:endParaRPr lang="en-US" sz="1800" dirty="0"/>
          </a:p>
        </p:txBody>
      </p:sp>
      <p:sp>
        <p:nvSpPr>
          <p:cNvPr id="16" name="Shape 14"/>
          <p:cNvSpPr/>
          <p:nvPr/>
        </p:nvSpPr>
        <p:spPr>
          <a:xfrm>
            <a:off x="7440168" y="1097280"/>
            <a:ext cx="1063752" cy="691286"/>
          </a:xfrm>
          <a:prstGeom prst="roundRect">
            <a:avLst/>
          </a:prstGeom>
          <a:solidFill>
            <a:srgbClr val="D6E8F5"/>
          </a:solidFill>
          <a:ln w="6350">
            <a:solidFill>
              <a:srgbClr val="DDE3EC"/>
            </a:solidFill>
            <a:prstDash val="solid"/>
          </a:ln>
        </p:spPr>
      </p:sp>
      <p:sp>
        <p:nvSpPr>
          <p:cNvPr id="17" name="Text 15"/>
          <p:cNvSpPr/>
          <p:nvPr/>
        </p:nvSpPr>
        <p:spPr>
          <a:xfrm>
            <a:off x="7495032" y="1179576"/>
            <a:ext cx="954024" cy="526694"/>
          </a:xfrm>
          <a:prstGeom prst="rect">
            <a:avLst/>
          </a:prstGeom>
          <a:noFill/>
          <a:ln/>
        </p:spPr>
        <p:txBody>
          <a:bodyPr wrap="square" lIns="0" tIns="0" rIns="0" bIns="0" rtlCol="0" anchor="ctr">
            <a:normAutofit/>
          </a:bodyPr>
          <a:lstStyle/>
          <a:p>
            <a:pPr algn="ctr" indent="0" marL="0">
              <a:buNone/>
            </a:pPr>
            <a:r>
              <a:rPr lang="en-US" sz="1000" b="1" dirty="0">
                <a:solidFill>
                  <a:srgbClr val="1B2A4A"/>
                </a:solidFill>
                <a:latin typeface="Calibri" pitchFamily="34" charset="0"/>
                <a:ea typeface="Calibri" pitchFamily="34" charset="-122"/>
                <a:cs typeface="Calibri" pitchFamily="34" charset="-120"/>
              </a:rPr>
              <a:t>FastAccelStepper\nspeed command</a:t>
            </a:r>
            <a:endParaRPr lang="en-US" sz="1000" dirty="0"/>
          </a:p>
        </p:txBody>
      </p:sp>
      <p:sp>
        <p:nvSpPr>
          <p:cNvPr id="18" name="Shape 16"/>
          <p:cNvSpPr/>
          <p:nvPr/>
        </p:nvSpPr>
        <p:spPr>
          <a:xfrm>
            <a:off x="502920" y="2331720"/>
            <a:ext cx="4023360" cy="1737360"/>
          </a:xfrm>
          <a:prstGeom prst="rect">
            <a:avLst/>
          </a:prstGeom>
          <a:solidFill>
            <a:srgbClr val="FFFFFF"/>
          </a:solidFill>
          <a:ln w="6350">
            <a:solidFill>
              <a:srgbClr val="DDE3EC"/>
            </a:solidFill>
            <a:prstDash val="solid"/>
          </a:ln>
        </p:spPr>
      </p:sp>
      <p:sp>
        <p:nvSpPr>
          <p:cNvPr id="19" name="Shape 17"/>
          <p:cNvSpPr/>
          <p:nvPr/>
        </p:nvSpPr>
        <p:spPr>
          <a:xfrm>
            <a:off x="502920" y="2331720"/>
            <a:ext cx="4023360" cy="64008"/>
          </a:xfrm>
          <a:prstGeom prst="rect">
            <a:avLst/>
          </a:prstGeom>
          <a:solidFill>
            <a:srgbClr val="0D6EAF"/>
          </a:solidFill>
          <a:ln w="12700">
            <a:solidFill>
              <a:srgbClr val="0D6EAF"/>
            </a:solidFill>
            <a:prstDash val="solid"/>
          </a:ln>
        </p:spPr>
      </p:sp>
      <p:sp>
        <p:nvSpPr>
          <p:cNvPr id="20" name="Text 18"/>
          <p:cNvSpPr/>
          <p:nvPr/>
        </p:nvSpPr>
        <p:spPr>
          <a:xfrm>
            <a:off x="612648" y="2441448"/>
            <a:ext cx="380390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Why this is architecturally cleaner</a:t>
            </a:r>
            <a:endParaRPr lang="en-US" sz="1150" dirty="0"/>
          </a:p>
        </p:txBody>
      </p:sp>
      <p:sp>
        <p:nvSpPr>
          <p:cNvPr id="21" name="Text 19"/>
          <p:cNvSpPr/>
          <p:nvPr/>
        </p:nvSpPr>
        <p:spPr>
          <a:xfrm>
            <a:off x="612648" y="2715768"/>
            <a:ext cx="3803904" cy="1243584"/>
          </a:xfrm>
          <a:prstGeom prst="rect">
            <a:avLst/>
          </a:prstGeom>
          <a:noFill/>
          <a:ln/>
        </p:spPr>
        <p:txBody>
          <a:bodyPr wrap="square" lIns="0" tIns="0" rIns="0" bIns="0" rtlCol="0" anchor="ctr">
            <a:normAutofit/>
          </a:bodyPr>
          <a:lstStyle/>
          <a:p>
            <a:pPr indent="0" marL="0">
              <a:buNone/>
            </a:pPr>
            <a:r>
              <a:rPr lang="en-US" sz="980" dirty="0">
                <a:solidFill>
                  <a:srgbClr val="3D5472"/>
                </a:solidFill>
                <a:latin typeface="Calibri" pitchFamily="34" charset="0"/>
                <a:ea typeface="Calibri" pitchFamily="34" charset="-122"/>
                <a:cs typeface="Calibri" pitchFamily="34" charset="-120"/>
              </a:rPr>
              <a:t>• The control law becomes independent of the driver current-control internals.</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The model matches the actual firmware path instead of pretending the stepper is torque controlled.</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The downside is explicit: the hardware does not realize the commanded acceleration perfectly under load.</a:t>
            </a:r>
            <a:endParaRPr lang="en-US" sz="980" dirty="0"/>
          </a:p>
        </p:txBody>
      </p:sp>
      <p:sp>
        <p:nvSpPr>
          <p:cNvPr id="22" name="Shape 20"/>
          <p:cNvSpPr/>
          <p:nvPr/>
        </p:nvSpPr>
        <p:spPr>
          <a:xfrm>
            <a:off x="4709160" y="2331720"/>
            <a:ext cx="3977640" cy="1737360"/>
          </a:xfrm>
          <a:prstGeom prst="rect">
            <a:avLst/>
          </a:prstGeom>
          <a:solidFill>
            <a:srgbClr val="FFFFFF"/>
          </a:solidFill>
          <a:ln w="6350">
            <a:solidFill>
              <a:srgbClr val="DDE3EC"/>
            </a:solidFill>
            <a:prstDash val="solid"/>
          </a:ln>
        </p:spPr>
      </p:sp>
      <p:sp>
        <p:nvSpPr>
          <p:cNvPr id="23" name="Shape 21"/>
          <p:cNvSpPr/>
          <p:nvPr/>
        </p:nvSpPr>
        <p:spPr>
          <a:xfrm>
            <a:off x="4709160" y="2331720"/>
            <a:ext cx="3977640" cy="64008"/>
          </a:xfrm>
          <a:prstGeom prst="rect">
            <a:avLst/>
          </a:prstGeom>
          <a:solidFill>
            <a:srgbClr val="0A7A6E"/>
          </a:solidFill>
          <a:ln w="12700">
            <a:solidFill>
              <a:srgbClr val="0A7A6E"/>
            </a:solidFill>
            <a:prstDash val="solid"/>
          </a:ln>
        </p:spPr>
      </p:sp>
      <p:sp>
        <p:nvSpPr>
          <p:cNvPr id="24" name="Text 22"/>
          <p:cNvSpPr/>
          <p:nvPr/>
        </p:nvSpPr>
        <p:spPr>
          <a:xfrm>
            <a:off x="4818888" y="2441448"/>
            <a:ext cx="375818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Numerical constants used later</a:t>
            </a:r>
            <a:endParaRPr lang="en-US" sz="1150" dirty="0"/>
          </a:p>
        </p:txBody>
      </p:sp>
      <p:sp>
        <p:nvSpPr>
          <p:cNvPr id="25" name="Text 23"/>
          <p:cNvSpPr/>
          <p:nvPr/>
        </p:nvSpPr>
        <p:spPr>
          <a:xfrm>
            <a:off x="4818888" y="2715768"/>
            <a:ext cx="3758184" cy="1243584"/>
          </a:xfrm>
          <a:prstGeom prst="rect">
            <a:avLst/>
          </a:prstGeom>
          <a:noFill/>
          <a:ln/>
        </p:spPr>
        <p:txBody>
          <a:bodyPr wrap="square" lIns="0" tIns="0" rIns="0" bIns="0" rtlCol="0" anchor="ctr">
            <a:normAutofit/>
          </a:bodyPr>
          <a:lstStyle/>
          <a:p>
            <a:pPr indent="0" marL="0">
              <a:buNone/>
            </a:pPr>
            <a:r>
              <a:rPr lang="en-US" sz="980" dirty="0">
                <a:solidFill>
                  <a:srgbClr val="3D5472"/>
                </a:solidFill>
                <a:latin typeface="Calibri" pitchFamily="34" charset="0"/>
                <a:ea typeface="Calibri" pitchFamily="34" charset="-122"/>
                <a:cs typeface="Calibri" pitchFamily="34" charset="-120"/>
              </a:rPr>
              <a:t>• $A = 100.8$</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$B = 1.952$</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$k_s = 4.444\ \mathrm{step/deg}$</a:t>
            </a:r>
            <a:endParaRPr lang="en-US" sz="980" dirty="0"/>
          </a:p>
        </p:txBody>
      </p:sp>
      <p:sp>
        <p:nvSpPr>
          <p:cNvPr id="26" name="Text 24"/>
          <p:cNvSpPr/>
          <p:nvPr/>
        </p:nvSpPr>
        <p:spPr>
          <a:xfrm>
            <a:off x="8412480" y="4892040"/>
            <a:ext cx="640080" cy="201168"/>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15 / 38</a:t>
            </a:r>
            <a:endParaRPr lang="en-US" sz="900" dirty="0"/>
          </a:p>
        </p:txBody>
      </p:sp>
      <p:sp>
        <p:nvSpPr>
          <p:cNvPr id="27" name="Shape 25"/>
          <p:cNvSpPr/>
          <p:nvPr/>
        </p:nvSpPr>
        <p:spPr>
          <a:xfrm>
            <a:off x="256032" y="4882896"/>
            <a:ext cx="8631936" cy="36576"/>
          </a:xfrm>
          <a:prstGeom prst="rect">
            <a:avLst/>
          </a:prstGeom>
          <a:solidFill>
            <a:srgbClr val="D97706">
              <a:alpha val="15000"/>
            </a:srgbClr>
          </a:solidFill>
          <a:ln w="12700">
            <a:solidFill>
              <a:srgbClr val="D97706"/>
            </a:solidFill>
            <a:prstDash val="solid"/>
          </a:ln>
        </p:spPr>
      </p:sp>
      <p:sp>
        <p:nvSpPr>
          <p:cNvPr id="28" name="Shape 26"/>
          <p:cNvSpPr/>
          <p:nvPr/>
        </p:nvSpPr>
        <p:spPr>
          <a:xfrm>
            <a:off x="256032" y="4882896"/>
            <a:ext cx="3407343" cy="36576"/>
          </a:xfrm>
          <a:prstGeom prst="rect">
            <a:avLst/>
          </a:prstGeom>
          <a:solidFill>
            <a:srgbClr val="D97706"/>
          </a:solidFill>
          <a:ln w="12700">
            <a:solidFill>
              <a:srgbClr val="D97706"/>
            </a:solidFill>
            <a:prstDash val="solid"/>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8FA"/>
        </a:solidFill>
      </p:bgPr>
    </p:bg>
    <p:spTree>
      <p:nvGrpSpPr>
        <p:cNvPr id="1" name=""/>
        <p:cNvGrpSpPr/>
        <p:nvPr/>
      </p:nvGrpSpPr>
      <p:grpSpPr>
        <a:xfrm>
          <a:off x="0" y="0"/>
          <a:ext cx="0" cy="0"/>
          <a:chOff x="0" y="0"/>
          <a:chExt cx="0" cy="0"/>
        </a:xfrm>
      </p:grpSpPr>
      <p:sp>
        <p:nvSpPr>
          <p:cNvPr id="2" name="Shape 0"/>
          <p:cNvSpPr/>
          <p:nvPr/>
        </p:nvSpPr>
        <p:spPr>
          <a:xfrm>
            <a:off x="0" y="0"/>
            <a:ext cx="118872" cy="5143500"/>
          </a:xfrm>
          <a:prstGeom prst="rect">
            <a:avLst/>
          </a:prstGeom>
          <a:solidFill>
            <a:srgbClr val="0D6EAF"/>
          </a:solidFill>
          <a:ln w="12700">
            <a:solidFill>
              <a:srgbClr val="0D6EAF"/>
            </a:solidFill>
            <a:prstDash val="solid"/>
          </a:ln>
        </p:spPr>
      </p:sp>
      <p:sp>
        <p:nvSpPr>
          <p:cNvPr id="3" name="Text 1"/>
          <p:cNvSpPr/>
          <p:nvPr/>
        </p:nvSpPr>
        <p:spPr>
          <a:xfrm>
            <a:off x="256032" y="201168"/>
            <a:ext cx="8686800" cy="566928"/>
          </a:xfrm>
          <a:prstGeom prst="rect">
            <a:avLst/>
          </a:prstGeom>
          <a:noFill/>
          <a:ln/>
        </p:spPr>
        <p:txBody>
          <a:bodyPr wrap="square" lIns="0" tIns="0" rIns="0" bIns="0" rtlCol="0" anchor="ctr">
            <a:normAutofit/>
          </a:bodyPr>
          <a:lstStyle/>
          <a:p>
            <a:pPr indent="0" marL="0">
              <a:buNone/>
            </a:pPr>
            <a:r>
              <a:rPr lang="en-US" sz="2600" b="1" dirty="0">
                <a:solidFill>
                  <a:srgbClr val="1B2A4A"/>
                </a:solidFill>
                <a:latin typeface="Calibri" pitchFamily="34" charset="0"/>
                <a:ea typeface="Calibri" pitchFamily="34" charset="-122"/>
                <a:cs typeface="Calibri" pitchFamily="34" charset="-120"/>
              </a:rPr>
              <a:t>Linearisation About Upright</a:t>
            </a:r>
            <a:endParaRPr lang="en-US" sz="2600" dirty="0"/>
          </a:p>
        </p:txBody>
      </p:sp>
      <p:sp>
        <p:nvSpPr>
          <p:cNvPr id="4" name="Text 2"/>
          <p:cNvSpPr/>
          <p:nvPr/>
        </p:nvSpPr>
        <p:spPr>
          <a:xfrm>
            <a:off x="256032" y="768096"/>
            <a:ext cx="8686800" cy="274320"/>
          </a:xfrm>
          <a:prstGeom prst="rect">
            <a:avLst/>
          </a:prstGeom>
          <a:noFill/>
          <a:ln/>
        </p:spPr>
        <p:txBody>
          <a:bodyPr wrap="square" lIns="0" tIns="0" rIns="0" bIns="0" rtlCol="0" anchor="ctr">
            <a:normAutofit/>
          </a:bodyPr>
          <a:lstStyle/>
          <a:p>
            <a:pPr indent="0" marL="0">
              <a:buNone/>
            </a:pPr>
            <a:r>
              <a:rPr lang="en-US" sz="1200" i="1" dirty="0">
                <a:solidFill>
                  <a:srgbClr val="64748B"/>
                </a:solidFill>
                <a:latin typeface="Calibri" pitchFamily="34" charset="0"/>
                <a:ea typeface="Calibri" pitchFamily="34" charset="-122"/>
                <a:cs typeface="Calibri" pitchFamily="34" charset="-120"/>
              </a:rPr>
              <a:t>Around α ≈ 0 the dynamics simplify enough for transparent state-space design while still keeping the main unstable physics visible.</a:t>
            </a:r>
            <a:endParaRPr lang="en-US" sz="1200" dirty="0"/>
          </a:p>
        </p:txBody>
      </p:sp>
      <p:sp>
        <p:nvSpPr>
          <p:cNvPr id="5" name="Shape 3"/>
          <p:cNvSpPr/>
          <p:nvPr/>
        </p:nvSpPr>
        <p:spPr>
          <a:xfrm>
            <a:off x="256032" y="822960"/>
            <a:ext cx="8631936" cy="0"/>
          </a:xfrm>
          <a:prstGeom prst="line">
            <a:avLst/>
          </a:prstGeom>
          <a:noFill/>
          <a:ln w="9525">
            <a:solidFill>
              <a:srgbClr val="DDE3EC"/>
            </a:solidFill>
            <a:prstDash val="solid"/>
          </a:ln>
        </p:spPr>
      </p:sp>
      <p:sp>
        <p:nvSpPr>
          <p:cNvPr id="6" name="Shape 4"/>
          <p:cNvSpPr/>
          <p:nvPr/>
        </p:nvSpPr>
        <p:spPr>
          <a:xfrm>
            <a:off x="685800" y="1170432"/>
            <a:ext cx="3977640" cy="868680"/>
          </a:xfrm>
          <a:prstGeom prst="rect">
            <a:avLst/>
          </a:prstGeom>
          <a:solidFill>
            <a:srgbClr val="FFFFFF"/>
          </a:solidFill>
          <a:ln w="6350">
            <a:solidFill>
              <a:srgbClr val="DDE3EC"/>
            </a:solidFill>
            <a:prstDash val="solid"/>
          </a:ln>
        </p:spPr>
      </p:sp>
      <p:sp>
        <p:nvSpPr>
          <p:cNvPr id="7" name="Text 5"/>
          <p:cNvSpPr/>
          <p:nvPr/>
        </p:nvSpPr>
        <p:spPr>
          <a:xfrm>
            <a:off x="758952" y="1225296"/>
            <a:ext cx="914400" cy="146304"/>
          </a:xfrm>
          <a:prstGeom prst="rect">
            <a:avLst/>
          </a:prstGeom>
          <a:noFill/>
          <a:ln/>
        </p:spPr>
        <p:txBody>
          <a:bodyPr wrap="square" lIns="0" tIns="0" rIns="0" bIns="0" rtlCol="0" anchor="ctr"/>
          <a:lstStyle/>
          <a:p>
            <a:pPr indent="0" marL="0">
              <a:buNone/>
            </a:pPr>
            <a:r>
              <a:rPr lang="en-US" sz="800" i="1" dirty="0">
                <a:solidFill>
                  <a:srgbClr val="64748B"/>
                </a:solidFill>
                <a:latin typeface="Calibri" pitchFamily="34" charset="0"/>
                <a:ea typeface="Calibri" pitchFamily="34" charset="-122"/>
                <a:cs typeface="Calibri" pitchFamily="34" charset="-120"/>
              </a:rPr>
              <a:t>Equation</a:t>
            </a:r>
            <a:endParaRPr lang="en-US" sz="800" dirty="0"/>
          </a:p>
        </p:txBody>
      </p:sp>
      <p:sp>
        <p:nvSpPr>
          <p:cNvPr id="8" name="Shape 6"/>
          <p:cNvSpPr/>
          <p:nvPr/>
        </p:nvSpPr>
        <p:spPr>
          <a:xfrm>
            <a:off x="4892040" y="1097280"/>
            <a:ext cx="3657600" cy="960120"/>
          </a:xfrm>
          <a:prstGeom prst="rect">
            <a:avLst/>
          </a:prstGeom>
          <a:solidFill>
            <a:srgbClr val="FEF2F2"/>
          </a:solidFill>
          <a:ln w="6350">
            <a:solidFill>
              <a:srgbClr val="DDE3EC"/>
            </a:solidFill>
            <a:prstDash val="solid"/>
          </a:ln>
        </p:spPr>
      </p:sp>
      <p:sp>
        <p:nvSpPr>
          <p:cNvPr id="9" name="Shape 7"/>
          <p:cNvSpPr/>
          <p:nvPr/>
        </p:nvSpPr>
        <p:spPr>
          <a:xfrm>
            <a:off x="4892040" y="1097280"/>
            <a:ext cx="3657600" cy="64008"/>
          </a:xfrm>
          <a:prstGeom prst="rect">
            <a:avLst/>
          </a:prstGeom>
          <a:solidFill>
            <a:srgbClr val="B91C1C"/>
          </a:solidFill>
          <a:ln w="12700">
            <a:solidFill>
              <a:srgbClr val="B91C1C"/>
            </a:solidFill>
            <a:prstDash val="solid"/>
          </a:ln>
        </p:spPr>
      </p:sp>
      <p:sp>
        <p:nvSpPr>
          <p:cNvPr id="10" name="Text 8"/>
          <p:cNvSpPr/>
          <p:nvPr/>
        </p:nvSpPr>
        <p:spPr>
          <a:xfrm>
            <a:off x="5001768" y="1207008"/>
            <a:ext cx="343814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Open-loop fall rate</a:t>
            </a:r>
            <a:endParaRPr lang="en-US" sz="1150" dirty="0"/>
          </a:p>
        </p:txBody>
      </p:sp>
      <p:sp>
        <p:nvSpPr>
          <p:cNvPr id="11" name="Text 9"/>
          <p:cNvSpPr/>
          <p:nvPr/>
        </p:nvSpPr>
        <p:spPr>
          <a:xfrm>
            <a:off x="5001768" y="1481328"/>
            <a:ext cx="3438144" cy="466344"/>
          </a:xfrm>
          <a:prstGeom prst="rect">
            <a:avLst/>
          </a:prstGeom>
          <a:noFill/>
          <a:ln/>
        </p:spPr>
        <p:txBody>
          <a:bodyPr wrap="square" lIns="0" tIns="0" rIns="0" bIns="0" rtlCol="0" anchor="ctr">
            <a:normAutofit/>
          </a:bodyPr>
          <a:lstStyle/>
          <a:p>
            <a:pPr indent="0" marL="0">
              <a:buNone/>
            </a:pPr>
            <a:r>
              <a:rPr lang="en-US" sz="1000" dirty="0">
                <a:solidFill>
                  <a:srgbClr val="3D5472"/>
                </a:solidFill>
                <a:latin typeface="Calibri" pitchFamily="34" charset="0"/>
                <a:ea typeface="Calibri" pitchFamily="34" charset="-122"/>
                <a:cs typeface="Calibri" pitchFamily="34" charset="-120"/>
              </a:rPr>
              <a:t>$\lambda = \pm \sqrt{G/J_{eq}} = \pm 12.47\ \mathrm{rad/s}$</a:t>
            </a:r>
            <a:endParaRPr lang="en-US" sz="1000" dirty="0"/>
          </a:p>
        </p:txBody>
      </p:sp>
      <p:sp>
        <p:nvSpPr>
          <p:cNvPr id="12" name="Shape 10"/>
          <p:cNvSpPr/>
          <p:nvPr/>
        </p:nvSpPr>
        <p:spPr>
          <a:xfrm>
            <a:off x="502920" y="2423160"/>
            <a:ext cx="3977640" cy="1691640"/>
          </a:xfrm>
          <a:prstGeom prst="rect">
            <a:avLst/>
          </a:prstGeom>
          <a:solidFill>
            <a:srgbClr val="FFFFFF"/>
          </a:solidFill>
          <a:ln w="6350">
            <a:solidFill>
              <a:srgbClr val="DDE3EC"/>
            </a:solidFill>
            <a:prstDash val="solid"/>
          </a:ln>
        </p:spPr>
      </p:sp>
      <p:sp>
        <p:nvSpPr>
          <p:cNvPr id="13" name="Shape 11"/>
          <p:cNvSpPr/>
          <p:nvPr/>
        </p:nvSpPr>
        <p:spPr>
          <a:xfrm>
            <a:off x="502920" y="2423160"/>
            <a:ext cx="3977640" cy="64008"/>
          </a:xfrm>
          <a:prstGeom prst="rect">
            <a:avLst/>
          </a:prstGeom>
          <a:solidFill>
            <a:srgbClr val="0D6EAF"/>
          </a:solidFill>
          <a:ln w="12700">
            <a:solidFill>
              <a:srgbClr val="0D6EAF"/>
            </a:solidFill>
            <a:prstDash val="solid"/>
          </a:ln>
        </p:spPr>
      </p:sp>
      <p:sp>
        <p:nvSpPr>
          <p:cNvPr id="14" name="Text 12"/>
          <p:cNvSpPr/>
          <p:nvPr/>
        </p:nvSpPr>
        <p:spPr>
          <a:xfrm>
            <a:off x="612648" y="2532888"/>
            <a:ext cx="375818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Why this linearisation is still useful</a:t>
            </a:r>
            <a:endParaRPr lang="en-US" sz="1150" dirty="0"/>
          </a:p>
        </p:txBody>
      </p:sp>
      <p:sp>
        <p:nvSpPr>
          <p:cNvPr id="15" name="Text 13"/>
          <p:cNvSpPr/>
          <p:nvPr/>
        </p:nvSpPr>
        <p:spPr>
          <a:xfrm>
            <a:off x="612648" y="2807208"/>
            <a:ext cx="3758184" cy="1197864"/>
          </a:xfrm>
          <a:prstGeom prst="rect">
            <a:avLst/>
          </a:prstGeom>
          <a:noFill/>
          <a:ln/>
        </p:spPr>
        <p:txBody>
          <a:bodyPr wrap="square" lIns="0" tIns="0" rIns="0" bIns="0" rtlCol="0" anchor="ctr">
            <a:normAutofit/>
          </a:bodyPr>
          <a:lstStyle/>
          <a:p>
            <a:pPr indent="0" marL="0">
              <a:buNone/>
            </a:pPr>
            <a:r>
              <a:rPr lang="en-US" sz="980" dirty="0">
                <a:solidFill>
                  <a:srgbClr val="3D5472"/>
                </a:solidFill>
                <a:latin typeface="Calibri" pitchFamily="34" charset="0"/>
                <a:ea typeface="Calibri" pitchFamily="34" charset="-122"/>
                <a:cs typeface="Calibri" pitchFamily="34" charset="-120"/>
              </a:rPr>
              <a:t>• It exposes the unstable pendulum mode and the base-to-pendulum control effectiveness directly.</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It gives a compact four-state plant for pole placement and LQR.</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It is also the benchmark against which the nonlinear controllers are judged.</a:t>
            </a:r>
            <a:endParaRPr lang="en-US" sz="980" dirty="0"/>
          </a:p>
        </p:txBody>
      </p:sp>
      <p:sp>
        <p:nvSpPr>
          <p:cNvPr id="16" name="Shape 14"/>
          <p:cNvSpPr/>
          <p:nvPr/>
        </p:nvSpPr>
        <p:spPr>
          <a:xfrm>
            <a:off x="4709160" y="2423160"/>
            <a:ext cx="3977640" cy="1691640"/>
          </a:xfrm>
          <a:prstGeom prst="rect">
            <a:avLst/>
          </a:prstGeom>
          <a:solidFill>
            <a:srgbClr val="FFFFFF"/>
          </a:solidFill>
          <a:ln w="6350">
            <a:solidFill>
              <a:srgbClr val="DDE3EC"/>
            </a:solidFill>
            <a:prstDash val="solid"/>
          </a:ln>
        </p:spPr>
      </p:sp>
      <p:sp>
        <p:nvSpPr>
          <p:cNvPr id="17" name="Shape 15"/>
          <p:cNvSpPr/>
          <p:nvPr/>
        </p:nvSpPr>
        <p:spPr>
          <a:xfrm>
            <a:off x="4709160" y="2423160"/>
            <a:ext cx="3977640" cy="64008"/>
          </a:xfrm>
          <a:prstGeom prst="rect">
            <a:avLst/>
          </a:prstGeom>
          <a:solidFill>
            <a:srgbClr val="0A7A6E"/>
          </a:solidFill>
          <a:ln w="12700">
            <a:solidFill>
              <a:srgbClr val="0A7A6E"/>
            </a:solidFill>
            <a:prstDash val="solid"/>
          </a:ln>
        </p:spPr>
      </p:sp>
      <p:sp>
        <p:nvSpPr>
          <p:cNvPr id="18" name="Text 16"/>
          <p:cNvSpPr/>
          <p:nvPr/>
        </p:nvSpPr>
        <p:spPr>
          <a:xfrm>
            <a:off x="4818888" y="2532888"/>
            <a:ext cx="375818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What it does not capture</a:t>
            </a:r>
            <a:endParaRPr lang="en-US" sz="1150" dirty="0"/>
          </a:p>
        </p:txBody>
      </p:sp>
      <p:sp>
        <p:nvSpPr>
          <p:cNvPr id="19" name="Text 17"/>
          <p:cNvSpPr/>
          <p:nvPr/>
        </p:nvSpPr>
        <p:spPr>
          <a:xfrm>
            <a:off x="4818888" y="2807208"/>
            <a:ext cx="3758184" cy="1197864"/>
          </a:xfrm>
          <a:prstGeom prst="rect">
            <a:avLst/>
          </a:prstGeom>
          <a:noFill/>
          <a:ln/>
        </p:spPr>
        <p:txBody>
          <a:bodyPr wrap="square" lIns="0" tIns="0" rIns="0" bIns="0" rtlCol="0" anchor="ctr">
            <a:normAutofit/>
          </a:bodyPr>
          <a:lstStyle/>
          <a:p>
            <a:pPr indent="0" marL="0">
              <a:buNone/>
            </a:pPr>
            <a:r>
              <a:rPr lang="en-US" sz="980" dirty="0">
                <a:solidFill>
                  <a:srgbClr val="3D5472"/>
                </a:solidFill>
                <a:latin typeface="Calibri" pitchFamily="34" charset="0"/>
                <a:ea typeface="Calibri" pitchFamily="34" charset="-122"/>
                <a:cs typeface="Calibri" pitchFamily="34" charset="-120"/>
              </a:rPr>
              <a:t>• Nonlinear gravity $A\sin\alpha$ away from small angles</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Centrifugal coupling $\sin\alpha\cos\alpha\,\dot\theta^2$</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Actuator saturation, missed steps, and sensing glitches</a:t>
            </a:r>
            <a:endParaRPr lang="en-US" sz="980" dirty="0"/>
          </a:p>
        </p:txBody>
      </p:sp>
      <p:sp>
        <p:nvSpPr>
          <p:cNvPr id="20" name="Text 18"/>
          <p:cNvSpPr/>
          <p:nvPr/>
        </p:nvSpPr>
        <p:spPr>
          <a:xfrm>
            <a:off x="8412480" y="4892040"/>
            <a:ext cx="640080" cy="201168"/>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16 / 38</a:t>
            </a:r>
            <a:endParaRPr lang="en-US" sz="900" dirty="0"/>
          </a:p>
        </p:txBody>
      </p:sp>
      <p:sp>
        <p:nvSpPr>
          <p:cNvPr id="21" name="Shape 19"/>
          <p:cNvSpPr/>
          <p:nvPr/>
        </p:nvSpPr>
        <p:spPr>
          <a:xfrm>
            <a:off x="256032" y="4882896"/>
            <a:ext cx="8631936" cy="36576"/>
          </a:xfrm>
          <a:prstGeom prst="rect">
            <a:avLst/>
          </a:prstGeom>
          <a:solidFill>
            <a:srgbClr val="0D6EAF">
              <a:alpha val="15000"/>
            </a:srgbClr>
          </a:solidFill>
          <a:ln w="12700">
            <a:solidFill>
              <a:srgbClr val="0D6EAF"/>
            </a:solidFill>
            <a:prstDash val="solid"/>
          </a:ln>
        </p:spPr>
      </p:sp>
      <p:sp>
        <p:nvSpPr>
          <p:cNvPr id="22" name="Shape 20"/>
          <p:cNvSpPr/>
          <p:nvPr/>
        </p:nvSpPr>
        <p:spPr>
          <a:xfrm>
            <a:off x="256032" y="4882896"/>
            <a:ext cx="3634499" cy="36576"/>
          </a:xfrm>
          <a:prstGeom prst="rect">
            <a:avLst/>
          </a:prstGeom>
          <a:solidFill>
            <a:srgbClr val="0D6EAF"/>
          </a:solidFill>
          <a:ln w="12700">
            <a:solidFill>
              <a:srgbClr val="0D6EAF"/>
            </a:solidFill>
            <a:prstDash val="solid"/>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8FA"/>
        </a:solidFill>
      </p:bgPr>
    </p:bg>
    <p:spTree>
      <p:nvGrpSpPr>
        <p:cNvPr id="1" name=""/>
        <p:cNvGrpSpPr/>
        <p:nvPr/>
      </p:nvGrpSpPr>
      <p:grpSpPr>
        <a:xfrm>
          <a:off x="0" y="0"/>
          <a:ext cx="0" cy="0"/>
          <a:chOff x="0" y="0"/>
          <a:chExt cx="0" cy="0"/>
        </a:xfrm>
      </p:grpSpPr>
      <p:sp>
        <p:nvSpPr>
          <p:cNvPr id="2" name="Shape 0"/>
          <p:cNvSpPr/>
          <p:nvPr/>
        </p:nvSpPr>
        <p:spPr>
          <a:xfrm>
            <a:off x="0" y="0"/>
            <a:ext cx="118872" cy="5143500"/>
          </a:xfrm>
          <a:prstGeom prst="rect">
            <a:avLst/>
          </a:prstGeom>
          <a:solidFill>
            <a:srgbClr val="0D6EAF"/>
          </a:solidFill>
          <a:ln w="12700">
            <a:solidFill>
              <a:srgbClr val="0D6EAF"/>
            </a:solidFill>
            <a:prstDash val="solid"/>
          </a:ln>
        </p:spPr>
      </p:sp>
      <p:sp>
        <p:nvSpPr>
          <p:cNvPr id="3" name="Text 1"/>
          <p:cNvSpPr/>
          <p:nvPr/>
        </p:nvSpPr>
        <p:spPr>
          <a:xfrm>
            <a:off x="256032" y="201168"/>
            <a:ext cx="8686800" cy="566928"/>
          </a:xfrm>
          <a:prstGeom prst="rect">
            <a:avLst/>
          </a:prstGeom>
          <a:noFill/>
          <a:ln/>
        </p:spPr>
        <p:txBody>
          <a:bodyPr wrap="square" lIns="0" tIns="0" rIns="0" bIns="0" rtlCol="0" anchor="ctr">
            <a:normAutofit/>
          </a:bodyPr>
          <a:lstStyle/>
          <a:p>
            <a:pPr indent="0" marL="0">
              <a:buNone/>
            </a:pPr>
            <a:r>
              <a:rPr lang="en-US" sz="2600" b="1" dirty="0">
                <a:solidFill>
                  <a:srgbClr val="1B2A4A"/>
                </a:solidFill>
                <a:latin typeface="Calibri" pitchFamily="34" charset="0"/>
                <a:ea typeface="Calibri" pitchFamily="34" charset="-122"/>
                <a:cs typeface="Calibri" pitchFamily="34" charset="-120"/>
              </a:rPr>
              <a:t>State-Space Representation</a:t>
            </a:r>
            <a:endParaRPr lang="en-US" sz="2600" dirty="0"/>
          </a:p>
        </p:txBody>
      </p:sp>
      <p:sp>
        <p:nvSpPr>
          <p:cNvPr id="4" name="Text 2"/>
          <p:cNvSpPr/>
          <p:nvPr/>
        </p:nvSpPr>
        <p:spPr>
          <a:xfrm>
            <a:off x="256032" y="768096"/>
            <a:ext cx="8686800" cy="274320"/>
          </a:xfrm>
          <a:prstGeom prst="rect">
            <a:avLst/>
          </a:prstGeom>
          <a:noFill/>
          <a:ln/>
        </p:spPr>
        <p:txBody>
          <a:bodyPr wrap="square" lIns="0" tIns="0" rIns="0" bIns="0" rtlCol="0" anchor="ctr">
            <a:normAutofit/>
          </a:bodyPr>
          <a:lstStyle/>
          <a:p>
            <a:pPr indent="0" marL="0">
              <a:buNone/>
            </a:pPr>
            <a:r>
              <a:rPr lang="en-US" sz="1200" i="1" dirty="0">
                <a:solidFill>
                  <a:srgbClr val="64748B"/>
                </a:solidFill>
                <a:latin typeface="Calibri" pitchFamily="34" charset="0"/>
                <a:ea typeface="Calibri" pitchFamily="34" charset="-122"/>
                <a:cs typeface="Calibri" pitchFamily="34" charset="-120"/>
              </a:rPr>
              <a:t>The linear controller sees the rig as a four-state acceleration-input plant.</a:t>
            </a:r>
            <a:endParaRPr lang="en-US" sz="1200" dirty="0"/>
          </a:p>
        </p:txBody>
      </p:sp>
      <p:sp>
        <p:nvSpPr>
          <p:cNvPr id="5" name="Shape 3"/>
          <p:cNvSpPr/>
          <p:nvPr/>
        </p:nvSpPr>
        <p:spPr>
          <a:xfrm>
            <a:off x="256032" y="822960"/>
            <a:ext cx="8631936" cy="0"/>
          </a:xfrm>
          <a:prstGeom prst="line">
            <a:avLst/>
          </a:prstGeom>
          <a:noFill/>
          <a:ln w="9525">
            <a:solidFill>
              <a:srgbClr val="DDE3EC"/>
            </a:solidFill>
            <a:prstDash val="solid"/>
          </a:ln>
        </p:spPr>
      </p:sp>
      <p:sp>
        <p:nvSpPr>
          <p:cNvPr id="6" name="Shape 4"/>
          <p:cNvSpPr/>
          <p:nvPr/>
        </p:nvSpPr>
        <p:spPr>
          <a:xfrm>
            <a:off x="594360" y="1170432"/>
            <a:ext cx="5669280" cy="1234440"/>
          </a:xfrm>
          <a:prstGeom prst="rect">
            <a:avLst/>
          </a:prstGeom>
          <a:solidFill>
            <a:srgbClr val="FFFFFF"/>
          </a:solidFill>
          <a:ln w="6350">
            <a:solidFill>
              <a:srgbClr val="DDE3EC"/>
            </a:solidFill>
            <a:prstDash val="solid"/>
          </a:ln>
        </p:spPr>
      </p:sp>
      <p:sp>
        <p:nvSpPr>
          <p:cNvPr id="7" name="Text 5"/>
          <p:cNvSpPr/>
          <p:nvPr/>
        </p:nvSpPr>
        <p:spPr>
          <a:xfrm>
            <a:off x="667512" y="1225296"/>
            <a:ext cx="914400" cy="146304"/>
          </a:xfrm>
          <a:prstGeom prst="rect">
            <a:avLst/>
          </a:prstGeom>
          <a:noFill/>
          <a:ln/>
        </p:spPr>
        <p:txBody>
          <a:bodyPr wrap="square" lIns="0" tIns="0" rIns="0" bIns="0" rtlCol="0" anchor="ctr"/>
          <a:lstStyle/>
          <a:p>
            <a:pPr indent="0" marL="0">
              <a:buNone/>
            </a:pPr>
            <a:r>
              <a:rPr lang="en-US" sz="800" i="1" dirty="0">
                <a:solidFill>
                  <a:srgbClr val="64748B"/>
                </a:solidFill>
                <a:latin typeface="Calibri" pitchFamily="34" charset="0"/>
                <a:ea typeface="Calibri" pitchFamily="34" charset="-122"/>
                <a:cs typeface="Calibri" pitchFamily="34" charset="-120"/>
              </a:rPr>
              <a:t>Equation</a:t>
            </a:r>
            <a:endParaRPr lang="en-US" sz="800" dirty="0"/>
          </a:p>
        </p:txBody>
      </p:sp>
      <p:sp>
        <p:nvSpPr>
          <p:cNvPr id="8" name="Shape 6"/>
          <p:cNvSpPr/>
          <p:nvPr/>
        </p:nvSpPr>
        <p:spPr>
          <a:xfrm>
            <a:off x="6446520" y="1143000"/>
            <a:ext cx="2148840" cy="1325880"/>
          </a:xfrm>
          <a:prstGeom prst="rect">
            <a:avLst/>
          </a:prstGeom>
          <a:solidFill>
            <a:srgbClr val="FFFFFF"/>
          </a:solidFill>
          <a:ln w="6350">
            <a:solidFill>
              <a:srgbClr val="DDE3EC"/>
            </a:solidFill>
            <a:prstDash val="solid"/>
          </a:ln>
        </p:spPr>
      </p:sp>
      <p:sp>
        <p:nvSpPr>
          <p:cNvPr id="9" name="Shape 7"/>
          <p:cNvSpPr/>
          <p:nvPr/>
        </p:nvSpPr>
        <p:spPr>
          <a:xfrm>
            <a:off x="6446520" y="1143000"/>
            <a:ext cx="2148840" cy="64008"/>
          </a:xfrm>
          <a:prstGeom prst="rect">
            <a:avLst/>
          </a:prstGeom>
          <a:solidFill>
            <a:srgbClr val="0D6EAF"/>
          </a:solidFill>
          <a:ln w="12700">
            <a:solidFill>
              <a:srgbClr val="0D6EAF"/>
            </a:solidFill>
            <a:prstDash val="solid"/>
          </a:ln>
        </p:spPr>
      </p:sp>
      <p:sp>
        <p:nvSpPr>
          <p:cNvPr id="10" name="Text 8"/>
          <p:cNvSpPr/>
          <p:nvPr/>
        </p:nvSpPr>
        <p:spPr>
          <a:xfrm>
            <a:off x="6556248" y="1252728"/>
            <a:ext cx="192938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Interpretation</a:t>
            </a:r>
            <a:endParaRPr lang="en-US" sz="1150" dirty="0"/>
          </a:p>
        </p:txBody>
      </p:sp>
      <p:sp>
        <p:nvSpPr>
          <p:cNvPr id="11" name="Text 9"/>
          <p:cNvSpPr/>
          <p:nvPr/>
        </p:nvSpPr>
        <p:spPr>
          <a:xfrm>
            <a:off x="6556248" y="1527048"/>
            <a:ext cx="1929384" cy="832104"/>
          </a:xfrm>
          <a:prstGeom prst="rect">
            <a:avLst/>
          </a:prstGeom>
          <a:noFill/>
          <a:ln/>
        </p:spPr>
        <p:txBody>
          <a:bodyPr wrap="square" lIns="0" tIns="0" rIns="0" bIns="0" rtlCol="0" anchor="ctr">
            <a:normAutofit/>
          </a:bodyPr>
          <a:lstStyle/>
          <a:p>
            <a:pPr indent="0" marL="0">
              <a:buNone/>
            </a:pPr>
            <a:r>
              <a:rPr lang="en-US" sz="980" dirty="0">
                <a:solidFill>
                  <a:srgbClr val="3D5472"/>
                </a:solidFill>
                <a:latin typeface="Calibri" pitchFamily="34" charset="0"/>
                <a:ea typeface="Calibri" pitchFamily="34" charset="-122"/>
                <a:cs typeface="Calibri" pitchFamily="34" charset="-120"/>
              </a:rPr>
              <a:t>• θ̈ acts directly on θ̇</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The same θ̈ also drives α̈ through −B</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α feeds back as the unstable mode through A</a:t>
            </a:r>
            <a:endParaRPr lang="en-US" sz="980" dirty="0"/>
          </a:p>
        </p:txBody>
      </p:sp>
      <p:sp>
        <p:nvSpPr>
          <p:cNvPr id="12" name="Shape 10"/>
          <p:cNvSpPr/>
          <p:nvPr/>
        </p:nvSpPr>
        <p:spPr>
          <a:xfrm>
            <a:off x="594360" y="2788920"/>
            <a:ext cx="8001000" cy="1371600"/>
          </a:xfrm>
          <a:prstGeom prst="rect">
            <a:avLst/>
          </a:prstGeom>
          <a:solidFill>
            <a:srgbClr val="FFFFFF"/>
          </a:solidFill>
          <a:ln w="6350">
            <a:solidFill>
              <a:srgbClr val="DDE3EC"/>
            </a:solidFill>
            <a:prstDash val="solid"/>
          </a:ln>
        </p:spPr>
      </p:sp>
      <p:sp>
        <p:nvSpPr>
          <p:cNvPr id="13" name="Shape 11"/>
          <p:cNvSpPr/>
          <p:nvPr/>
        </p:nvSpPr>
        <p:spPr>
          <a:xfrm>
            <a:off x="594360" y="2788920"/>
            <a:ext cx="8001000" cy="64008"/>
          </a:xfrm>
          <a:prstGeom prst="rect">
            <a:avLst/>
          </a:prstGeom>
          <a:solidFill>
            <a:srgbClr val="0A7A6E"/>
          </a:solidFill>
          <a:ln w="12700">
            <a:solidFill>
              <a:srgbClr val="0A7A6E"/>
            </a:solidFill>
            <a:prstDash val="solid"/>
          </a:ln>
        </p:spPr>
      </p:sp>
      <p:sp>
        <p:nvSpPr>
          <p:cNvPr id="14" name="Text 12"/>
          <p:cNvSpPr/>
          <p:nvPr/>
        </p:nvSpPr>
        <p:spPr>
          <a:xfrm>
            <a:off x="704088" y="2898648"/>
            <a:ext cx="778154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Why this form is convenient</a:t>
            </a:r>
            <a:endParaRPr lang="en-US" sz="1150" dirty="0"/>
          </a:p>
        </p:txBody>
      </p:sp>
      <p:sp>
        <p:nvSpPr>
          <p:cNvPr id="15" name="Text 13"/>
          <p:cNvSpPr/>
          <p:nvPr/>
        </p:nvSpPr>
        <p:spPr>
          <a:xfrm>
            <a:off x="704088" y="3172968"/>
            <a:ext cx="7781544" cy="877824"/>
          </a:xfrm>
          <a:prstGeom prst="rect">
            <a:avLst/>
          </a:prstGeom>
          <a:noFill/>
          <a:ln/>
        </p:spPr>
        <p:txBody>
          <a:bodyPr wrap="square" lIns="0" tIns="0" rIns="0" bIns="0" rtlCol="0" anchor="ctr">
            <a:normAutofit/>
          </a:bodyPr>
          <a:lstStyle/>
          <a:p>
            <a:pPr indent="0" marL="0">
              <a:buNone/>
            </a:pPr>
            <a:r>
              <a:rPr lang="en-US" sz="1000" dirty="0">
                <a:solidFill>
                  <a:srgbClr val="3D5472"/>
                </a:solidFill>
                <a:latin typeface="Calibri" pitchFamily="34" charset="0"/>
                <a:ea typeface="Calibri" pitchFamily="34" charset="-122"/>
                <a:cs typeface="Calibri" pitchFamily="34" charset="-120"/>
              </a:rPr>
              <a:t>It gives a direct bridge from the modelling chapter to controller synthesis: one can place poles analytically, derive an LQR gain, and then convert the result into stepper acceleration units using the fixed conversion $k_s=4.444$.</a:t>
            </a:r>
            <a:endParaRPr lang="en-US" sz="1000" dirty="0"/>
          </a:p>
        </p:txBody>
      </p:sp>
      <p:sp>
        <p:nvSpPr>
          <p:cNvPr id="16" name="Text 14"/>
          <p:cNvSpPr/>
          <p:nvPr/>
        </p:nvSpPr>
        <p:spPr>
          <a:xfrm>
            <a:off x="8412480" y="4892040"/>
            <a:ext cx="640080" cy="201168"/>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17 / 38</a:t>
            </a:r>
            <a:endParaRPr lang="en-US" sz="900" dirty="0"/>
          </a:p>
        </p:txBody>
      </p:sp>
      <p:sp>
        <p:nvSpPr>
          <p:cNvPr id="17" name="Shape 15"/>
          <p:cNvSpPr/>
          <p:nvPr/>
        </p:nvSpPr>
        <p:spPr>
          <a:xfrm>
            <a:off x="256032" y="4882896"/>
            <a:ext cx="8631936" cy="36576"/>
          </a:xfrm>
          <a:prstGeom prst="rect">
            <a:avLst/>
          </a:prstGeom>
          <a:solidFill>
            <a:srgbClr val="0D6EAF">
              <a:alpha val="15000"/>
            </a:srgbClr>
          </a:solidFill>
          <a:ln w="12700">
            <a:solidFill>
              <a:srgbClr val="0D6EAF"/>
            </a:solidFill>
            <a:prstDash val="solid"/>
          </a:ln>
        </p:spPr>
      </p:sp>
      <p:sp>
        <p:nvSpPr>
          <p:cNvPr id="18" name="Shape 16"/>
          <p:cNvSpPr/>
          <p:nvPr/>
        </p:nvSpPr>
        <p:spPr>
          <a:xfrm>
            <a:off x="256032" y="4882896"/>
            <a:ext cx="3861656" cy="36576"/>
          </a:xfrm>
          <a:prstGeom prst="rect">
            <a:avLst/>
          </a:prstGeom>
          <a:solidFill>
            <a:srgbClr val="0D6EAF"/>
          </a:solidFill>
          <a:ln w="12700">
            <a:solidFill>
              <a:srgbClr val="0D6EAF"/>
            </a:solidFill>
            <a:prstDash val="solid"/>
          </a:ln>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8FA"/>
        </a:solidFill>
      </p:bgPr>
    </p:bg>
    <p:spTree>
      <p:nvGrpSpPr>
        <p:cNvPr id="1" name=""/>
        <p:cNvGrpSpPr/>
        <p:nvPr/>
      </p:nvGrpSpPr>
      <p:grpSpPr>
        <a:xfrm>
          <a:off x="0" y="0"/>
          <a:ext cx="0" cy="0"/>
          <a:chOff x="0" y="0"/>
          <a:chExt cx="0" cy="0"/>
        </a:xfrm>
      </p:grpSpPr>
      <p:sp>
        <p:nvSpPr>
          <p:cNvPr id="2" name="Shape 0"/>
          <p:cNvSpPr/>
          <p:nvPr/>
        </p:nvSpPr>
        <p:spPr>
          <a:xfrm>
            <a:off x="0" y="0"/>
            <a:ext cx="118872" cy="5143500"/>
          </a:xfrm>
          <a:prstGeom prst="rect">
            <a:avLst/>
          </a:prstGeom>
          <a:solidFill>
            <a:srgbClr val="0D6EAF"/>
          </a:solidFill>
          <a:ln w="12700">
            <a:solidFill>
              <a:srgbClr val="0D6EAF"/>
            </a:solidFill>
            <a:prstDash val="solid"/>
          </a:ln>
        </p:spPr>
      </p:sp>
      <p:sp>
        <p:nvSpPr>
          <p:cNvPr id="3" name="Text 1"/>
          <p:cNvSpPr/>
          <p:nvPr/>
        </p:nvSpPr>
        <p:spPr>
          <a:xfrm>
            <a:off x="256032" y="201168"/>
            <a:ext cx="8686800" cy="566928"/>
          </a:xfrm>
          <a:prstGeom prst="rect">
            <a:avLst/>
          </a:prstGeom>
          <a:noFill/>
          <a:ln/>
        </p:spPr>
        <p:txBody>
          <a:bodyPr wrap="square" lIns="0" tIns="0" rIns="0" bIns="0" rtlCol="0" anchor="ctr">
            <a:normAutofit/>
          </a:bodyPr>
          <a:lstStyle/>
          <a:p>
            <a:pPr indent="0" marL="0">
              <a:buNone/>
            </a:pPr>
            <a:r>
              <a:rPr lang="en-US" sz="2600" b="1" dirty="0">
                <a:solidFill>
                  <a:srgbClr val="1B2A4A"/>
                </a:solidFill>
                <a:latin typeface="Calibri" pitchFamily="34" charset="0"/>
                <a:ea typeface="Calibri" pitchFamily="34" charset="-122"/>
                <a:cs typeface="Calibri" pitchFamily="34" charset="-120"/>
              </a:rPr>
              <a:t>Real Firmware Control Architecture</a:t>
            </a:r>
            <a:endParaRPr lang="en-US" sz="2600" dirty="0"/>
          </a:p>
        </p:txBody>
      </p:sp>
      <p:sp>
        <p:nvSpPr>
          <p:cNvPr id="4" name="Text 2"/>
          <p:cNvSpPr/>
          <p:nvPr/>
        </p:nvSpPr>
        <p:spPr>
          <a:xfrm>
            <a:off x="256032" y="768096"/>
            <a:ext cx="8686800" cy="274320"/>
          </a:xfrm>
          <a:prstGeom prst="rect">
            <a:avLst/>
          </a:prstGeom>
          <a:noFill/>
          <a:ln/>
        </p:spPr>
        <p:txBody>
          <a:bodyPr wrap="square" lIns="0" tIns="0" rIns="0" bIns="0" rtlCol="0" anchor="ctr">
            <a:normAutofit/>
          </a:bodyPr>
          <a:lstStyle/>
          <a:p>
            <a:pPr indent="0" marL="0">
              <a:buNone/>
            </a:pPr>
            <a:r>
              <a:rPr lang="en-US" sz="1200" i="1" dirty="0">
                <a:solidFill>
                  <a:srgbClr val="64748B"/>
                </a:solidFill>
                <a:latin typeface="Calibri" pitchFamily="34" charset="0"/>
                <a:ea typeface="Calibri" pitchFamily="34" charset="-122"/>
                <a:cs typeface="Calibri" pitchFamily="34" charset="-120"/>
              </a:rPr>
              <a:t>This is the practical control-system block diagram actually implemented in the firmware, not an idealized textbook loop.</a:t>
            </a:r>
            <a:endParaRPr lang="en-US" sz="1200" dirty="0"/>
          </a:p>
        </p:txBody>
      </p:sp>
      <p:sp>
        <p:nvSpPr>
          <p:cNvPr id="5" name="Shape 3"/>
          <p:cNvSpPr/>
          <p:nvPr/>
        </p:nvSpPr>
        <p:spPr>
          <a:xfrm>
            <a:off x="256032" y="822960"/>
            <a:ext cx="8631936" cy="0"/>
          </a:xfrm>
          <a:prstGeom prst="line">
            <a:avLst/>
          </a:prstGeom>
          <a:noFill/>
          <a:ln w="9525">
            <a:solidFill>
              <a:srgbClr val="DDE3EC"/>
            </a:solidFill>
            <a:prstDash val="solid"/>
          </a:ln>
        </p:spPr>
      </p:sp>
      <p:sp>
        <p:nvSpPr>
          <p:cNvPr id="6" name="Shape 4"/>
          <p:cNvSpPr/>
          <p:nvPr/>
        </p:nvSpPr>
        <p:spPr>
          <a:xfrm>
            <a:off x="411480" y="1216152"/>
            <a:ext cx="773176" cy="724205"/>
          </a:xfrm>
          <a:prstGeom prst="roundRect">
            <a:avLst/>
          </a:prstGeom>
          <a:solidFill>
            <a:srgbClr val="D6E8F5"/>
          </a:solidFill>
          <a:ln w="6350">
            <a:solidFill>
              <a:srgbClr val="DDE3EC"/>
            </a:solidFill>
            <a:prstDash val="solid"/>
          </a:ln>
        </p:spPr>
      </p:sp>
      <p:sp>
        <p:nvSpPr>
          <p:cNvPr id="7" name="Text 5"/>
          <p:cNvSpPr/>
          <p:nvPr/>
        </p:nvSpPr>
        <p:spPr>
          <a:xfrm>
            <a:off x="466344" y="1298448"/>
            <a:ext cx="663448" cy="559613"/>
          </a:xfrm>
          <a:prstGeom prst="rect">
            <a:avLst/>
          </a:prstGeom>
          <a:noFill/>
          <a:ln/>
        </p:spPr>
        <p:txBody>
          <a:bodyPr wrap="square" lIns="0" tIns="0" rIns="0" bIns="0" rtlCol="0" anchor="ctr">
            <a:normAutofit/>
          </a:bodyPr>
          <a:lstStyle/>
          <a:p>
            <a:pPr algn="ctr" indent="0" marL="0">
              <a:buNone/>
            </a:pPr>
            <a:r>
              <a:rPr lang="en-US" sz="900" b="1" dirty="0">
                <a:solidFill>
                  <a:srgbClr val="1B2A4A"/>
                </a:solidFill>
                <a:latin typeface="Calibri" pitchFamily="34" charset="0"/>
                <a:ea typeface="Calibri" pitchFamily="34" charset="-122"/>
                <a:cs typeface="Calibri" pitchFamily="34" charset="-120"/>
              </a:rPr>
              <a:t>AS5600\nθ, α</a:t>
            </a:r>
            <a:endParaRPr lang="en-US" sz="900" dirty="0"/>
          </a:p>
        </p:txBody>
      </p:sp>
      <p:sp>
        <p:nvSpPr>
          <p:cNvPr id="8" name="Text 6"/>
          <p:cNvSpPr/>
          <p:nvPr/>
        </p:nvSpPr>
        <p:spPr>
          <a:xfrm>
            <a:off x="1202944" y="1362456"/>
            <a:ext cx="128016" cy="228600"/>
          </a:xfrm>
          <a:prstGeom prst="rect">
            <a:avLst/>
          </a:prstGeom>
          <a:noFill/>
          <a:ln/>
        </p:spPr>
        <p:txBody>
          <a:bodyPr wrap="square" lIns="0" tIns="0" rIns="0" bIns="0" rtlCol="0" anchor="ctr"/>
          <a:lstStyle/>
          <a:p>
            <a:pPr algn="ctr" indent="0" marL="0">
              <a:buNone/>
            </a:pPr>
            <a:r>
              <a:rPr lang="en-US" sz="1800" b="1" dirty="0">
                <a:solidFill>
                  <a:srgbClr val="0D6EAF"/>
                </a:solidFill>
                <a:latin typeface="Calibri" pitchFamily="34" charset="0"/>
                <a:ea typeface="Calibri" pitchFamily="34" charset="-122"/>
                <a:cs typeface="Calibri" pitchFamily="34" charset="-120"/>
              </a:rPr>
              <a:t>→</a:t>
            </a:r>
            <a:endParaRPr lang="en-US" sz="1800" dirty="0"/>
          </a:p>
        </p:txBody>
      </p:sp>
      <p:sp>
        <p:nvSpPr>
          <p:cNvPr id="9" name="Shape 7"/>
          <p:cNvSpPr/>
          <p:nvPr/>
        </p:nvSpPr>
        <p:spPr>
          <a:xfrm>
            <a:off x="1349248" y="1216152"/>
            <a:ext cx="773176" cy="724205"/>
          </a:xfrm>
          <a:prstGeom prst="roundRect">
            <a:avLst/>
          </a:prstGeom>
          <a:solidFill>
            <a:srgbClr val="EEF5FB"/>
          </a:solidFill>
          <a:ln w="6350">
            <a:solidFill>
              <a:srgbClr val="DDE3EC"/>
            </a:solidFill>
            <a:prstDash val="solid"/>
          </a:ln>
        </p:spPr>
      </p:sp>
      <p:sp>
        <p:nvSpPr>
          <p:cNvPr id="10" name="Text 8"/>
          <p:cNvSpPr/>
          <p:nvPr/>
        </p:nvSpPr>
        <p:spPr>
          <a:xfrm>
            <a:off x="1404112" y="1298448"/>
            <a:ext cx="663448" cy="559613"/>
          </a:xfrm>
          <a:prstGeom prst="rect">
            <a:avLst/>
          </a:prstGeom>
          <a:noFill/>
          <a:ln/>
        </p:spPr>
        <p:txBody>
          <a:bodyPr wrap="square" lIns="0" tIns="0" rIns="0" bIns="0" rtlCol="0" anchor="ctr">
            <a:normAutofit/>
          </a:bodyPr>
          <a:lstStyle/>
          <a:p>
            <a:pPr algn="ctr" indent="0" marL="0">
              <a:buNone/>
            </a:pPr>
            <a:r>
              <a:rPr lang="en-US" sz="900" b="1" dirty="0">
                <a:solidFill>
                  <a:srgbClr val="1B2A4A"/>
                </a:solidFill>
                <a:latin typeface="Calibri" pitchFamily="34" charset="0"/>
                <a:ea typeface="Calibri" pitchFamily="34" charset="-122"/>
                <a:cs typeface="Calibri" pitchFamily="34" charset="-120"/>
              </a:rPr>
              <a:t>Mux select\n+ settle</a:t>
            </a:r>
            <a:endParaRPr lang="en-US" sz="900" dirty="0"/>
          </a:p>
        </p:txBody>
      </p:sp>
      <p:sp>
        <p:nvSpPr>
          <p:cNvPr id="11" name="Text 9"/>
          <p:cNvSpPr/>
          <p:nvPr/>
        </p:nvSpPr>
        <p:spPr>
          <a:xfrm>
            <a:off x="2140712" y="1362456"/>
            <a:ext cx="128016" cy="228600"/>
          </a:xfrm>
          <a:prstGeom prst="rect">
            <a:avLst/>
          </a:prstGeom>
          <a:noFill/>
          <a:ln/>
        </p:spPr>
        <p:txBody>
          <a:bodyPr wrap="square" lIns="0" tIns="0" rIns="0" bIns="0" rtlCol="0" anchor="ctr"/>
          <a:lstStyle/>
          <a:p>
            <a:pPr algn="ctr" indent="0" marL="0">
              <a:buNone/>
            </a:pPr>
            <a:r>
              <a:rPr lang="en-US" sz="1800" b="1" dirty="0">
                <a:solidFill>
                  <a:srgbClr val="0D6EAF"/>
                </a:solidFill>
                <a:latin typeface="Calibri" pitchFamily="34" charset="0"/>
                <a:ea typeface="Calibri" pitchFamily="34" charset="-122"/>
                <a:cs typeface="Calibri" pitchFamily="34" charset="-120"/>
              </a:rPr>
              <a:t>→</a:t>
            </a:r>
            <a:endParaRPr lang="en-US" sz="1800" dirty="0"/>
          </a:p>
        </p:txBody>
      </p:sp>
      <p:sp>
        <p:nvSpPr>
          <p:cNvPr id="12" name="Shape 10"/>
          <p:cNvSpPr/>
          <p:nvPr/>
        </p:nvSpPr>
        <p:spPr>
          <a:xfrm>
            <a:off x="2287016" y="1216152"/>
            <a:ext cx="773176" cy="724205"/>
          </a:xfrm>
          <a:prstGeom prst="roundRect">
            <a:avLst/>
          </a:prstGeom>
          <a:solidFill>
            <a:srgbClr val="FEF2F2"/>
          </a:solidFill>
          <a:ln w="6350">
            <a:solidFill>
              <a:srgbClr val="DDE3EC"/>
            </a:solidFill>
            <a:prstDash val="solid"/>
          </a:ln>
        </p:spPr>
      </p:sp>
      <p:sp>
        <p:nvSpPr>
          <p:cNvPr id="13" name="Text 11"/>
          <p:cNvSpPr/>
          <p:nvPr/>
        </p:nvSpPr>
        <p:spPr>
          <a:xfrm>
            <a:off x="2341880" y="1298448"/>
            <a:ext cx="663448" cy="559613"/>
          </a:xfrm>
          <a:prstGeom prst="rect">
            <a:avLst/>
          </a:prstGeom>
          <a:noFill/>
          <a:ln/>
        </p:spPr>
        <p:txBody>
          <a:bodyPr wrap="square" lIns="0" tIns="0" rIns="0" bIns="0" rtlCol="0" anchor="ctr">
            <a:normAutofit/>
          </a:bodyPr>
          <a:lstStyle/>
          <a:p>
            <a:pPr algn="ctr" indent="0" marL="0">
              <a:buNone/>
            </a:pPr>
            <a:r>
              <a:rPr lang="en-US" sz="900" b="1" dirty="0">
                <a:solidFill>
                  <a:srgbClr val="1B2A4A"/>
                </a:solidFill>
                <a:latin typeface="Calibri" pitchFamily="34" charset="0"/>
                <a:ea typeface="Calibri" pitchFamily="34" charset="-122"/>
                <a:cs typeface="Calibri" pitchFamily="34" charset="-120"/>
              </a:rPr>
              <a:t>Wrap +\nglitch reject</a:t>
            </a:r>
            <a:endParaRPr lang="en-US" sz="900" dirty="0"/>
          </a:p>
        </p:txBody>
      </p:sp>
      <p:sp>
        <p:nvSpPr>
          <p:cNvPr id="14" name="Text 12"/>
          <p:cNvSpPr/>
          <p:nvPr/>
        </p:nvSpPr>
        <p:spPr>
          <a:xfrm>
            <a:off x="3078480" y="1362456"/>
            <a:ext cx="128016" cy="228600"/>
          </a:xfrm>
          <a:prstGeom prst="rect">
            <a:avLst/>
          </a:prstGeom>
          <a:noFill/>
          <a:ln/>
        </p:spPr>
        <p:txBody>
          <a:bodyPr wrap="square" lIns="0" tIns="0" rIns="0" bIns="0" rtlCol="0" anchor="ctr"/>
          <a:lstStyle/>
          <a:p>
            <a:pPr algn="ctr" indent="0" marL="0">
              <a:buNone/>
            </a:pPr>
            <a:r>
              <a:rPr lang="en-US" sz="1800" b="1" dirty="0">
                <a:solidFill>
                  <a:srgbClr val="0D6EAF"/>
                </a:solidFill>
                <a:latin typeface="Calibri" pitchFamily="34" charset="0"/>
                <a:ea typeface="Calibri" pitchFamily="34" charset="-122"/>
                <a:cs typeface="Calibri" pitchFamily="34" charset="-120"/>
              </a:rPr>
              <a:t>→</a:t>
            </a:r>
            <a:endParaRPr lang="en-US" sz="1800" dirty="0"/>
          </a:p>
        </p:txBody>
      </p:sp>
      <p:sp>
        <p:nvSpPr>
          <p:cNvPr id="15" name="Shape 13"/>
          <p:cNvSpPr/>
          <p:nvPr/>
        </p:nvSpPr>
        <p:spPr>
          <a:xfrm>
            <a:off x="3224784" y="1216152"/>
            <a:ext cx="773176" cy="724205"/>
          </a:xfrm>
          <a:prstGeom prst="roundRect">
            <a:avLst/>
          </a:prstGeom>
          <a:solidFill>
            <a:srgbClr val="D6E8F5"/>
          </a:solidFill>
          <a:ln w="6350">
            <a:solidFill>
              <a:srgbClr val="DDE3EC"/>
            </a:solidFill>
            <a:prstDash val="solid"/>
          </a:ln>
        </p:spPr>
      </p:sp>
      <p:sp>
        <p:nvSpPr>
          <p:cNvPr id="16" name="Text 14"/>
          <p:cNvSpPr/>
          <p:nvPr/>
        </p:nvSpPr>
        <p:spPr>
          <a:xfrm>
            <a:off x="3279648" y="1298448"/>
            <a:ext cx="663448" cy="559613"/>
          </a:xfrm>
          <a:prstGeom prst="rect">
            <a:avLst/>
          </a:prstGeom>
          <a:noFill/>
          <a:ln/>
        </p:spPr>
        <p:txBody>
          <a:bodyPr wrap="square" lIns="0" tIns="0" rIns="0" bIns="0" rtlCol="0" anchor="ctr">
            <a:normAutofit/>
          </a:bodyPr>
          <a:lstStyle/>
          <a:p>
            <a:pPr algn="ctr" indent="0" marL="0">
              <a:buNone/>
            </a:pPr>
            <a:r>
              <a:rPr lang="en-US" sz="900" b="1" dirty="0">
                <a:solidFill>
                  <a:srgbClr val="1B2A4A"/>
                </a:solidFill>
                <a:latin typeface="Calibri" pitchFamily="34" charset="0"/>
                <a:ea typeface="Calibri" pitchFamily="34" charset="-122"/>
                <a:cs typeface="Calibri" pitchFamily="34" charset="-120"/>
              </a:rPr>
              <a:t>Tustin\nfilter</a:t>
            </a:r>
            <a:endParaRPr lang="en-US" sz="900" dirty="0"/>
          </a:p>
        </p:txBody>
      </p:sp>
      <p:sp>
        <p:nvSpPr>
          <p:cNvPr id="17" name="Text 15"/>
          <p:cNvSpPr/>
          <p:nvPr/>
        </p:nvSpPr>
        <p:spPr>
          <a:xfrm>
            <a:off x="4016248" y="1362456"/>
            <a:ext cx="128016" cy="228600"/>
          </a:xfrm>
          <a:prstGeom prst="rect">
            <a:avLst/>
          </a:prstGeom>
          <a:noFill/>
          <a:ln/>
        </p:spPr>
        <p:txBody>
          <a:bodyPr wrap="square" lIns="0" tIns="0" rIns="0" bIns="0" rtlCol="0" anchor="ctr"/>
          <a:lstStyle/>
          <a:p>
            <a:pPr algn="ctr" indent="0" marL="0">
              <a:buNone/>
            </a:pPr>
            <a:r>
              <a:rPr lang="en-US" sz="1800" b="1" dirty="0">
                <a:solidFill>
                  <a:srgbClr val="0D6EAF"/>
                </a:solidFill>
                <a:latin typeface="Calibri" pitchFamily="34" charset="0"/>
                <a:ea typeface="Calibri" pitchFamily="34" charset="-122"/>
                <a:cs typeface="Calibri" pitchFamily="34" charset="-120"/>
              </a:rPr>
              <a:t>→</a:t>
            </a:r>
            <a:endParaRPr lang="en-US" sz="1800" dirty="0"/>
          </a:p>
        </p:txBody>
      </p:sp>
      <p:sp>
        <p:nvSpPr>
          <p:cNvPr id="18" name="Shape 16"/>
          <p:cNvSpPr/>
          <p:nvPr/>
        </p:nvSpPr>
        <p:spPr>
          <a:xfrm>
            <a:off x="4162552" y="1216152"/>
            <a:ext cx="773176" cy="724205"/>
          </a:xfrm>
          <a:prstGeom prst="roundRect">
            <a:avLst/>
          </a:prstGeom>
          <a:solidFill>
            <a:srgbClr val="FEF3C7"/>
          </a:solidFill>
          <a:ln w="6350">
            <a:solidFill>
              <a:srgbClr val="DDE3EC"/>
            </a:solidFill>
            <a:prstDash val="solid"/>
          </a:ln>
        </p:spPr>
      </p:sp>
      <p:sp>
        <p:nvSpPr>
          <p:cNvPr id="19" name="Text 17"/>
          <p:cNvSpPr/>
          <p:nvPr/>
        </p:nvSpPr>
        <p:spPr>
          <a:xfrm>
            <a:off x="4217416" y="1298448"/>
            <a:ext cx="663448" cy="559613"/>
          </a:xfrm>
          <a:prstGeom prst="rect">
            <a:avLst/>
          </a:prstGeom>
          <a:noFill/>
          <a:ln/>
        </p:spPr>
        <p:txBody>
          <a:bodyPr wrap="square" lIns="0" tIns="0" rIns="0" bIns="0" rtlCol="0" anchor="ctr">
            <a:normAutofit/>
          </a:bodyPr>
          <a:lstStyle/>
          <a:p>
            <a:pPr algn="ctr" indent="0" marL="0">
              <a:buNone/>
            </a:pPr>
            <a:r>
              <a:rPr lang="en-US" sz="900" b="1" dirty="0">
                <a:solidFill>
                  <a:srgbClr val="1B2A4A"/>
                </a:solidFill>
                <a:latin typeface="Calibri" pitchFamily="34" charset="0"/>
                <a:ea typeface="Calibri" pitchFamily="34" charset="-122"/>
                <a:cs typeface="Calibri" pitchFamily="34" charset="-120"/>
              </a:rPr>
              <a:t>Controller</a:t>
            </a:r>
            <a:endParaRPr lang="en-US" sz="900" dirty="0"/>
          </a:p>
        </p:txBody>
      </p:sp>
      <p:sp>
        <p:nvSpPr>
          <p:cNvPr id="20" name="Text 18"/>
          <p:cNvSpPr/>
          <p:nvPr/>
        </p:nvSpPr>
        <p:spPr>
          <a:xfrm>
            <a:off x="4954016" y="1362456"/>
            <a:ext cx="128016" cy="228600"/>
          </a:xfrm>
          <a:prstGeom prst="rect">
            <a:avLst/>
          </a:prstGeom>
          <a:noFill/>
          <a:ln/>
        </p:spPr>
        <p:txBody>
          <a:bodyPr wrap="square" lIns="0" tIns="0" rIns="0" bIns="0" rtlCol="0" anchor="ctr"/>
          <a:lstStyle/>
          <a:p>
            <a:pPr algn="ctr" indent="0" marL="0">
              <a:buNone/>
            </a:pPr>
            <a:r>
              <a:rPr lang="en-US" sz="1800" b="1" dirty="0">
                <a:solidFill>
                  <a:srgbClr val="0D6EAF"/>
                </a:solidFill>
                <a:latin typeface="Calibri" pitchFamily="34" charset="0"/>
                <a:ea typeface="Calibri" pitchFamily="34" charset="-122"/>
                <a:cs typeface="Calibri" pitchFamily="34" charset="-120"/>
              </a:rPr>
              <a:t>→</a:t>
            </a:r>
            <a:endParaRPr lang="en-US" sz="1800" dirty="0"/>
          </a:p>
        </p:txBody>
      </p:sp>
      <p:sp>
        <p:nvSpPr>
          <p:cNvPr id="21" name="Shape 19"/>
          <p:cNvSpPr/>
          <p:nvPr/>
        </p:nvSpPr>
        <p:spPr>
          <a:xfrm>
            <a:off x="5100320" y="1216152"/>
            <a:ext cx="773176" cy="724205"/>
          </a:xfrm>
          <a:prstGeom prst="roundRect">
            <a:avLst/>
          </a:prstGeom>
          <a:solidFill>
            <a:srgbClr val="EEF5FB"/>
          </a:solidFill>
          <a:ln w="6350">
            <a:solidFill>
              <a:srgbClr val="DDE3EC"/>
            </a:solidFill>
            <a:prstDash val="solid"/>
          </a:ln>
        </p:spPr>
      </p:sp>
      <p:sp>
        <p:nvSpPr>
          <p:cNvPr id="22" name="Text 20"/>
          <p:cNvSpPr/>
          <p:nvPr/>
        </p:nvSpPr>
        <p:spPr>
          <a:xfrm>
            <a:off x="5155184" y="1298448"/>
            <a:ext cx="663448" cy="559613"/>
          </a:xfrm>
          <a:prstGeom prst="rect">
            <a:avLst/>
          </a:prstGeom>
          <a:noFill/>
          <a:ln/>
        </p:spPr>
        <p:txBody>
          <a:bodyPr wrap="square" lIns="0" tIns="0" rIns="0" bIns="0" rtlCol="0" anchor="ctr">
            <a:normAutofit/>
          </a:bodyPr>
          <a:lstStyle/>
          <a:p>
            <a:pPr algn="ctr" indent="0" marL="0">
              <a:buNone/>
            </a:pPr>
            <a:r>
              <a:rPr lang="en-US" sz="900" b="1" dirty="0">
                <a:solidFill>
                  <a:srgbClr val="1B2A4A"/>
                </a:solidFill>
                <a:latin typeface="Calibri" pitchFamily="34" charset="0"/>
                <a:ea typeface="Calibri" pitchFamily="34" charset="-122"/>
                <a:cs typeface="Calibri" pitchFamily="34" charset="-120"/>
              </a:rPr>
              <a:t>Sign map</a:t>
            </a:r>
            <a:endParaRPr lang="en-US" sz="900" dirty="0"/>
          </a:p>
        </p:txBody>
      </p:sp>
      <p:sp>
        <p:nvSpPr>
          <p:cNvPr id="23" name="Text 21"/>
          <p:cNvSpPr/>
          <p:nvPr/>
        </p:nvSpPr>
        <p:spPr>
          <a:xfrm>
            <a:off x="5891784" y="1362456"/>
            <a:ext cx="128016" cy="228600"/>
          </a:xfrm>
          <a:prstGeom prst="rect">
            <a:avLst/>
          </a:prstGeom>
          <a:noFill/>
          <a:ln/>
        </p:spPr>
        <p:txBody>
          <a:bodyPr wrap="square" lIns="0" tIns="0" rIns="0" bIns="0" rtlCol="0" anchor="ctr"/>
          <a:lstStyle/>
          <a:p>
            <a:pPr algn="ctr" indent="0" marL="0">
              <a:buNone/>
            </a:pPr>
            <a:r>
              <a:rPr lang="en-US" sz="1800" b="1" dirty="0">
                <a:solidFill>
                  <a:srgbClr val="0D6EAF"/>
                </a:solidFill>
                <a:latin typeface="Calibri" pitchFamily="34" charset="0"/>
                <a:ea typeface="Calibri" pitchFamily="34" charset="-122"/>
                <a:cs typeface="Calibri" pitchFamily="34" charset="-120"/>
              </a:rPr>
              <a:t>→</a:t>
            </a:r>
            <a:endParaRPr lang="en-US" sz="1800" dirty="0"/>
          </a:p>
        </p:txBody>
      </p:sp>
      <p:sp>
        <p:nvSpPr>
          <p:cNvPr id="24" name="Shape 22"/>
          <p:cNvSpPr/>
          <p:nvPr/>
        </p:nvSpPr>
        <p:spPr>
          <a:xfrm>
            <a:off x="6038088" y="1216152"/>
            <a:ext cx="773176" cy="724205"/>
          </a:xfrm>
          <a:prstGeom prst="roundRect">
            <a:avLst/>
          </a:prstGeom>
          <a:solidFill>
            <a:srgbClr val="D6E8F5"/>
          </a:solidFill>
          <a:ln w="6350">
            <a:solidFill>
              <a:srgbClr val="DDE3EC"/>
            </a:solidFill>
            <a:prstDash val="solid"/>
          </a:ln>
        </p:spPr>
      </p:sp>
      <p:sp>
        <p:nvSpPr>
          <p:cNvPr id="25" name="Text 23"/>
          <p:cNvSpPr/>
          <p:nvPr/>
        </p:nvSpPr>
        <p:spPr>
          <a:xfrm>
            <a:off x="6092952" y="1298448"/>
            <a:ext cx="663448" cy="559613"/>
          </a:xfrm>
          <a:prstGeom prst="rect">
            <a:avLst/>
          </a:prstGeom>
          <a:noFill/>
          <a:ln/>
        </p:spPr>
        <p:txBody>
          <a:bodyPr wrap="square" lIns="0" tIns="0" rIns="0" bIns="0" rtlCol="0" anchor="ctr">
            <a:normAutofit/>
          </a:bodyPr>
          <a:lstStyle/>
          <a:p>
            <a:pPr algn="ctr" indent="0" marL="0">
              <a:buNone/>
            </a:pPr>
            <a:r>
              <a:rPr lang="en-US" sz="900" b="1" dirty="0">
                <a:solidFill>
                  <a:srgbClr val="1B2A4A"/>
                </a:solidFill>
                <a:latin typeface="Calibri" pitchFamily="34" charset="0"/>
                <a:ea typeface="Calibri" pitchFamily="34" charset="-122"/>
                <a:cs typeface="Calibri" pitchFamily="34" charset="-120"/>
              </a:rPr>
              <a:t>θ̈ → θ̇\nintegrator</a:t>
            </a:r>
            <a:endParaRPr lang="en-US" sz="900" dirty="0"/>
          </a:p>
        </p:txBody>
      </p:sp>
      <p:sp>
        <p:nvSpPr>
          <p:cNvPr id="26" name="Text 24"/>
          <p:cNvSpPr/>
          <p:nvPr/>
        </p:nvSpPr>
        <p:spPr>
          <a:xfrm>
            <a:off x="6829552" y="1362456"/>
            <a:ext cx="128016" cy="228600"/>
          </a:xfrm>
          <a:prstGeom prst="rect">
            <a:avLst/>
          </a:prstGeom>
          <a:noFill/>
          <a:ln/>
        </p:spPr>
        <p:txBody>
          <a:bodyPr wrap="square" lIns="0" tIns="0" rIns="0" bIns="0" rtlCol="0" anchor="ctr"/>
          <a:lstStyle/>
          <a:p>
            <a:pPr algn="ctr" indent="0" marL="0">
              <a:buNone/>
            </a:pPr>
            <a:r>
              <a:rPr lang="en-US" sz="1800" b="1" dirty="0">
                <a:solidFill>
                  <a:srgbClr val="0D6EAF"/>
                </a:solidFill>
                <a:latin typeface="Calibri" pitchFamily="34" charset="0"/>
                <a:ea typeface="Calibri" pitchFamily="34" charset="-122"/>
                <a:cs typeface="Calibri" pitchFamily="34" charset="-120"/>
              </a:rPr>
              <a:t>→</a:t>
            </a:r>
            <a:endParaRPr lang="en-US" sz="1800" dirty="0"/>
          </a:p>
        </p:txBody>
      </p:sp>
      <p:sp>
        <p:nvSpPr>
          <p:cNvPr id="27" name="Shape 25"/>
          <p:cNvSpPr/>
          <p:nvPr/>
        </p:nvSpPr>
        <p:spPr>
          <a:xfrm>
            <a:off x="6975856" y="1216152"/>
            <a:ext cx="773176" cy="724205"/>
          </a:xfrm>
          <a:prstGeom prst="roundRect">
            <a:avLst/>
          </a:prstGeom>
          <a:solidFill>
            <a:srgbClr val="EEF5FB"/>
          </a:solidFill>
          <a:ln w="6350">
            <a:solidFill>
              <a:srgbClr val="DDE3EC"/>
            </a:solidFill>
            <a:prstDash val="solid"/>
          </a:ln>
        </p:spPr>
      </p:sp>
      <p:sp>
        <p:nvSpPr>
          <p:cNvPr id="28" name="Text 26"/>
          <p:cNvSpPr/>
          <p:nvPr/>
        </p:nvSpPr>
        <p:spPr>
          <a:xfrm>
            <a:off x="7030720" y="1298448"/>
            <a:ext cx="663448" cy="559613"/>
          </a:xfrm>
          <a:prstGeom prst="rect">
            <a:avLst/>
          </a:prstGeom>
          <a:noFill/>
          <a:ln/>
        </p:spPr>
        <p:txBody>
          <a:bodyPr wrap="square" lIns="0" tIns="0" rIns="0" bIns="0" rtlCol="0" anchor="ctr">
            <a:normAutofit/>
          </a:bodyPr>
          <a:lstStyle/>
          <a:p>
            <a:pPr algn="ctr" indent="0" marL="0">
              <a:buNone/>
            </a:pPr>
            <a:r>
              <a:rPr lang="en-US" sz="900" b="1" dirty="0">
                <a:solidFill>
                  <a:srgbClr val="1B2A4A"/>
                </a:solidFill>
                <a:latin typeface="Calibri" pitchFamily="34" charset="0"/>
                <a:ea typeface="Calibri" pitchFamily="34" charset="-122"/>
                <a:cs typeface="Calibri" pitchFamily="34" charset="-120"/>
              </a:rPr>
              <a:t>Deadband +\nreverse stop + limits</a:t>
            </a:r>
            <a:endParaRPr lang="en-US" sz="900" dirty="0"/>
          </a:p>
        </p:txBody>
      </p:sp>
      <p:sp>
        <p:nvSpPr>
          <p:cNvPr id="29" name="Text 27"/>
          <p:cNvSpPr/>
          <p:nvPr/>
        </p:nvSpPr>
        <p:spPr>
          <a:xfrm>
            <a:off x="7767320" y="1362456"/>
            <a:ext cx="128016" cy="228600"/>
          </a:xfrm>
          <a:prstGeom prst="rect">
            <a:avLst/>
          </a:prstGeom>
          <a:noFill/>
          <a:ln/>
        </p:spPr>
        <p:txBody>
          <a:bodyPr wrap="square" lIns="0" tIns="0" rIns="0" bIns="0" rtlCol="0" anchor="ctr"/>
          <a:lstStyle/>
          <a:p>
            <a:pPr algn="ctr" indent="0" marL="0">
              <a:buNone/>
            </a:pPr>
            <a:r>
              <a:rPr lang="en-US" sz="1800" b="1" dirty="0">
                <a:solidFill>
                  <a:srgbClr val="0D6EAF"/>
                </a:solidFill>
                <a:latin typeface="Calibri" pitchFamily="34" charset="0"/>
                <a:ea typeface="Calibri" pitchFamily="34" charset="-122"/>
                <a:cs typeface="Calibri" pitchFamily="34" charset="-120"/>
              </a:rPr>
              <a:t>→</a:t>
            </a:r>
            <a:endParaRPr lang="en-US" sz="1800" dirty="0"/>
          </a:p>
        </p:txBody>
      </p:sp>
      <p:sp>
        <p:nvSpPr>
          <p:cNvPr id="30" name="Shape 28"/>
          <p:cNvSpPr/>
          <p:nvPr/>
        </p:nvSpPr>
        <p:spPr>
          <a:xfrm>
            <a:off x="7913624" y="1216152"/>
            <a:ext cx="773176" cy="724205"/>
          </a:xfrm>
          <a:prstGeom prst="roundRect">
            <a:avLst/>
          </a:prstGeom>
          <a:solidFill>
            <a:srgbClr val="D6E8F5"/>
          </a:solidFill>
          <a:ln w="6350">
            <a:solidFill>
              <a:srgbClr val="DDE3EC"/>
            </a:solidFill>
            <a:prstDash val="solid"/>
          </a:ln>
        </p:spPr>
      </p:sp>
      <p:sp>
        <p:nvSpPr>
          <p:cNvPr id="31" name="Text 29"/>
          <p:cNvSpPr/>
          <p:nvPr/>
        </p:nvSpPr>
        <p:spPr>
          <a:xfrm>
            <a:off x="7968488" y="1298448"/>
            <a:ext cx="663448" cy="559613"/>
          </a:xfrm>
          <a:prstGeom prst="rect">
            <a:avLst/>
          </a:prstGeom>
          <a:noFill/>
          <a:ln/>
        </p:spPr>
        <p:txBody>
          <a:bodyPr wrap="square" lIns="0" tIns="0" rIns="0" bIns="0" rtlCol="0" anchor="ctr">
            <a:normAutofit/>
          </a:bodyPr>
          <a:lstStyle/>
          <a:p>
            <a:pPr algn="ctr" indent="0" marL="0">
              <a:buNone/>
            </a:pPr>
            <a:r>
              <a:rPr lang="en-US" sz="900" b="1" dirty="0">
                <a:solidFill>
                  <a:srgbClr val="1B2A4A"/>
                </a:solidFill>
                <a:latin typeface="Calibri" pitchFamily="34" charset="0"/>
                <a:ea typeface="Calibri" pitchFamily="34" charset="-122"/>
                <a:cs typeface="Calibri" pitchFamily="34" charset="-120"/>
              </a:rPr>
              <a:t>FastAccelStepper\n→ motor</a:t>
            </a:r>
            <a:endParaRPr lang="en-US" sz="900" dirty="0"/>
          </a:p>
        </p:txBody>
      </p:sp>
      <p:sp>
        <p:nvSpPr>
          <p:cNvPr id="32" name="Shape 30"/>
          <p:cNvSpPr/>
          <p:nvPr/>
        </p:nvSpPr>
        <p:spPr>
          <a:xfrm>
            <a:off x="502920" y="2560320"/>
            <a:ext cx="3977640" cy="1554480"/>
          </a:xfrm>
          <a:prstGeom prst="rect">
            <a:avLst/>
          </a:prstGeom>
          <a:solidFill>
            <a:srgbClr val="FFFFFF"/>
          </a:solidFill>
          <a:ln w="6350">
            <a:solidFill>
              <a:srgbClr val="DDE3EC"/>
            </a:solidFill>
            <a:prstDash val="solid"/>
          </a:ln>
        </p:spPr>
      </p:sp>
      <p:sp>
        <p:nvSpPr>
          <p:cNvPr id="33" name="Shape 31"/>
          <p:cNvSpPr/>
          <p:nvPr/>
        </p:nvSpPr>
        <p:spPr>
          <a:xfrm>
            <a:off x="502920" y="2560320"/>
            <a:ext cx="3977640" cy="64008"/>
          </a:xfrm>
          <a:prstGeom prst="rect">
            <a:avLst/>
          </a:prstGeom>
          <a:solidFill>
            <a:srgbClr val="0D6EAF"/>
          </a:solidFill>
          <a:ln w="12700">
            <a:solidFill>
              <a:srgbClr val="0D6EAF"/>
            </a:solidFill>
            <a:prstDash val="solid"/>
          </a:ln>
        </p:spPr>
      </p:sp>
      <p:sp>
        <p:nvSpPr>
          <p:cNvPr id="34" name="Text 32"/>
          <p:cNvSpPr/>
          <p:nvPr/>
        </p:nvSpPr>
        <p:spPr>
          <a:xfrm>
            <a:off x="612648" y="2670048"/>
            <a:ext cx="375818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Where the architecture differs from a servo textbook</a:t>
            </a:r>
            <a:endParaRPr lang="en-US" sz="1150" dirty="0"/>
          </a:p>
        </p:txBody>
      </p:sp>
      <p:sp>
        <p:nvSpPr>
          <p:cNvPr id="35" name="Text 33"/>
          <p:cNvSpPr/>
          <p:nvPr/>
        </p:nvSpPr>
        <p:spPr>
          <a:xfrm>
            <a:off x="612648" y="2944368"/>
            <a:ext cx="3758184" cy="1060704"/>
          </a:xfrm>
          <a:prstGeom prst="rect">
            <a:avLst/>
          </a:prstGeom>
          <a:noFill/>
          <a:ln/>
        </p:spPr>
        <p:txBody>
          <a:bodyPr wrap="square" lIns="0" tIns="0" rIns="0" bIns="0" rtlCol="0" anchor="ctr">
            <a:normAutofit/>
          </a:bodyPr>
          <a:lstStyle/>
          <a:p>
            <a:pPr indent="0" marL="0">
              <a:buNone/>
            </a:pPr>
            <a:r>
              <a:rPr lang="en-US" sz="980" dirty="0">
                <a:solidFill>
                  <a:srgbClr val="3D5472"/>
                </a:solidFill>
                <a:latin typeface="Calibri" pitchFamily="34" charset="0"/>
                <a:ea typeface="Calibri" pitchFamily="34" charset="-122"/>
                <a:cs typeface="Calibri" pitchFamily="34" charset="-120"/>
              </a:rPr>
              <a:t>• The controller closes the loop around measured θ and α, but the actuator channel is still speed-command based.</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The accel-to-speed integrator and speed deadband are part of the plant as seen by software.</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This is why practical protections are not optional add-ons.</a:t>
            </a:r>
            <a:endParaRPr lang="en-US" sz="980" dirty="0"/>
          </a:p>
        </p:txBody>
      </p:sp>
      <p:sp>
        <p:nvSpPr>
          <p:cNvPr id="36" name="Shape 34"/>
          <p:cNvSpPr/>
          <p:nvPr/>
        </p:nvSpPr>
        <p:spPr>
          <a:xfrm>
            <a:off x="4663440" y="2560320"/>
            <a:ext cx="3931920" cy="1554480"/>
          </a:xfrm>
          <a:prstGeom prst="rect">
            <a:avLst/>
          </a:prstGeom>
          <a:solidFill>
            <a:srgbClr val="FFFBEB"/>
          </a:solidFill>
          <a:ln w="6350">
            <a:solidFill>
              <a:srgbClr val="DDE3EC"/>
            </a:solidFill>
            <a:prstDash val="solid"/>
          </a:ln>
        </p:spPr>
      </p:sp>
      <p:sp>
        <p:nvSpPr>
          <p:cNvPr id="37" name="Shape 35"/>
          <p:cNvSpPr/>
          <p:nvPr/>
        </p:nvSpPr>
        <p:spPr>
          <a:xfrm>
            <a:off x="4663440" y="2560320"/>
            <a:ext cx="3931920" cy="64008"/>
          </a:xfrm>
          <a:prstGeom prst="rect">
            <a:avLst/>
          </a:prstGeom>
          <a:solidFill>
            <a:srgbClr val="D97706"/>
          </a:solidFill>
          <a:ln w="12700">
            <a:solidFill>
              <a:srgbClr val="D97706"/>
            </a:solidFill>
            <a:prstDash val="solid"/>
          </a:ln>
        </p:spPr>
      </p:sp>
      <p:sp>
        <p:nvSpPr>
          <p:cNvPr id="38" name="Text 36"/>
          <p:cNvSpPr/>
          <p:nvPr/>
        </p:nvSpPr>
        <p:spPr>
          <a:xfrm>
            <a:off x="4773168" y="2670048"/>
            <a:ext cx="371246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Explicit protection layers</a:t>
            </a:r>
            <a:endParaRPr lang="en-US" sz="1150" dirty="0"/>
          </a:p>
        </p:txBody>
      </p:sp>
      <p:sp>
        <p:nvSpPr>
          <p:cNvPr id="39" name="Text 37"/>
          <p:cNvSpPr/>
          <p:nvPr/>
        </p:nvSpPr>
        <p:spPr>
          <a:xfrm>
            <a:off x="4773168" y="2944368"/>
            <a:ext cx="3712464" cy="1060704"/>
          </a:xfrm>
          <a:prstGeom prst="rect">
            <a:avLst/>
          </a:prstGeom>
          <a:noFill/>
          <a:ln/>
        </p:spPr>
        <p:txBody>
          <a:bodyPr wrap="square" lIns="0" tIns="0" rIns="0" bIns="0" rtlCol="0" anchor="ctr">
            <a:normAutofit/>
          </a:bodyPr>
          <a:lstStyle/>
          <a:p>
            <a:pPr indent="0" marL="0">
              <a:buNone/>
            </a:pPr>
            <a:r>
              <a:rPr lang="en-US" sz="980" dirty="0">
                <a:solidFill>
                  <a:srgbClr val="3D5472"/>
                </a:solidFill>
                <a:latin typeface="Calibri" pitchFamily="34" charset="0"/>
                <a:ea typeface="Calibri" pitchFamily="34" charset="-122"/>
                <a:cs typeface="Calibri" pitchFamily="34" charset="-120"/>
              </a:rPr>
              <a:t>• Soft-limit suppression near ±80°</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Stop-before-reverse to avoid direction chatter</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Stall diagnostics based on measured θ, not only commanded speed</a:t>
            </a:r>
            <a:endParaRPr lang="en-US" sz="980" dirty="0"/>
          </a:p>
        </p:txBody>
      </p:sp>
      <p:sp>
        <p:nvSpPr>
          <p:cNvPr id="40" name="Text 38"/>
          <p:cNvSpPr/>
          <p:nvPr/>
        </p:nvSpPr>
        <p:spPr>
          <a:xfrm>
            <a:off x="8412480" y="4892040"/>
            <a:ext cx="640080" cy="201168"/>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18 / 38</a:t>
            </a:r>
            <a:endParaRPr lang="en-US" sz="900" dirty="0"/>
          </a:p>
        </p:txBody>
      </p:sp>
      <p:sp>
        <p:nvSpPr>
          <p:cNvPr id="41" name="Shape 39"/>
          <p:cNvSpPr/>
          <p:nvPr/>
        </p:nvSpPr>
        <p:spPr>
          <a:xfrm>
            <a:off x="256032" y="4882896"/>
            <a:ext cx="8631936" cy="36576"/>
          </a:xfrm>
          <a:prstGeom prst="rect">
            <a:avLst/>
          </a:prstGeom>
          <a:solidFill>
            <a:srgbClr val="0D6EAF">
              <a:alpha val="15000"/>
            </a:srgbClr>
          </a:solidFill>
          <a:ln w="12700">
            <a:solidFill>
              <a:srgbClr val="0D6EAF"/>
            </a:solidFill>
            <a:prstDash val="solid"/>
          </a:ln>
        </p:spPr>
      </p:sp>
      <p:sp>
        <p:nvSpPr>
          <p:cNvPr id="42" name="Shape 40"/>
          <p:cNvSpPr/>
          <p:nvPr/>
        </p:nvSpPr>
        <p:spPr>
          <a:xfrm>
            <a:off x="256032" y="4882896"/>
            <a:ext cx="4088812" cy="36576"/>
          </a:xfrm>
          <a:prstGeom prst="rect">
            <a:avLst/>
          </a:prstGeom>
          <a:solidFill>
            <a:srgbClr val="0D6EAF"/>
          </a:solidFill>
          <a:ln w="12700">
            <a:solidFill>
              <a:srgbClr val="0D6EAF"/>
            </a:solidFill>
            <a:prstDash val="solid"/>
          </a:ln>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BEB"/>
        </a:solidFill>
      </p:bgPr>
    </p:bg>
    <p:spTree>
      <p:nvGrpSpPr>
        <p:cNvPr id="1" name=""/>
        <p:cNvGrpSpPr/>
        <p:nvPr/>
      </p:nvGrpSpPr>
      <p:grpSpPr>
        <a:xfrm>
          <a:off x="0" y="0"/>
          <a:ext cx="0" cy="0"/>
          <a:chOff x="0" y="0"/>
          <a:chExt cx="0" cy="0"/>
        </a:xfrm>
      </p:grpSpPr>
      <p:sp>
        <p:nvSpPr>
          <p:cNvPr id="2" name="Shape 0"/>
          <p:cNvSpPr/>
          <p:nvPr/>
        </p:nvSpPr>
        <p:spPr>
          <a:xfrm>
            <a:off x="0" y="0"/>
            <a:ext cx="118872" cy="5143500"/>
          </a:xfrm>
          <a:prstGeom prst="rect">
            <a:avLst/>
          </a:prstGeom>
          <a:solidFill>
            <a:srgbClr val="D97706"/>
          </a:solidFill>
          <a:ln w="12700">
            <a:solidFill>
              <a:srgbClr val="D97706"/>
            </a:solidFill>
            <a:prstDash val="solid"/>
          </a:ln>
        </p:spPr>
      </p:sp>
      <p:sp>
        <p:nvSpPr>
          <p:cNvPr id="3" name="Shape 1"/>
          <p:cNvSpPr/>
          <p:nvPr/>
        </p:nvSpPr>
        <p:spPr>
          <a:xfrm>
            <a:off x="6263640" y="182880"/>
            <a:ext cx="2651760" cy="320040"/>
          </a:xfrm>
          <a:prstGeom prst="rect">
            <a:avLst/>
          </a:prstGeom>
          <a:solidFill>
            <a:srgbClr val="D97706"/>
          </a:solidFill>
          <a:ln w="12700">
            <a:solidFill>
              <a:srgbClr val="D97706"/>
            </a:solidFill>
            <a:prstDash val="solid"/>
          </a:ln>
        </p:spPr>
      </p:sp>
      <p:sp>
        <p:nvSpPr>
          <p:cNvPr id="4" name="Text 2"/>
          <p:cNvSpPr/>
          <p:nvPr/>
        </p:nvSpPr>
        <p:spPr>
          <a:xfrm>
            <a:off x="6263640" y="182880"/>
            <a:ext cx="2651760"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KEY CONTRIBUTION</a:t>
            </a:r>
            <a:endParaRPr lang="en-US" sz="900" dirty="0"/>
          </a:p>
        </p:txBody>
      </p:sp>
      <p:sp>
        <p:nvSpPr>
          <p:cNvPr id="5" name="Text 3"/>
          <p:cNvSpPr/>
          <p:nvPr/>
        </p:nvSpPr>
        <p:spPr>
          <a:xfrm>
            <a:off x="256032" y="201168"/>
            <a:ext cx="5925312" cy="566928"/>
          </a:xfrm>
          <a:prstGeom prst="rect">
            <a:avLst/>
          </a:prstGeom>
          <a:noFill/>
          <a:ln/>
        </p:spPr>
        <p:txBody>
          <a:bodyPr wrap="square" lIns="0" tIns="0" rIns="0" bIns="0" rtlCol="0" anchor="ctr">
            <a:normAutofit/>
          </a:bodyPr>
          <a:lstStyle/>
          <a:p>
            <a:pPr indent="0" marL="0">
              <a:buNone/>
            </a:pPr>
            <a:r>
              <a:rPr lang="en-US" sz="2200" b="1" dirty="0">
                <a:solidFill>
                  <a:srgbClr val="1B2A4A"/>
                </a:solidFill>
                <a:latin typeface="Calibri" pitchFamily="34" charset="0"/>
                <a:ea typeface="Calibri" pitchFamily="34" charset="-122"/>
                <a:cs typeface="Calibri" pitchFamily="34" charset="-120"/>
              </a:rPr>
              <a:t>State Estimation: Bilinear Derivative Filter</a:t>
            </a:r>
            <a:endParaRPr lang="en-US" sz="2200" dirty="0"/>
          </a:p>
        </p:txBody>
      </p:sp>
      <p:sp>
        <p:nvSpPr>
          <p:cNvPr id="6" name="Text 4"/>
          <p:cNvSpPr/>
          <p:nvPr/>
        </p:nvSpPr>
        <p:spPr>
          <a:xfrm>
            <a:off x="256032" y="768096"/>
            <a:ext cx="8686800" cy="274320"/>
          </a:xfrm>
          <a:prstGeom prst="rect">
            <a:avLst/>
          </a:prstGeom>
          <a:noFill/>
          <a:ln/>
        </p:spPr>
        <p:txBody>
          <a:bodyPr wrap="square" lIns="0" tIns="0" rIns="0" bIns="0" rtlCol="0" anchor="ctr">
            <a:normAutofit/>
          </a:bodyPr>
          <a:lstStyle/>
          <a:p>
            <a:pPr indent="0" marL="0">
              <a:buNone/>
            </a:pPr>
            <a:r>
              <a:rPr lang="en-US" sz="1200" i="1" dirty="0">
                <a:solidFill>
                  <a:srgbClr val="64748B"/>
                </a:solidFill>
                <a:latin typeface="Calibri" pitchFamily="34" charset="0"/>
                <a:ea typeface="Calibri" pitchFamily="34" charset="-122"/>
                <a:cs typeface="Calibri" pitchFamily="34" charset="-120"/>
              </a:rPr>
              <a:t>The derivative filter is mathematically small, but it is one of the highest leverage implementation choices in the whole project.</a:t>
            </a:r>
            <a:endParaRPr lang="en-US" sz="1200" dirty="0"/>
          </a:p>
        </p:txBody>
      </p:sp>
      <p:sp>
        <p:nvSpPr>
          <p:cNvPr id="7" name="Shape 5"/>
          <p:cNvSpPr/>
          <p:nvPr/>
        </p:nvSpPr>
        <p:spPr>
          <a:xfrm>
            <a:off x="256032" y="822960"/>
            <a:ext cx="8631936" cy="0"/>
          </a:xfrm>
          <a:prstGeom prst="line">
            <a:avLst/>
          </a:prstGeom>
          <a:noFill/>
          <a:ln w="9525">
            <a:solidFill>
              <a:srgbClr val="D97706"/>
            </a:solidFill>
            <a:prstDash val="solid"/>
          </a:ln>
        </p:spPr>
      </p:sp>
      <p:sp>
        <p:nvSpPr>
          <p:cNvPr id="8" name="Shape 6"/>
          <p:cNvSpPr/>
          <p:nvPr/>
        </p:nvSpPr>
        <p:spPr>
          <a:xfrm>
            <a:off x="594360" y="1143000"/>
            <a:ext cx="3886200" cy="868680"/>
          </a:xfrm>
          <a:prstGeom prst="rect">
            <a:avLst/>
          </a:prstGeom>
          <a:solidFill>
            <a:srgbClr val="FFFFFF"/>
          </a:solidFill>
          <a:ln w="6350">
            <a:solidFill>
              <a:srgbClr val="DDE3EC"/>
            </a:solidFill>
            <a:prstDash val="solid"/>
          </a:ln>
        </p:spPr>
      </p:sp>
      <p:sp>
        <p:nvSpPr>
          <p:cNvPr id="9" name="Text 7"/>
          <p:cNvSpPr/>
          <p:nvPr/>
        </p:nvSpPr>
        <p:spPr>
          <a:xfrm>
            <a:off x="667512" y="1197864"/>
            <a:ext cx="914400" cy="146304"/>
          </a:xfrm>
          <a:prstGeom prst="rect">
            <a:avLst/>
          </a:prstGeom>
          <a:noFill/>
          <a:ln/>
        </p:spPr>
        <p:txBody>
          <a:bodyPr wrap="square" lIns="0" tIns="0" rIns="0" bIns="0" rtlCol="0" anchor="ctr"/>
          <a:lstStyle/>
          <a:p>
            <a:pPr indent="0" marL="0">
              <a:buNone/>
            </a:pPr>
            <a:r>
              <a:rPr lang="en-US" sz="800" i="1" dirty="0">
                <a:solidFill>
                  <a:srgbClr val="64748B"/>
                </a:solidFill>
                <a:latin typeface="Calibri" pitchFamily="34" charset="0"/>
                <a:ea typeface="Calibri" pitchFamily="34" charset="-122"/>
                <a:cs typeface="Calibri" pitchFamily="34" charset="-120"/>
              </a:rPr>
              <a:t>Equation</a:t>
            </a:r>
            <a:endParaRPr lang="en-US" sz="800" dirty="0"/>
          </a:p>
        </p:txBody>
      </p:sp>
      <p:sp>
        <p:nvSpPr>
          <p:cNvPr id="10" name="Shape 8"/>
          <p:cNvSpPr/>
          <p:nvPr/>
        </p:nvSpPr>
        <p:spPr>
          <a:xfrm>
            <a:off x="4709160" y="1078992"/>
            <a:ext cx="3840480" cy="1051560"/>
          </a:xfrm>
          <a:prstGeom prst="rect">
            <a:avLst/>
          </a:prstGeom>
          <a:solidFill>
            <a:srgbClr val="FFFFFF"/>
          </a:solidFill>
          <a:ln w="6350">
            <a:solidFill>
              <a:srgbClr val="DDE3EC"/>
            </a:solidFill>
            <a:prstDash val="solid"/>
          </a:ln>
        </p:spPr>
      </p:sp>
      <p:sp>
        <p:nvSpPr>
          <p:cNvPr id="11" name="Shape 9"/>
          <p:cNvSpPr/>
          <p:nvPr/>
        </p:nvSpPr>
        <p:spPr>
          <a:xfrm>
            <a:off x="4709160" y="1078992"/>
            <a:ext cx="3840480" cy="64008"/>
          </a:xfrm>
          <a:prstGeom prst="rect">
            <a:avLst/>
          </a:prstGeom>
          <a:solidFill>
            <a:srgbClr val="0A7A6E"/>
          </a:solidFill>
          <a:ln w="12700">
            <a:solidFill>
              <a:srgbClr val="0A7A6E"/>
            </a:solidFill>
            <a:prstDash val="solid"/>
          </a:ln>
        </p:spPr>
      </p:sp>
      <p:sp>
        <p:nvSpPr>
          <p:cNvPr id="12" name="Text 10"/>
          <p:cNvSpPr/>
          <p:nvPr/>
        </p:nvSpPr>
        <p:spPr>
          <a:xfrm>
            <a:off x="4818888" y="1188720"/>
            <a:ext cx="362102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Implemented coefficients</a:t>
            </a:r>
            <a:endParaRPr lang="en-US" sz="1150" dirty="0"/>
          </a:p>
        </p:txBody>
      </p:sp>
      <p:sp>
        <p:nvSpPr>
          <p:cNvPr id="13" name="Text 11"/>
          <p:cNvSpPr/>
          <p:nvPr/>
        </p:nvSpPr>
        <p:spPr>
          <a:xfrm>
            <a:off x="4818888" y="1463040"/>
            <a:ext cx="3621024" cy="557784"/>
          </a:xfrm>
          <a:prstGeom prst="rect">
            <a:avLst/>
          </a:prstGeom>
          <a:noFill/>
          <a:ln/>
        </p:spPr>
        <p:txBody>
          <a:bodyPr wrap="square" lIns="0" tIns="0" rIns="0" bIns="0" rtlCol="0" anchor="ctr">
            <a:normAutofit/>
          </a:bodyPr>
          <a:lstStyle/>
          <a:p>
            <a:pPr indent="0" marL="0">
              <a:buNone/>
            </a:pPr>
            <a:r>
              <a:rPr lang="en-US" sz="1000" dirty="0">
                <a:solidFill>
                  <a:srgbClr val="3D5472"/>
                </a:solidFill>
                <a:latin typeface="Calibri" pitchFamily="34" charset="0"/>
                <a:ea typeface="Calibri" pitchFamily="34" charset="-122"/>
                <a:cs typeface="Calibri" pitchFamily="34" charset="-120"/>
              </a:rPr>
              <a:t>$b_0 = \frac{2\omega_c}{2+\omega_c T_s},\qquad a_1 = \frac{\omega_c T_s - 2}{\omega_c T_s + 2}$</a:t>
            </a:r>
            <a:endParaRPr lang="en-US" sz="1000" dirty="0"/>
          </a:p>
        </p:txBody>
      </p:sp>
      <p:sp>
        <p:nvSpPr>
          <p:cNvPr id="14" name="Shape 12"/>
          <p:cNvSpPr/>
          <p:nvPr/>
        </p:nvSpPr>
        <p:spPr>
          <a:xfrm>
            <a:off x="502920" y="2423160"/>
            <a:ext cx="3886200" cy="1645920"/>
          </a:xfrm>
          <a:prstGeom prst="rect">
            <a:avLst/>
          </a:prstGeom>
          <a:solidFill>
            <a:srgbClr val="FFFFFF"/>
          </a:solidFill>
          <a:ln w="6350">
            <a:solidFill>
              <a:srgbClr val="DDE3EC"/>
            </a:solidFill>
            <a:prstDash val="solid"/>
          </a:ln>
        </p:spPr>
      </p:sp>
      <p:sp>
        <p:nvSpPr>
          <p:cNvPr id="15" name="Shape 13"/>
          <p:cNvSpPr/>
          <p:nvPr/>
        </p:nvSpPr>
        <p:spPr>
          <a:xfrm>
            <a:off x="502920" y="2423160"/>
            <a:ext cx="3886200" cy="64008"/>
          </a:xfrm>
          <a:prstGeom prst="rect">
            <a:avLst/>
          </a:prstGeom>
          <a:solidFill>
            <a:srgbClr val="0D6EAF"/>
          </a:solidFill>
          <a:ln w="12700">
            <a:solidFill>
              <a:srgbClr val="0D6EAF"/>
            </a:solidFill>
            <a:prstDash val="solid"/>
          </a:ln>
        </p:spPr>
      </p:sp>
      <p:sp>
        <p:nvSpPr>
          <p:cNvPr id="16" name="Text 14"/>
          <p:cNvSpPr/>
          <p:nvPr/>
        </p:nvSpPr>
        <p:spPr>
          <a:xfrm>
            <a:off x="612648" y="2532888"/>
            <a:ext cx="366674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Practical estimator details</a:t>
            </a:r>
            <a:endParaRPr lang="en-US" sz="1150" dirty="0"/>
          </a:p>
        </p:txBody>
      </p:sp>
      <p:sp>
        <p:nvSpPr>
          <p:cNvPr id="17" name="Text 15"/>
          <p:cNvSpPr/>
          <p:nvPr/>
        </p:nvSpPr>
        <p:spPr>
          <a:xfrm>
            <a:off x="612648" y="2807208"/>
            <a:ext cx="3666744" cy="1152144"/>
          </a:xfrm>
          <a:prstGeom prst="rect">
            <a:avLst/>
          </a:prstGeom>
          <a:noFill/>
          <a:ln/>
        </p:spPr>
        <p:txBody>
          <a:bodyPr wrap="square" lIns="0" tIns="0" rIns="0" bIns="0" rtlCol="0" anchor="ctr">
            <a:normAutofit/>
          </a:bodyPr>
          <a:lstStyle/>
          <a:p>
            <a:pPr indent="0" marL="0">
              <a:buNone/>
            </a:pPr>
            <a:r>
              <a:rPr lang="en-US" sz="980" dirty="0">
                <a:solidFill>
                  <a:srgbClr val="3D5472"/>
                </a:solidFill>
                <a:latin typeface="Calibri" pitchFamily="34" charset="0"/>
                <a:ea typeface="Calibri" pitchFamily="34" charset="-122"/>
                <a:cs typeface="Calibri" pitchFamily="34" charset="-120"/>
              </a:rPr>
              <a:t>• Pendulum angle increments are wrapped into ±180° before filtering.</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Rejected jumps force the corresponding increment to zero, so the filter does not see a false spike.</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The filtered derivatives are then clamped before entering control.</a:t>
            </a:r>
            <a:endParaRPr lang="en-US" sz="980" dirty="0"/>
          </a:p>
        </p:txBody>
      </p:sp>
      <p:sp>
        <p:nvSpPr>
          <p:cNvPr id="18" name="Shape 16"/>
          <p:cNvSpPr/>
          <p:nvPr/>
        </p:nvSpPr>
        <p:spPr>
          <a:xfrm>
            <a:off x="4617720" y="2423160"/>
            <a:ext cx="3977640" cy="1645920"/>
          </a:xfrm>
          <a:prstGeom prst="rect">
            <a:avLst/>
          </a:prstGeom>
          <a:solidFill>
            <a:srgbClr val="FFFFFF"/>
          </a:solidFill>
          <a:ln w="6350">
            <a:solidFill>
              <a:srgbClr val="DDE3EC"/>
            </a:solidFill>
            <a:prstDash val="solid"/>
          </a:ln>
        </p:spPr>
      </p:sp>
      <p:sp>
        <p:nvSpPr>
          <p:cNvPr id="19" name="Shape 17"/>
          <p:cNvSpPr/>
          <p:nvPr/>
        </p:nvSpPr>
        <p:spPr>
          <a:xfrm>
            <a:off x="4617720" y="2423160"/>
            <a:ext cx="3977640" cy="64008"/>
          </a:xfrm>
          <a:prstGeom prst="rect">
            <a:avLst/>
          </a:prstGeom>
          <a:solidFill>
            <a:srgbClr val="0D6EAF"/>
          </a:solidFill>
          <a:ln w="12700">
            <a:solidFill>
              <a:srgbClr val="0D6EAF"/>
            </a:solidFill>
            <a:prstDash val="solid"/>
          </a:ln>
        </p:spPr>
      </p:sp>
      <p:sp>
        <p:nvSpPr>
          <p:cNvPr id="20" name="Text 18"/>
          <p:cNvSpPr/>
          <p:nvPr/>
        </p:nvSpPr>
        <p:spPr>
          <a:xfrm>
            <a:off x="4727448" y="2532888"/>
            <a:ext cx="375818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Chosen operating point</a:t>
            </a:r>
            <a:endParaRPr lang="en-US" sz="1150" dirty="0"/>
          </a:p>
        </p:txBody>
      </p:sp>
      <p:sp>
        <p:nvSpPr>
          <p:cNvPr id="21" name="Text 19"/>
          <p:cNvSpPr/>
          <p:nvPr/>
        </p:nvSpPr>
        <p:spPr>
          <a:xfrm>
            <a:off x="4727448" y="2807208"/>
            <a:ext cx="3758184" cy="1152144"/>
          </a:xfrm>
          <a:prstGeom prst="rect">
            <a:avLst/>
          </a:prstGeom>
          <a:noFill/>
          <a:ln/>
        </p:spPr>
        <p:txBody>
          <a:bodyPr wrap="square" lIns="0" tIns="0" rIns="0" bIns="0" rtlCol="0" anchor="ctr">
            <a:normAutofit/>
          </a:bodyPr>
          <a:lstStyle/>
          <a:p>
            <a:pPr indent="0" marL="0">
              <a:buNone/>
            </a:pPr>
            <a:r>
              <a:rPr lang="en-US" sz="980" dirty="0">
                <a:solidFill>
                  <a:srgbClr val="3D5472"/>
                </a:solidFill>
                <a:latin typeface="Calibri" pitchFamily="34" charset="0"/>
                <a:ea typeface="Calibri" pitchFamily="34" charset="-122"/>
                <a:cs typeface="Calibri" pitchFamily="34" charset="-120"/>
              </a:rPr>
              <a:t>• $\omega_c = 450\ \mathrm{rad/s}$, so $f_c \approx 71.6$ Hz</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$T_s = 5$ ms at 200 Hz</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Numerically: $b_0 = 211.7647,\ a_1 = 0.0588$</a:t>
            </a:r>
            <a:endParaRPr lang="en-US" sz="980" dirty="0"/>
          </a:p>
        </p:txBody>
      </p:sp>
      <p:sp>
        <p:nvSpPr>
          <p:cNvPr id="22" name="Text 20"/>
          <p:cNvSpPr/>
          <p:nvPr/>
        </p:nvSpPr>
        <p:spPr>
          <a:xfrm>
            <a:off x="8412480" y="4892040"/>
            <a:ext cx="640080" cy="201168"/>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19 / 38</a:t>
            </a:r>
            <a:endParaRPr lang="en-US" sz="900" dirty="0"/>
          </a:p>
        </p:txBody>
      </p:sp>
      <p:sp>
        <p:nvSpPr>
          <p:cNvPr id="23" name="Shape 21"/>
          <p:cNvSpPr/>
          <p:nvPr/>
        </p:nvSpPr>
        <p:spPr>
          <a:xfrm>
            <a:off x="256032" y="4882896"/>
            <a:ext cx="8631936" cy="36576"/>
          </a:xfrm>
          <a:prstGeom prst="rect">
            <a:avLst/>
          </a:prstGeom>
          <a:solidFill>
            <a:srgbClr val="D97706">
              <a:alpha val="15000"/>
            </a:srgbClr>
          </a:solidFill>
          <a:ln w="12700">
            <a:solidFill>
              <a:srgbClr val="D97706"/>
            </a:solidFill>
            <a:prstDash val="solid"/>
          </a:ln>
        </p:spPr>
      </p:sp>
      <p:sp>
        <p:nvSpPr>
          <p:cNvPr id="24" name="Shape 22"/>
          <p:cNvSpPr/>
          <p:nvPr/>
        </p:nvSpPr>
        <p:spPr>
          <a:xfrm>
            <a:off x="256032" y="4882896"/>
            <a:ext cx="4315968" cy="36576"/>
          </a:xfrm>
          <a:prstGeom prst="rect">
            <a:avLst/>
          </a:prstGeom>
          <a:solidFill>
            <a:srgbClr val="D97706"/>
          </a:solidFill>
          <a:ln w="12700">
            <a:solidFill>
              <a:srgbClr val="D97706"/>
            </a:solidFill>
            <a:prstDash val="solid"/>
          </a:ln>
        </p:spPr>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8FA"/>
        </a:solidFill>
      </p:bgPr>
    </p:bg>
    <p:spTree>
      <p:nvGrpSpPr>
        <p:cNvPr id="1" name=""/>
        <p:cNvGrpSpPr/>
        <p:nvPr/>
      </p:nvGrpSpPr>
      <p:grpSpPr>
        <a:xfrm>
          <a:off x="0" y="0"/>
          <a:ext cx="0" cy="0"/>
          <a:chOff x="0" y="0"/>
          <a:chExt cx="0" cy="0"/>
        </a:xfrm>
      </p:grpSpPr>
      <p:sp>
        <p:nvSpPr>
          <p:cNvPr id="2" name="Shape 0"/>
          <p:cNvSpPr/>
          <p:nvPr/>
        </p:nvSpPr>
        <p:spPr>
          <a:xfrm>
            <a:off x="0" y="0"/>
            <a:ext cx="118872" cy="5143500"/>
          </a:xfrm>
          <a:prstGeom prst="rect">
            <a:avLst/>
          </a:prstGeom>
          <a:solidFill>
            <a:srgbClr val="0D6EAF"/>
          </a:solidFill>
          <a:ln w="12700">
            <a:solidFill>
              <a:srgbClr val="0D6EAF"/>
            </a:solidFill>
            <a:prstDash val="solid"/>
          </a:ln>
        </p:spPr>
      </p:sp>
      <p:sp>
        <p:nvSpPr>
          <p:cNvPr id="3" name="Text 1"/>
          <p:cNvSpPr/>
          <p:nvPr/>
        </p:nvSpPr>
        <p:spPr>
          <a:xfrm>
            <a:off x="256032" y="201168"/>
            <a:ext cx="8686800" cy="566928"/>
          </a:xfrm>
          <a:prstGeom prst="rect">
            <a:avLst/>
          </a:prstGeom>
          <a:noFill/>
          <a:ln/>
        </p:spPr>
        <p:txBody>
          <a:bodyPr wrap="square" lIns="0" tIns="0" rIns="0" bIns="0" rtlCol="0" anchor="ctr">
            <a:normAutofit/>
          </a:bodyPr>
          <a:lstStyle/>
          <a:p>
            <a:pPr indent="0" marL="0">
              <a:buNone/>
            </a:pPr>
            <a:r>
              <a:rPr lang="en-US" sz="2600" b="1" dirty="0">
                <a:solidFill>
                  <a:srgbClr val="1B2A4A"/>
                </a:solidFill>
                <a:latin typeface="Calibri" pitchFamily="34" charset="0"/>
                <a:ea typeface="Calibri" pitchFamily="34" charset="-122"/>
                <a:cs typeface="Calibri" pitchFamily="34" charset="-120"/>
              </a:rPr>
              <a:t>Filter Coefficient Derivation and Cutoff Selection</a:t>
            </a:r>
            <a:endParaRPr lang="en-US" sz="2600" dirty="0"/>
          </a:p>
        </p:txBody>
      </p:sp>
      <p:sp>
        <p:nvSpPr>
          <p:cNvPr id="4" name="Text 2"/>
          <p:cNvSpPr/>
          <p:nvPr/>
        </p:nvSpPr>
        <p:spPr>
          <a:xfrm>
            <a:off x="256032" y="768096"/>
            <a:ext cx="8686800" cy="274320"/>
          </a:xfrm>
          <a:prstGeom prst="rect">
            <a:avLst/>
          </a:prstGeom>
          <a:noFill/>
          <a:ln/>
        </p:spPr>
        <p:txBody>
          <a:bodyPr wrap="square" lIns="0" tIns="0" rIns="0" bIns="0" rtlCol="0" anchor="ctr">
            <a:normAutofit/>
          </a:bodyPr>
          <a:lstStyle/>
          <a:p>
            <a:pPr indent="0" marL="0">
              <a:buNone/>
            </a:pPr>
            <a:r>
              <a:rPr lang="en-US" sz="1200" i="1" dirty="0">
                <a:solidFill>
                  <a:srgbClr val="64748B"/>
                </a:solidFill>
                <a:latin typeface="Calibri" pitchFamily="34" charset="0"/>
                <a:ea typeface="Calibri" pitchFamily="34" charset="-122"/>
                <a:cs typeface="Calibri" pitchFamily="34" charset="-120"/>
              </a:rPr>
              <a:t>The cutoff is high enough to keep derivative lag small, but the roll-off is still strong enough to tame encoder quantization and mux glitches.</a:t>
            </a:r>
            <a:endParaRPr lang="en-US" sz="1200" dirty="0"/>
          </a:p>
        </p:txBody>
      </p:sp>
      <p:sp>
        <p:nvSpPr>
          <p:cNvPr id="5" name="Shape 3"/>
          <p:cNvSpPr/>
          <p:nvPr/>
        </p:nvSpPr>
        <p:spPr>
          <a:xfrm>
            <a:off x="256032" y="822960"/>
            <a:ext cx="8631936" cy="0"/>
          </a:xfrm>
          <a:prstGeom prst="line">
            <a:avLst/>
          </a:prstGeom>
          <a:noFill/>
          <a:ln w="9525">
            <a:solidFill>
              <a:srgbClr val="DDE3EC"/>
            </a:solidFill>
            <a:prstDash val="solid"/>
          </a:ln>
        </p:spPr>
      </p:sp>
      <p:sp>
        <p:nvSpPr>
          <p:cNvPr id="6" name="Shape 4"/>
          <p:cNvSpPr/>
          <p:nvPr/>
        </p:nvSpPr>
        <p:spPr>
          <a:xfrm>
            <a:off x="594360" y="1143000"/>
            <a:ext cx="4160520" cy="822960"/>
          </a:xfrm>
          <a:prstGeom prst="rect">
            <a:avLst/>
          </a:prstGeom>
          <a:solidFill>
            <a:srgbClr val="FFFFFF"/>
          </a:solidFill>
          <a:ln w="6350">
            <a:solidFill>
              <a:srgbClr val="DDE3EC"/>
            </a:solidFill>
            <a:prstDash val="solid"/>
          </a:ln>
        </p:spPr>
      </p:sp>
      <p:sp>
        <p:nvSpPr>
          <p:cNvPr id="7" name="Text 5"/>
          <p:cNvSpPr/>
          <p:nvPr/>
        </p:nvSpPr>
        <p:spPr>
          <a:xfrm>
            <a:off x="667512" y="1197864"/>
            <a:ext cx="914400" cy="146304"/>
          </a:xfrm>
          <a:prstGeom prst="rect">
            <a:avLst/>
          </a:prstGeom>
          <a:noFill/>
          <a:ln/>
        </p:spPr>
        <p:txBody>
          <a:bodyPr wrap="square" lIns="0" tIns="0" rIns="0" bIns="0" rtlCol="0" anchor="ctr"/>
          <a:lstStyle/>
          <a:p>
            <a:pPr indent="0" marL="0">
              <a:buNone/>
            </a:pPr>
            <a:r>
              <a:rPr lang="en-US" sz="800" i="1" dirty="0">
                <a:solidFill>
                  <a:srgbClr val="64748B"/>
                </a:solidFill>
                <a:latin typeface="Calibri" pitchFamily="34" charset="0"/>
                <a:ea typeface="Calibri" pitchFamily="34" charset="-122"/>
                <a:cs typeface="Calibri" pitchFamily="34" charset="-120"/>
              </a:rPr>
              <a:t>Equation</a:t>
            </a:r>
            <a:endParaRPr lang="en-US" sz="800" dirty="0"/>
          </a:p>
        </p:txBody>
      </p:sp>
      <p:sp>
        <p:nvSpPr>
          <p:cNvPr id="8" name="Shape 6"/>
          <p:cNvSpPr/>
          <p:nvPr/>
        </p:nvSpPr>
        <p:spPr>
          <a:xfrm>
            <a:off x="4983480" y="1078992"/>
            <a:ext cx="3611880" cy="960120"/>
          </a:xfrm>
          <a:prstGeom prst="rect">
            <a:avLst/>
          </a:prstGeom>
          <a:solidFill>
            <a:srgbClr val="FFFFFF"/>
          </a:solidFill>
          <a:ln w="6350">
            <a:solidFill>
              <a:srgbClr val="DDE3EC"/>
            </a:solidFill>
            <a:prstDash val="solid"/>
          </a:ln>
        </p:spPr>
      </p:sp>
      <p:sp>
        <p:nvSpPr>
          <p:cNvPr id="9" name="Shape 7"/>
          <p:cNvSpPr/>
          <p:nvPr/>
        </p:nvSpPr>
        <p:spPr>
          <a:xfrm>
            <a:off x="4983480" y="1078992"/>
            <a:ext cx="3611880" cy="64008"/>
          </a:xfrm>
          <a:prstGeom prst="rect">
            <a:avLst/>
          </a:prstGeom>
          <a:solidFill>
            <a:srgbClr val="0D6EAF"/>
          </a:solidFill>
          <a:ln w="12700">
            <a:solidFill>
              <a:srgbClr val="0D6EAF"/>
            </a:solidFill>
            <a:prstDash val="solid"/>
          </a:ln>
        </p:spPr>
      </p:sp>
      <p:sp>
        <p:nvSpPr>
          <p:cNvPr id="10" name="Text 8"/>
          <p:cNvSpPr/>
          <p:nvPr/>
        </p:nvSpPr>
        <p:spPr>
          <a:xfrm>
            <a:off x="5093208" y="1188720"/>
            <a:ext cx="339242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Why not recompute every tick?</a:t>
            </a:r>
            <a:endParaRPr lang="en-US" sz="1150" dirty="0"/>
          </a:p>
        </p:txBody>
      </p:sp>
      <p:sp>
        <p:nvSpPr>
          <p:cNvPr id="11" name="Text 9"/>
          <p:cNvSpPr/>
          <p:nvPr/>
        </p:nvSpPr>
        <p:spPr>
          <a:xfrm>
            <a:off x="5093208" y="1463040"/>
            <a:ext cx="3392424" cy="466344"/>
          </a:xfrm>
          <a:prstGeom prst="rect">
            <a:avLst/>
          </a:prstGeom>
          <a:noFill/>
          <a:ln/>
        </p:spPr>
        <p:txBody>
          <a:bodyPr wrap="square" lIns="0" tIns="0" rIns="0" bIns="0" rtlCol="0" anchor="ctr">
            <a:normAutofit/>
          </a:bodyPr>
          <a:lstStyle/>
          <a:p>
            <a:pPr indent="0" marL="0">
              <a:buNone/>
            </a:pPr>
            <a:r>
              <a:rPr lang="en-US" sz="1000" dirty="0">
                <a:solidFill>
                  <a:srgbClr val="3D5472"/>
                </a:solidFill>
                <a:latin typeface="Calibri" pitchFamily="34" charset="0"/>
                <a:ea typeface="Calibri" pitchFamily="34" charset="-122"/>
                <a:cs typeface="Calibri" pitchFamily="34" charset="-120"/>
              </a:rPr>
              <a:t>The firmware measures actual dt for integrators and reference updates, but the derivative coefficients are fixed from the nominal 5 ms period to keep the implementation simple and stable.</a:t>
            </a:r>
            <a:endParaRPr lang="en-US" sz="1000" dirty="0"/>
          </a:p>
        </p:txBody>
      </p:sp>
      <p:sp>
        <p:nvSpPr>
          <p:cNvPr id="12" name="Shape 10"/>
          <p:cNvSpPr/>
          <p:nvPr/>
        </p:nvSpPr>
        <p:spPr>
          <a:xfrm>
            <a:off x="502920" y="2423160"/>
            <a:ext cx="3886200" cy="1691640"/>
          </a:xfrm>
          <a:prstGeom prst="rect">
            <a:avLst/>
          </a:prstGeom>
          <a:solidFill>
            <a:srgbClr val="FFFFFF"/>
          </a:solidFill>
          <a:ln w="6350">
            <a:solidFill>
              <a:srgbClr val="DDE3EC"/>
            </a:solidFill>
            <a:prstDash val="solid"/>
          </a:ln>
        </p:spPr>
      </p:sp>
      <p:sp>
        <p:nvSpPr>
          <p:cNvPr id="13" name="Shape 11"/>
          <p:cNvSpPr/>
          <p:nvPr/>
        </p:nvSpPr>
        <p:spPr>
          <a:xfrm>
            <a:off x="502920" y="2423160"/>
            <a:ext cx="3886200" cy="64008"/>
          </a:xfrm>
          <a:prstGeom prst="rect">
            <a:avLst/>
          </a:prstGeom>
          <a:solidFill>
            <a:srgbClr val="0D6EAF"/>
          </a:solidFill>
          <a:ln w="12700">
            <a:solidFill>
              <a:srgbClr val="0D6EAF"/>
            </a:solidFill>
            <a:prstDash val="solid"/>
          </a:ln>
        </p:spPr>
      </p:sp>
      <p:sp>
        <p:nvSpPr>
          <p:cNvPr id="14" name="Text 12"/>
          <p:cNvSpPr/>
          <p:nvPr/>
        </p:nvSpPr>
        <p:spPr>
          <a:xfrm>
            <a:off x="612648" y="2532888"/>
            <a:ext cx="366674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Cutoff tradeoff</a:t>
            </a:r>
            <a:endParaRPr lang="en-US" sz="1150" dirty="0"/>
          </a:p>
        </p:txBody>
      </p:sp>
      <p:sp>
        <p:nvSpPr>
          <p:cNvPr id="15" name="Text 13"/>
          <p:cNvSpPr/>
          <p:nvPr/>
        </p:nvSpPr>
        <p:spPr>
          <a:xfrm>
            <a:off x="612648" y="2807208"/>
            <a:ext cx="3666744" cy="1197864"/>
          </a:xfrm>
          <a:prstGeom prst="rect">
            <a:avLst/>
          </a:prstGeom>
          <a:noFill/>
          <a:ln/>
        </p:spPr>
        <p:txBody>
          <a:bodyPr wrap="square" lIns="0" tIns="0" rIns="0" bIns="0" rtlCol="0" anchor="ctr">
            <a:normAutofit/>
          </a:bodyPr>
          <a:lstStyle/>
          <a:p>
            <a:pPr indent="0" marL="0">
              <a:buNone/>
            </a:pPr>
            <a:r>
              <a:rPr lang="en-US" sz="980" dirty="0">
                <a:solidFill>
                  <a:srgbClr val="3D5472"/>
                </a:solidFill>
                <a:latin typeface="Calibri" pitchFamily="34" charset="0"/>
                <a:ea typeface="Calibri" pitchFamily="34" charset="-122"/>
                <a:cs typeface="Calibri" pitchFamily="34" charset="-120"/>
              </a:rPr>
              <a:t>• Lower ωc: cleaner derivative, but more phase lag</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Higher ωc: sharper derivative, but more noise amplification</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Chosen value 450 rad/s was found to be a workable compromise on this hardware</a:t>
            </a:r>
            <a:endParaRPr lang="en-US" sz="980" dirty="0"/>
          </a:p>
        </p:txBody>
      </p:sp>
      <p:sp>
        <p:nvSpPr>
          <p:cNvPr id="16" name="Shape 14"/>
          <p:cNvSpPr/>
          <p:nvPr/>
        </p:nvSpPr>
        <p:spPr>
          <a:xfrm>
            <a:off x="4617720" y="2423160"/>
            <a:ext cx="3977640" cy="1691640"/>
          </a:xfrm>
          <a:prstGeom prst="rect">
            <a:avLst/>
          </a:prstGeom>
          <a:solidFill>
            <a:srgbClr val="FFFFFF"/>
          </a:solidFill>
          <a:ln w="6350">
            <a:solidFill>
              <a:srgbClr val="DDE3EC"/>
            </a:solidFill>
            <a:prstDash val="solid"/>
          </a:ln>
        </p:spPr>
      </p:sp>
      <p:sp>
        <p:nvSpPr>
          <p:cNvPr id="17" name="Shape 15"/>
          <p:cNvSpPr/>
          <p:nvPr/>
        </p:nvSpPr>
        <p:spPr>
          <a:xfrm>
            <a:off x="4617720" y="2423160"/>
            <a:ext cx="3977640" cy="64008"/>
          </a:xfrm>
          <a:prstGeom prst="rect">
            <a:avLst/>
          </a:prstGeom>
          <a:solidFill>
            <a:srgbClr val="0A7A6E"/>
          </a:solidFill>
          <a:ln w="12700">
            <a:solidFill>
              <a:srgbClr val="0A7A6E"/>
            </a:solidFill>
            <a:prstDash val="solid"/>
          </a:ln>
        </p:spPr>
      </p:sp>
      <p:sp>
        <p:nvSpPr>
          <p:cNvPr id="18" name="Text 16"/>
          <p:cNvSpPr/>
          <p:nvPr/>
        </p:nvSpPr>
        <p:spPr>
          <a:xfrm>
            <a:off x="4727448" y="2532888"/>
            <a:ext cx="375818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Firmware-side safety around the filter</a:t>
            </a:r>
            <a:endParaRPr lang="en-US" sz="1150" dirty="0"/>
          </a:p>
        </p:txBody>
      </p:sp>
      <p:sp>
        <p:nvSpPr>
          <p:cNvPr id="19" name="Text 17"/>
          <p:cNvSpPr/>
          <p:nvPr/>
        </p:nvSpPr>
        <p:spPr>
          <a:xfrm>
            <a:off x="4727448" y="2807208"/>
            <a:ext cx="3758184" cy="1197864"/>
          </a:xfrm>
          <a:prstGeom prst="rect">
            <a:avLst/>
          </a:prstGeom>
          <a:noFill/>
          <a:ln/>
        </p:spPr>
        <p:txBody>
          <a:bodyPr wrap="square" lIns="0" tIns="0" rIns="0" bIns="0" rtlCol="0" anchor="ctr">
            <a:normAutofit/>
          </a:bodyPr>
          <a:lstStyle/>
          <a:p>
            <a:pPr indent="0" marL="0">
              <a:buNone/>
            </a:pPr>
            <a:r>
              <a:rPr lang="en-US" sz="980" dirty="0">
                <a:solidFill>
                  <a:srgbClr val="3D5472"/>
                </a:solidFill>
                <a:latin typeface="Calibri" pitchFamily="34" charset="0"/>
                <a:ea typeface="Calibri" pitchFamily="34" charset="-122"/>
                <a:cs typeface="Calibri" pitchFamily="34" charset="-120"/>
              </a:rPr>
              <a:t>• 30° per-tick jump rejection before filtering</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Derivative clamping after filtering</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Diagnostic counters for glitch rejections and I²C faults</a:t>
            </a:r>
            <a:endParaRPr lang="en-US" sz="980" dirty="0"/>
          </a:p>
        </p:txBody>
      </p:sp>
      <p:sp>
        <p:nvSpPr>
          <p:cNvPr id="20" name="Text 18"/>
          <p:cNvSpPr/>
          <p:nvPr/>
        </p:nvSpPr>
        <p:spPr>
          <a:xfrm>
            <a:off x="8412480" y="4892040"/>
            <a:ext cx="640080" cy="201168"/>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20 / 38</a:t>
            </a:r>
            <a:endParaRPr lang="en-US" sz="900" dirty="0"/>
          </a:p>
        </p:txBody>
      </p:sp>
      <p:sp>
        <p:nvSpPr>
          <p:cNvPr id="21" name="Shape 19"/>
          <p:cNvSpPr/>
          <p:nvPr/>
        </p:nvSpPr>
        <p:spPr>
          <a:xfrm>
            <a:off x="256032" y="4882896"/>
            <a:ext cx="8631936" cy="36576"/>
          </a:xfrm>
          <a:prstGeom prst="rect">
            <a:avLst/>
          </a:prstGeom>
          <a:solidFill>
            <a:srgbClr val="0D6EAF">
              <a:alpha val="15000"/>
            </a:srgbClr>
          </a:solidFill>
          <a:ln w="12700">
            <a:solidFill>
              <a:srgbClr val="0D6EAF"/>
            </a:solidFill>
            <a:prstDash val="solid"/>
          </a:ln>
        </p:spPr>
      </p:sp>
      <p:sp>
        <p:nvSpPr>
          <p:cNvPr id="22" name="Shape 20"/>
          <p:cNvSpPr/>
          <p:nvPr/>
        </p:nvSpPr>
        <p:spPr>
          <a:xfrm>
            <a:off x="256032" y="4882896"/>
            <a:ext cx="4543124" cy="36576"/>
          </a:xfrm>
          <a:prstGeom prst="rect">
            <a:avLst/>
          </a:prstGeom>
          <a:solidFill>
            <a:srgbClr val="0D6EAF"/>
          </a:solidFill>
          <a:ln w="12700">
            <a:solidFill>
              <a:srgbClr val="0D6EAF"/>
            </a:solidFill>
            <a:prstDash val="solid"/>
          </a:ln>
        </p:spPr>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8FA"/>
        </a:solidFill>
      </p:bgPr>
    </p:bg>
    <p:spTree>
      <p:nvGrpSpPr>
        <p:cNvPr id="1" name=""/>
        <p:cNvGrpSpPr/>
        <p:nvPr/>
      </p:nvGrpSpPr>
      <p:grpSpPr>
        <a:xfrm>
          <a:off x="0" y="0"/>
          <a:ext cx="0" cy="0"/>
          <a:chOff x="0" y="0"/>
          <a:chExt cx="0" cy="0"/>
        </a:xfrm>
      </p:grpSpPr>
      <p:sp>
        <p:nvSpPr>
          <p:cNvPr id="2" name="Shape 0"/>
          <p:cNvSpPr/>
          <p:nvPr/>
        </p:nvSpPr>
        <p:spPr>
          <a:xfrm>
            <a:off x="0" y="0"/>
            <a:ext cx="118872" cy="5143500"/>
          </a:xfrm>
          <a:prstGeom prst="rect">
            <a:avLst/>
          </a:prstGeom>
          <a:solidFill>
            <a:srgbClr val="0D6EAF"/>
          </a:solidFill>
          <a:ln w="12700">
            <a:solidFill>
              <a:srgbClr val="0D6EAF"/>
            </a:solidFill>
            <a:prstDash val="solid"/>
          </a:ln>
        </p:spPr>
      </p:sp>
      <p:sp>
        <p:nvSpPr>
          <p:cNvPr id="3" name="Text 1"/>
          <p:cNvSpPr/>
          <p:nvPr/>
        </p:nvSpPr>
        <p:spPr>
          <a:xfrm>
            <a:off x="256032" y="201168"/>
            <a:ext cx="8686800" cy="566928"/>
          </a:xfrm>
          <a:prstGeom prst="rect">
            <a:avLst/>
          </a:prstGeom>
          <a:noFill/>
          <a:ln/>
        </p:spPr>
        <p:txBody>
          <a:bodyPr wrap="square" lIns="0" tIns="0" rIns="0" bIns="0" rtlCol="0" anchor="ctr">
            <a:normAutofit/>
          </a:bodyPr>
          <a:lstStyle/>
          <a:p>
            <a:pPr indent="0" marL="0">
              <a:buNone/>
            </a:pPr>
            <a:r>
              <a:rPr lang="en-US" sz="2600" b="1" dirty="0">
                <a:solidFill>
                  <a:srgbClr val="1B2A4A"/>
                </a:solidFill>
                <a:latin typeface="Calibri" pitchFamily="34" charset="0"/>
                <a:ea typeface="Calibri" pitchFamily="34" charset="-122"/>
                <a:cs typeface="Calibri" pitchFamily="34" charset="-120"/>
              </a:rPr>
              <a:t>Linear Full-State Feedback by Pole Placement</a:t>
            </a:r>
            <a:endParaRPr lang="en-US" sz="2600" dirty="0"/>
          </a:p>
        </p:txBody>
      </p:sp>
      <p:sp>
        <p:nvSpPr>
          <p:cNvPr id="4" name="Text 2"/>
          <p:cNvSpPr/>
          <p:nvPr/>
        </p:nvSpPr>
        <p:spPr>
          <a:xfrm>
            <a:off x="256032" y="768096"/>
            <a:ext cx="8686800" cy="274320"/>
          </a:xfrm>
          <a:prstGeom prst="rect">
            <a:avLst/>
          </a:prstGeom>
          <a:noFill/>
          <a:ln/>
        </p:spPr>
        <p:txBody>
          <a:bodyPr wrap="square" lIns="0" tIns="0" rIns="0" bIns="0" rtlCol="0" anchor="ctr">
            <a:normAutofit/>
          </a:bodyPr>
          <a:lstStyle/>
          <a:p>
            <a:pPr indent="0" marL="0">
              <a:buNone/>
            </a:pPr>
            <a:r>
              <a:rPr lang="en-US" sz="1200" i="1" dirty="0">
                <a:solidFill>
                  <a:srgbClr val="64748B"/>
                </a:solidFill>
                <a:latin typeface="Calibri" pitchFamily="34" charset="0"/>
                <a:ea typeface="Calibri" pitchFamily="34" charset="-122"/>
                <a:cs typeface="Calibri" pitchFamily="34" charset="-120"/>
              </a:rPr>
              <a:t>The baseline controller is derived analytically from the linearized acceleration-input plant.</a:t>
            </a:r>
            <a:endParaRPr lang="en-US" sz="1200" dirty="0"/>
          </a:p>
        </p:txBody>
      </p:sp>
      <p:sp>
        <p:nvSpPr>
          <p:cNvPr id="5" name="Shape 3"/>
          <p:cNvSpPr/>
          <p:nvPr/>
        </p:nvSpPr>
        <p:spPr>
          <a:xfrm>
            <a:off x="256032" y="822960"/>
            <a:ext cx="8631936" cy="0"/>
          </a:xfrm>
          <a:prstGeom prst="line">
            <a:avLst/>
          </a:prstGeom>
          <a:noFill/>
          <a:ln w="9525">
            <a:solidFill>
              <a:srgbClr val="DDE3EC"/>
            </a:solidFill>
            <a:prstDash val="solid"/>
          </a:ln>
        </p:spPr>
      </p:sp>
      <p:sp>
        <p:nvSpPr>
          <p:cNvPr id="6" name="Shape 4"/>
          <p:cNvSpPr/>
          <p:nvPr/>
        </p:nvSpPr>
        <p:spPr>
          <a:xfrm>
            <a:off x="594360" y="1115568"/>
            <a:ext cx="4023360" cy="960120"/>
          </a:xfrm>
          <a:prstGeom prst="rect">
            <a:avLst/>
          </a:prstGeom>
          <a:solidFill>
            <a:srgbClr val="FFFFFF"/>
          </a:solidFill>
          <a:ln w="6350">
            <a:solidFill>
              <a:srgbClr val="DDE3EC"/>
            </a:solidFill>
            <a:prstDash val="solid"/>
          </a:ln>
        </p:spPr>
      </p:sp>
      <p:sp>
        <p:nvSpPr>
          <p:cNvPr id="7" name="Text 5"/>
          <p:cNvSpPr/>
          <p:nvPr/>
        </p:nvSpPr>
        <p:spPr>
          <a:xfrm>
            <a:off x="667512" y="1170432"/>
            <a:ext cx="914400" cy="146304"/>
          </a:xfrm>
          <a:prstGeom prst="rect">
            <a:avLst/>
          </a:prstGeom>
          <a:noFill/>
          <a:ln/>
        </p:spPr>
        <p:txBody>
          <a:bodyPr wrap="square" lIns="0" tIns="0" rIns="0" bIns="0" rtlCol="0" anchor="ctr"/>
          <a:lstStyle/>
          <a:p>
            <a:pPr indent="0" marL="0">
              <a:buNone/>
            </a:pPr>
            <a:r>
              <a:rPr lang="en-US" sz="800" i="1" dirty="0">
                <a:solidFill>
                  <a:srgbClr val="64748B"/>
                </a:solidFill>
                <a:latin typeface="Calibri" pitchFamily="34" charset="0"/>
                <a:ea typeface="Calibri" pitchFamily="34" charset="-122"/>
                <a:cs typeface="Calibri" pitchFamily="34" charset="-120"/>
              </a:rPr>
              <a:t>Equation</a:t>
            </a:r>
            <a:endParaRPr lang="en-US" sz="800" dirty="0"/>
          </a:p>
        </p:txBody>
      </p:sp>
      <p:sp>
        <p:nvSpPr>
          <p:cNvPr id="8" name="Shape 6"/>
          <p:cNvSpPr/>
          <p:nvPr/>
        </p:nvSpPr>
        <p:spPr>
          <a:xfrm>
            <a:off x="4846320" y="1078992"/>
            <a:ext cx="3749040" cy="1005840"/>
          </a:xfrm>
          <a:prstGeom prst="rect">
            <a:avLst/>
          </a:prstGeom>
          <a:solidFill>
            <a:srgbClr val="FFFFFF"/>
          </a:solidFill>
          <a:ln w="6350">
            <a:solidFill>
              <a:srgbClr val="DDE3EC"/>
            </a:solidFill>
            <a:prstDash val="solid"/>
          </a:ln>
        </p:spPr>
      </p:sp>
      <p:sp>
        <p:nvSpPr>
          <p:cNvPr id="9" name="Shape 7"/>
          <p:cNvSpPr/>
          <p:nvPr/>
        </p:nvSpPr>
        <p:spPr>
          <a:xfrm>
            <a:off x="4846320" y="1078992"/>
            <a:ext cx="3749040" cy="64008"/>
          </a:xfrm>
          <a:prstGeom prst="rect">
            <a:avLst/>
          </a:prstGeom>
          <a:solidFill>
            <a:srgbClr val="0D6EAF"/>
          </a:solidFill>
          <a:ln w="12700">
            <a:solidFill>
              <a:srgbClr val="0D6EAF"/>
            </a:solidFill>
            <a:prstDash val="solid"/>
          </a:ln>
        </p:spPr>
      </p:sp>
      <p:sp>
        <p:nvSpPr>
          <p:cNvPr id="10" name="Text 8"/>
          <p:cNvSpPr/>
          <p:nvPr/>
        </p:nvSpPr>
        <p:spPr>
          <a:xfrm>
            <a:off x="4956048" y="1188720"/>
            <a:ext cx="352958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Coefficient relations</a:t>
            </a:r>
            <a:endParaRPr lang="en-US" sz="1150" dirty="0"/>
          </a:p>
        </p:txBody>
      </p:sp>
      <p:sp>
        <p:nvSpPr>
          <p:cNvPr id="11" name="Text 9"/>
          <p:cNvSpPr/>
          <p:nvPr/>
        </p:nvSpPr>
        <p:spPr>
          <a:xfrm>
            <a:off x="4956048" y="1463040"/>
            <a:ext cx="3529584" cy="512064"/>
          </a:xfrm>
          <a:prstGeom prst="rect">
            <a:avLst/>
          </a:prstGeom>
          <a:noFill/>
          <a:ln/>
        </p:spPr>
        <p:txBody>
          <a:bodyPr wrap="square" lIns="0" tIns="0" rIns="0" bIns="0" rtlCol="0" anchor="ctr">
            <a:normAutofit/>
          </a:bodyPr>
          <a:lstStyle/>
          <a:p>
            <a:pPr indent="0" marL="0">
              <a:buNone/>
            </a:pPr>
            <a:r>
              <a:rPr lang="en-US" sz="1000" dirty="0">
                <a:solidFill>
                  <a:srgbClr val="3D5472"/>
                </a:solidFill>
                <a:latin typeface="Calibri" pitchFamily="34" charset="0"/>
                <a:ea typeface="Calibri" pitchFamily="34" charset="-122"/>
                <a:cs typeface="Calibri" pitchFamily="34" charset="-120"/>
              </a:rPr>
              <a:t>$a_3 = k_{\dot\theta} - B k_{\dot\alpha},\ a_2 = k_\theta - A - Bk_\alpha,\ a_1 = -A k_{\dot\theta},\ a_0 = -A k_\theta$</a:t>
            </a:r>
            <a:endParaRPr lang="en-US" sz="1000" dirty="0"/>
          </a:p>
        </p:txBody>
      </p:sp>
      <p:sp>
        <p:nvSpPr>
          <p:cNvPr id="12" name="Shape 10"/>
          <p:cNvSpPr/>
          <p:nvPr/>
        </p:nvSpPr>
        <p:spPr>
          <a:xfrm>
            <a:off x="502920" y="2468880"/>
            <a:ext cx="3977640" cy="1645920"/>
          </a:xfrm>
          <a:prstGeom prst="rect">
            <a:avLst/>
          </a:prstGeom>
          <a:solidFill>
            <a:srgbClr val="FFFFFF"/>
          </a:solidFill>
          <a:ln w="6350">
            <a:solidFill>
              <a:srgbClr val="DDE3EC"/>
            </a:solidFill>
            <a:prstDash val="solid"/>
          </a:ln>
        </p:spPr>
      </p:sp>
      <p:sp>
        <p:nvSpPr>
          <p:cNvPr id="13" name="Shape 11"/>
          <p:cNvSpPr/>
          <p:nvPr/>
        </p:nvSpPr>
        <p:spPr>
          <a:xfrm>
            <a:off x="502920" y="2468880"/>
            <a:ext cx="3977640" cy="64008"/>
          </a:xfrm>
          <a:prstGeom prst="rect">
            <a:avLst/>
          </a:prstGeom>
          <a:solidFill>
            <a:srgbClr val="0D6EAF"/>
          </a:solidFill>
          <a:ln w="12700">
            <a:solidFill>
              <a:srgbClr val="0D6EAF"/>
            </a:solidFill>
            <a:prstDash val="solid"/>
          </a:ln>
        </p:spPr>
      </p:sp>
      <p:sp>
        <p:nvSpPr>
          <p:cNvPr id="14" name="Text 12"/>
          <p:cNvSpPr/>
          <p:nvPr/>
        </p:nvSpPr>
        <p:spPr>
          <a:xfrm>
            <a:off x="612648" y="2578608"/>
            <a:ext cx="375818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Design idea</a:t>
            </a:r>
            <a:endParaRPr lang="en-US" sz="1150" dirty="0"/>
          </a:p>
        </p:txBody>
      </p:sp>
      <p:sp>
        <p:nvSpPr>
          <p:cNvPr id="15" name="Text 13"/>
          <p:cNvSpPr/>
          <p:nvPr/>
        </p:nvSpPr>
        <p:spPr>
          <a:xfrm>
            <a:off x="612648" y="2852928"/>
            <a:ext cx="3758184" cy="1152144"/>
          </a:xfrm>
          <a:prstGeom prst="rect">
            <a:avLst/>
          </a:prstGeom>
          <a:noFill/>
          <a:ln/>
        </p:spPr>
        <p:txBody>
          <a:bodyPr wrap="square" lIns="0" tIns="0" rIns="0" bIns="0" rtlCol="0" anchor="ctr">
            <a:normAutofit/>
          </a:bodyPr>
          <a:lstStyle/>
          <a:p>
            <a:pPr indent="0" marL="0">
              <a:buNone/>
            </a:pPr>
            <a:r>
              <a:rPr lang="en-US" sz="980" dirty="0">
                <a:solidFill>
                  <a:srgbClr val="3D5472"/>
                </a:solidFill>
                <a:latin typeface="Calibri" pitchFamily="34" charset="0"/>
                <a:ea typeface="Calibri" pitchFamily="34" charset="-122"/>
                <a:cs typeface="Calibri" pitchFamily="34" charset="-120"/>
              </a:rPr>
              <a:t>• Choose a fast second-order factor for the pendulum mode.</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Choose a slower second-order factor for the base-centering mode.</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Match coefficients directly instead of using Ackermann’s formula or a numerical black box.</a:t>
            </a:r>
            <a:endParaRPr lang="en-US" sz="980" dirty="0"/>
          </a:p>
        </p:txBody>
      </p:sp>
      <p:sp>
        <p:nvSpPr>
          <p:cNvPr id="16" name="Shape 14"/>
          <p:cNvSpPr/>
          <p:nvPr/>
        </p:nvSpPr>
        <p:spPr>
          <a:xfrm>
            <a:off x="4663440" y="2468880"/>
            <a:ext cx="3931920" cy="1645920"/>
          </a:xfrm>
          <a:prstGeom prst="rect">
            <a:avLst/>
          </a:prstGeom>
          <a:solidFill>
            <a:srgbClr val="FFFFFF"/>
          </a:solidFill>
          <a:ln w="6350">
            <a:solidFill>
              <a:srgbClr val="DDE3EC"/>
            </a:solidFill>
            <a:prstDash val="solid"/>
          </a:ln>
        </p:spPr>
      </p:sp>
      <p:sp>
        <p:nvSpPr>
          <p:cNvPr id="17" name="Shape 15"/>
          <p:cNvSpPr/>
          <p:nvPr/>
        </p:nvSpPr>
        <p:spPr>
          <a:xfrm>
            <a:off x="4663440" y="2468880"/>
            <a:ext cx="3931920" cy="64008"/>
          </a:xfrm>
          <a:prstGeom prst="rect">
            <a:avLst/>
          </a:prstGeom>
          <a:solidFill>
            <a:srgbClr val="0A7A6E"/>
          </a:solidFill>
          <a:ln w="12700">
            <a:solidFill>
              <a:srgbClr val="0A7A6E"/>
            </a:solidFill>
            <a:prstDash val="solid"/>
          </a:ln>
        </p:spPr>
      </p:sp>
      <p:sp>
        <p:nvSpPr>
          <p:cNvPr id="18" name="Text 16"/>
          <p:cNvSpPr/>
          <p:nvPr/>
        </p:nvSpPr>
        <p:spPr>
          <a:xfrm>
            <a:off x="4773168" y="2578608"/>
            <a:ext cx="371246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Why this baseline matters</a:t>
            </a:r>
            <a:endParaRPr lang="en-US" sz="1150" dirty="0"/>
          </a:p>
        </p:txBody>
      </p:sp>
      <p:sp>
        <p:nvSpPr>
          <p:cNvPr id="19" name="Text 17"/>
          <p:cNvSpPr/>
          <p:nvPr/>
        </p:nvSpPr>
        <p:spPr>
          <a:xfrm>
            <a:off x="4773168" y="2852928"/>
            <a:ext cx="3712464" cy="1152144"/>
          </a:xfrm>
          <a:prstGeom prst="rect">
            <a:avLst/>
          </a:prstGeom>
          <a:noFill/>
          <a:ln/>
        </p:spPr>
        <p:txBody>
          <a:bodyPr wrap="square" lIns="0" tIns="0" rIns="0" bIns="0" rtlCol="0" anchor="ctr">
            <a:normAutofit/>
          </a:bodyPr>
          <a:lstStyle/>
          <a:p>
            <a:pPr indent="0" marL="0">
              <a:buNone/>
            </a:pPr>
            <a:r>
              <a:rPr lang="en-US" sz="980" dirty="0">
                <a:solidFill>
                  <a:srgbClr val="3D5472"/>
                </a:solidFill>
                <a:latin typeface="Calibri" pitchFamily="34" charset="0"/>
                <a:ea typeface="Calibri" pitchFamily="34" charset="-122"/>
                <a:cs typeface="Calibri" pitchFamily="34" charset="-120"/>
              </a:rPr>
              <a:t>• The linear controller is the calmest and most interpretable controller in the thesis.</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It also provides the shared base-centering gains reused later by the hybrid and full-state SMC implementations.</a:t>
            </a:r>
            <a:endParaRPr lang="en-US" sz="980" dirty="0"/>
          </a:p>
        </p:txBody>
      </p:sp>
      <p:sp>
        <p:nvSpPr>
          <p:cNvPr id="20" name="Text 18"/>
          <p:cNvSpPr/>
          <p:nvPr/>
        </p:nvSpPr>
        <p:spPr>
          <a:xfrm>
            <a:off x="8412480" y="4892040"/>
            <a:ext cx="640080" cy="201168"/>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21 / 38</a:t>
            </a:r>
            <a:endParaRPr lang="en-US" sz="900" dirty="0"/>
          </a:p>
        </p:txBody>
      </p:sp>
      <p:sp>
        <p:nvSpPr>
          <p:cNvPr id="21" name="Shape 19"/>
          <p:cNvSpPr/>
          <p:nvPr/>
        </p:nvSpPr>
        <p:spPr>
          <a:xfrm>
            <a:off x="256032" y="4882896"/>
            <a:ext cx="8631936" cy="36576"/>
          </a:xfrm>
          <a:prstGeom prst="rect">
            <a:avLst/>
          </a:prstGeom>
          <a:solidFill>
            <a:srgbClr val="0D6EAF">
              <a:alpha val="15000"/>
            </a:srgbClr>
          </a:solidFill>
          <a:ln w="12700">
            <a:solidFill>
              <a:srgbClr val="0D6EAF"/>
            </a:solidFill>
            <a:prstDash val="solid"/>
          </a:ln>
        </p:spPr>
      </p:sp>
      <p:sp>
        <p:nvSpPr>
          <p:cNvPr id="22" name="Shape 20"/>
          <p:cNvSpPr/>
          <p:nvPr/>
        </p:nvSpPr>
        <p:spPr>
          <a:xfrm>
            <a:off x="256032" y="4882896"/>
            <a:ext cx="4770280" cy="36576"/>
          </a:xfrm>
          <a:prstGeom prst="rect">
            <a:avLst/>
          </a:prstGeom>
          <a:solidFill>
            <a:srgbClr val="0D6EAF"/>
          </a:solidFill>
          <a:ln w="12700">
            <a:solidFill>
              <a:srgbClr val="0D6EAF"/>
            </a:solidFill>
            <a:prstDash val="solid"/>
          </a:ln>
        </p:spPr>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8FA"/>
        </a:solidFill>
      </p:bgPr>
    </p:bg>
    <p:spTree>
      <p:nvGrpSpPr>
        <p:cNvPr id="1" name=""/>
        <p:cNvGrpSpPr/>
        <p:nvPr/>
      </p:nvGrpSpPr>
      <p:grpSpPr>
        <a:xfrm>
          <a:off x="0" y="0"/>
          <a:ext cx="0" cy="0"/>
          <a:chOff x="0" y="0"/>
          <a:chExt cx="0" cy="0"/>
        </a:xfrm>
      </p:grpSpPr>
      <p:sp>
        <p:nvSpPr>
          <p:cNvPr id="2" name="Shape 0"/>
          <p:cNvSpPr/>
          <p:nvPr/>
        </p:nvSpPr>
        <p:spPr>
          <a:xfrm>
            <a:off x="0" y="0"/>
            <a:ext cx="118872" cy="5143500"/>
          </a:xfrm>
          <a:prstGeom prst="rect">
            <a:avLst/>
          </a:prstGeom>
          <a:solidFill>
            <a:srgbClr val="0D6EAF"/>
          </a:solidFill>
          <a:ln w="12700">
            <a:solidFill>
              <a:srgbClr val="0D6EAF"/>
            </a:solidFill>
            <a:prstDash val="solid"/>
          </a:ln>
        </p:spPr>
      </p:sp>
      <p:sp>
        <p:nvSpPr>
          <p:cNvPr id="3" name="Text 1"/>
          <p:cNvSpPr/>
          <p:nvPr/>
        </p:nvSpPr>
        <p:spPr>
          <a:xfrm>
            <a:off x="256032" y="201168"/>
            <a:ext cx="8686800" cy="566928"/>
          </a:xfrm>
          <a:prstGeom prst="rect">
            <a:avLst/>
          </a:prstGeom>
          <a:noFill/>
          <a:ln/>
        </p:spPr>
        <p:txBody>
          <a:bodyPr wrap="square" lIns="0" tIns="0" rIns="0" bIns="0" rtlCol="0" anchor="ctr">
            <a:normAutofit/>
          </a:bodyPr>
          <a:lstStyle/>
          <a:p>
            <a:pPr indent="0" marL="0">
              <a:buNone/>
            </a:pPr>
            <a:r>
              <a:rPr lang="en-US" sz="2600" b="1" dirty="0">
                <a:solidFill>
                  <a:srgbClr val="1B2A4A"/>
                </a:solidFill>
                <a:latin typeface="Calibri" pitchFamily="34" charset="0"/>
                <a:ea typeface="Calibri" pitchFamily="34" charset="-122"/>
                <a:cs typeface="Calibri" pitchFamily="34" charset="-120"/>
              </a:rPr>
              <a:t>Closed-Form Gain Calculation and Stepper Conversion</a:t>
            </a:r>
            <a:endParaRPr lang="en-US" sz="2600" dirty="0"/>
          </a:p>
        </p:txBody>
      </p:sp>
      <p:sp>
        <p:nvSpPr>
          <p:cNvPr id="4" name="Text 2"/>
          <p:cNvSpPr/>
          <p:nvPr/>
        </p:nvSpPr>
        <p:spPr>
          <a:xfrm>
            <a:off x="256032" y="768096"/>
            <a:ext cx="8686800" cy="274320"/>
          </a:xfrm>
          <a:prstGeom prst="rect">
            <a:avLst/>
          </a:prstGeom>
          <a:noFill/>
          <a:ln/>
        </p:spPr>
        <p:txBody>
          <a:bodyPr wrap="square" lIns="0" tIns="0" rIns="0" bIns="0" rtlCol="0" anchor="ctr">
            <a:normAutofit/>
          </a:bodyPr>
          <a:lstStyle/>
          <a:p>
            <a:pPr indent="0" marL="0">
              <a:buNone/>
            </a:pPr>
            <a:r>
              <a:rPr lang="en-US" sz="1200" i="1" dirty="0">
                <a:solidFill>
                  <a:srgbClr val="64748B"/>
                </a:solidFill>
                <a:latin typeface="Calibri" pitchFamily="34" charset="0"/>
                <a:ea typeface="Calibri" pitchFamily="34" charset="-122"/>
                <a:cs typeface="Calibri" pitchFamily="34" charset="-120"/>
              </a:rPr>
              <a:t>The gains are first derived in degree-space dynamics and then converted into stepper acceleration units.</a:t>
            </a:r>
            <a:endParaRPr lang="en-US" sz="1200" dirty="0"/>
          </a:p>
        </p:txBody>
      </p:sp>
      <p:sp>
        <p:nvSpPr>
          <p:cNvPr id="5" name="Shape 3"/>
          <p:cNvSpPr/>
          <p:nvPr/>
        </p:nvSpPr>
        <p:spPr>
          <a:xfrm>
            <a:off x="256032" y="822960"/>
            <a:ext cx="8631936" cy="0"/>
          </a:xfrm>
          <a:prstGeom prst="line">
            <a:avLst/>
          </a:prstGeom>
          <a:noFill/>
          <a:ln w="9525">
            <a:solidFill>
              <a:srgbClr val="DDE3EC"/>
            </a:solidFill>
            <a:prstDash val="solid"/>
          </a:ln>
        </p:spPr>
      </p:sp>
      <p:sp>
        <p:nvSpPr>
          <p:cNvPr id="6" name="Shape 4"/>
          <p:cNvSpPr/>
          <p:nvPr/>
        </p:nvSpPr>
        <p:spPr>
          <a:xfrm>
            <a:off x="594360" y="1115568"/>
            <a:ext cx="4160520" cy="868680"/>
          </a:xfrm>
          <a:prstGeom prst="rect">
            <a:avLst/>
          </a:prstGeom>
          <a:solidFill>
            <a:srgbClr val="FFFFFF"/>
          </a:solidFill>
          <a:ln w="6350">
            <a:solidFill>
              <a:srgbClr val="DDE3EC"/>
            </a:solidFill>
            <a:prstDash val="solid"/>
          </a:ln>
        </p:spPr>
      </p:sp>
      <p:sp>
        <p:nvSpPr>
          <p:cNvPr id="7" name="Text 5"/>
          <p:cNvSpPr/>
          <p:nvPr/>
        </p:nvSpPr>
        <p:spPr>
          <a:xfrm>
            <a:off x="667512" y="1170432"/>
            <a:ext cx="914400" cy="146304"/>
          </a:xfrm>
          <a:prstGeom prst="rect">
            <a:avLst/>
          </a:prstGeom>
          <a:noFill/>
          <a:ln/>
        </p:spPr>
        <p:txBody>
          <a:bodyPr wrap="square" lIns="0" tIns="0" rIns="0" bIns="0" rtlCol="0" anchor="ctr"/>
          <a:lstStyle/>
          <a:p>
            <a:pPr indent="0" marL="0">
              <a:buNone/>
            </a:pPr>
            <a:r>
              <a:rPr lang="en-US" sz="800" i="1" dirty="0">
                <a:solidFill>
                  <a:srgbClr val="64748B"/>
                </a:solidFill>
                <a:latin typeface="Calibri" pitchFamily="34" charset="0"/>
                <a:ea typeface="Calibri" pitchFamily="34" charset="-122"/>
                <a:cs typeface="Calibri" pitchFamily="34" charset="-120"/>
              </a:rPr>
              <a:t>Equation</a:t>
            </a:r>
            <a:endParaRPr lang="en-US" sz="800" dirty="0"/>
          </a:p>
        </p:txBody>
      </p:sp>
      <p:sp>
        <p:nvSpPr>
          <p:cNvPr id="8" name="Shape 6"/>
          <p:cNvSpPr/>
          <p:nvPr/>
        </p:nvSpPr>
        <p:spPr>
          <a:xfrm>
            <a:off x="4937760" y="1051560"/>
            <a:ext cx="3657600" cy="1143000"/>
          </a:xfrm>
          <a:prstGeom prst="rect">
            <a:avLst/>
          </a:prstGeom>
          <a:solidFill>
            <a:srgbClr val="ECFDF5"/>
          </a:solidFill>
          <a:ln w="6350">
            <a:solidFill>
              <a:srgbClr val="DDE3EC"/>
            </a:solidFill>
            <a:prstDash val="solid"/>
          </a:ln>
        </p:spPr>
      </p:sp>
      <p:sp>
        <p:nvSpPr>
          <p:cNvPr id="9" name="Shape 7"/>
          <p:cNvSpPr/>
          <p:nvPr/>
        </p:nvSpPr>
        <p:spPr>
          <a:xfrm>
            <a:off x="4937760" y="1051560"/>
            <a:ext cx="3657600" cy="64008"/>
          </a:xfrm>
          <a:prstGeom prst="rect">
            <a:avLst/>
          </a:prstGeom>
          <a:solidFill>
            <a:srgbClr val="047857"/>
          </a:solidFill>
          <a:ln w="12700">
            <a:solidFill>
              <a:srgbClr val="047857"/>
            </a:solidFill>
            <a:prstDash val="solid"/>
          </a:ln>
        </p:spPr>
      </p:sp>
      <p:sp>
        <p:nvSpPr>
          <p:cNvPr id="10" name="Text 8"/>
          <p:cNvSpPr/>
          <p:nvPr/>
        </p:nvSpPr>
        <p:spPr>
          <a:xfrm>
            <a:off x="5047488" y="1161288"/>
            <a:ext cx="343814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Firmware gains used in experiments</a:t>
            </a:r>
            <a:endParaRPr lang="en-US" sz="1150" dirty="0"/>
          </a:p>
        </p:txBody>
      </p:sp>
      <p:sp>
        <p:nvSpPr>
          <p:cNvPr id="11" name="Text 9"/>
          <p:cNvSpPr/>
          <p:nvPr/>
        </p:nvSpPr>
        <p:spPr>
          <a:xfrm>
            <a:off x="5047488" y="1435608"/>
            <a:ext cx="3438144" cy="649224"/>
          </a:xfrm>
          <a:prstGeom prst="rect">
            <a:avLst/>
          </a:prstGeom>
          <a:noFill/>
          <a:ln/>
        </p:spPr>
        <p:txBody>
          <a:bodyPr wrap="square" lIns="0" tIns="0" rIns="0" bIns="0" rtlCol="0" anchor="ctr">
            <a:normAutofit/>
          </a:bodyPr>
          <a:lstStyle/>
          <a:p>
            <a:pPr indent="0" marL="0">
              <a:buNone/>
            </a:pPr>
            <a:r>
              <a:rPr lang="en-US" sz="1000" dirty="0">
                <a:solidFill>
                  <a:srgbClr val="3D5472"/>
                </a:solidFill>
                <a:latin typeface="Calibri" pitchFamily="34" charset="0"/>
                <a:ea typeface="Calibri" pitchFamily="34" charset="-122"/>
                <a:cs typeface="Calibri" pitchFamily="34" charset="-120"/>
              </a:rPr>
              <a:t>$K_\theta=31.5,\ K_\alpha=725.6,\ K_{\dot\theta}=28.3,\ K_{\dot\alpha}=73.5$</a:t>
            </a:r>
            <a:endParaRPr lang="en-US" sz="1000" dirty="0"/>
          </a:p>
        </p:txBody>
      </p:sp>
      <p:sp>
        <p:nvSpPr>
          <p:cNvPr id="12" name="Shape 10"/>
          <p:cNvSpPr/>
          <p:nvPr/>
        </p:nvSpPr>
        <p:spPr>
          <a:xfrm>
            <a:off x="502920" y="2468880"/>
            <a:ext cx="3749040" cy="1645920"/>
          </a:xfrm>
          <a:prstGeom prst="rect">
            <a:avLst/>
          </a:prstGeom>
          <a:solidFill>
            <a:srgbClr val="FFFFFF"/>
          </a:solidFill>
          <a:ln w="6350">
            <a:solidFill>
              <a:srgbClr val="DDE3EC"/>
            </a:solidFill>
            <a:prstDash val="solid"/>
          </a:ln>
        </p:spPr>
      </p:sp>
      <p:sp>
        <p:nvSpPr>
          <p:cNvPr id="13" name="Shape 11"/>
          <p:cNvSpPr/>
          <p:nvPr/>
        </p:nvSpPr>
        <p:spPr>
          <a:xfrm>
            <a:off x="502920" y="2468880"/>
            <a:ext cx="3749040" cy="64008"/>
          </a:xfrm>
          <a:prstGeom prst="rect">
            <a:avLst/>
          </a:prstGeom>
          <a:solidFill>
            <a:srgbClr val="0D6EAF"/>
          </a:solidFill>
          <a:ln w="12700">
            <a:solidFill>
              <a:srgbClr val="0D6EAF"/>
            </a:solidFill>
            <a:prstDash val="solid"/>
          </a:ln>
        </p:spPr>
      </p:sp>
      <p:sp>
        <p:nvSpPr>
          <p:cNvPr id="14" name="Text 12"/>
          <p:cNvSpPr/>
          <p:nvPr/>
        </p:nvSpPr>
        <p:spPr>
          <a:xfrm>
            <a:off x="612648" y="2578608"/>
            <a:ext cx="352958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Unit conversion</a:t>
            </a:r>
            <a:endParaRPr lang="en-US" sz="1150" dirty="0"/>
          </a:p>
        </p:txBody>
      </p:sp>
      <p:sp>
        <p:nvSpPr>
          <p:cNvPr id="15" name="Text 13"/>
          <p:cNvSpPr/>
          <p:nvPr/>
        </p:nvSpPr>
        <p:spPr>
          <a:xfrm>
            <a:off x="612648" y="2852928"/>
            <a:ext cx="3529584" cy="1152144"/>
          </a:xfrm>
          <a:prstGeom prst="rect">
            <a:avLst/>
          </a:prstGeom>
          <a:noFill/>
          <a:ln/>
        </p:spPr>
        <p:txBody>
          <a:bodyPr wrap="square" lIns="0" tIns="0" rIns="0" bIns="0" rtlCol="0" anchor="ctr">
            <a:normAutofit/>
          </a:bodyPr>
          <a:lstStyle/>
          <a:p>
            <a:pPr indent="0" marL="0">
              <a:buNone/>
            </a:pPr>
            <a:r>
              <a:rPr lang="en-US" sz="980" dirty="0">
                <a:solidFill>
                  <a:srgbClr val="3D5472"/>
                </a:solidFill>
                <a:latin typeface="Calibri" pitchFamily="34" charset="0"/>
                <a:ea typeface="Calibri" pitchFamily="34" charset="-122"/>
                <a:cs typeface="Calibri" pitchFamily="34" charset="-120"/>
              </a:rPr>
              <a:t>• $k_s = 1600/360 = 4.444\ \mathrm{step/deg}$</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Theoretical gains are multiplied by ks to obtain stepper acceleration units.</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The deployed gains are then tuned on hardware while preserving the analytic structure.</a:t>
            </a:r>
            <a:endParaRPr lang="en-US" sz="980" dirty="0"/>
          </a:p>
        </p:txBody>
      </p:sp>
      <p:sp>
        <p:nvSpPr>
          <p:cNvPr id="16" name="Shape 14"/>
          <p:cNvSpPr/>
          <p:nvPr/>
        </p:nvSpPr>
        <p:spPr>
          <a:xfrm>
            <a:off x="4526280" y="2468880"/>
            <a:ext cx="4069080" cy="1645920"/>
          </a:xfrm>
          <a:prstGeom prst="rect">
            <a:avLst/>
          </a:prstGeom>
          <a:solidFill>
            <a:srgbClr val="FFFFFF"/>
          </a:solidFill>
          <a:ln w="6350">
            <a:solidFill>
              <a:srgbClr val="DDE3EC"/>
            </a:solidFill>
            <a:prstDash val="solid"/>
          </a:ln>
        </p:spPr>
      </p:sp>
      <p:sp>
        <p:nvSpPr>
          <p:cNvPr id="17" name="Shape 15"/>
          <p:cNvSpPr/>
          <p:nvPr/>
        </p:nvSpPr>
        <p:spPr>
          <a:xfrm>
            <a:off x="4526280" y="2468880"/>
            <a:ext cx="4069080" cy="64008"/>
          </a:xfrm>
          <a:prstGeom prst="rect">
            <a:avLst/>
          </a:prstGeom>
          <a:solidFill>
            <a:srgbClr val="0A7A6E"/>
          </a:solidFill>
          <a:ln w="12700">
            <a:solidFill>
              <a:srgbClr val="0A7A6E"/>
            </a:solidFill>
            <a:prstDash val="solid"/>
          </a:ln>
        </p:spPr>
      </p:sp>
      <p:sp>
        <p:nvSpPr>
          <p:cNvPr id="18" name="Text 16"/>
          <p:cNvSpPr/>
          <p:nvPr/>
        </p:nvSpPr>
        <p:spPr>
          <a:xfrm>
            <a:off x="4636008" y="2578608"/>
            <a:ext cx="384962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Why this slide matters</a:t>
            </a:r>
            <a:endParaRPr lang="en-US" sz="1150" dirty="0"/>
          </a:p>
        </p:txBody>
      </p:sp>
      <p:sp>
        <p:nvSpPr>
          <p:cNvPr id="19" name="Text 17"/>
          <p:cNvSpPr/>
          <p:nvPr/>
        </p:nvSpPr>
        <p:spPr>
          <a:xfrm>
            <a:off x="4636008" y="2852928"/>
            <a:ext cx="3849624" cy="1152144"/>
          </a:xfrm>
          <a:prstGeom prst="rect">
            <a:avLst/>
          </a:prstGeom>
          <a:noFill/>
          <a:ln/>
        </p:spPr>
        <p:txBody>
          <a:bodyPr wrap="square" lIns="0" tIns="0" rIns="0" bIns="0" rtlCol="0" anchor="ctr">
            <a:normAutofit/>
          </a:bodyPr>
          <a:lstStyle/>
          <a:p>
            <a:pPr indent="0" marL="0">
              <a:buNone/>
            </a:pPr>
            <a:r>
              <a:rPr lang="en-US" sz="980" dirty="0">
                <a:solidFill>
                  <a:srgbClr val="3D5472"/>
                </a:solidFill>
                <a:latin typeface="Calibri" pitchFamily="34" charset="0"/>
                <a:ea typeface="Calibri" pitchFamily="34" charset="-122"/>
                <a:cs typeface="Calibri" pitchFamily="34" charset="-120"/>
              </a:rPr>
              <a:t>• It shows the bridge from derivation to firmware constants explicitly.</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The gains shown in code are not arbitrary empirical numbers; they sit on top of a closed-form design path.</a:t>
            </a:r>
            <a:endParaRPr lang="en-US" sz="980" dirty="0"/>
          </a:p>
        </p:txBody>
      </p:sp>
      <p:sp>
        <p:nvSpPr>
          <p:cNvPr id="20" name="Text 18"/>
          <p:cNvSpPr/>
          <p:nvPr/>
        </p:nvSpPr>
        <p:spPr>
          <a:xfrm>
            <a:off x="8412480" y="4892040"/>
            <a:ext cx="640080" cy="201168"/>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22 / 38</a:t>
            </a:r>
            <a:endParaRPr lang="en-US" sz="900" dirty="0"/>
          </a:p>
        </p:txBody>
      </p:sp>
      <p:sp>
        <p:nvSpPr>
          <p:cNvPr id="21" name="Shape 19"/>
          <p:cNvSpPr/>
          <p:nvPr/>
        </p:nvSpPr>
        <p:spPr>
          <a:xfrm>
            <a:off x="256032" y="4882896"/>
            <a:ext cx="8631936" cy="36576"/>
          </a:xfrm>
          <a:prstGeom prst="rect">
            <a:avLst/>
          </a:prstGeom>
          <a:solidFill>
            <a:srgbClr val="0D6EAF">
              <a:alpha val="15000"/>
            </a:srgbClr>
          </a:solidFill>
          <a:ln w="12700">
            <a:solidFill>
              <a:srgbClr val="0D6EAF"/>
            </a:solidFill>
            <a:prstDash val="solid"/>
          </a:ln>
        </p:spPr>
      </p:sp>
      <p:sp>
        <p:nvSpPr>
          <p:cNvPr id="22" name="Shape 20"/>
          <p:cNvSpPr/>
          <p:nvPr/>
        </p:nvSpPr>
        <p:spPr>
          <a:xfrm>
            <a:off x="256032" y="4882896"/>
            <a:ext cx="4997437" cy="36576"/>
          </a:xfrm>
          <a:prstGeom prst="rect">
            <a:avLst/>
          </a:prstGeom>
          <a:solidFill>
            <a:srgbClr val="0D6EAF"/>
          </a:solidFill>
          <a:ln w="12700">
            <a:solidFill>
              <a:srgbClr val="0D6EAF"/>
            </a:solidFill>
            <a:prstDash val="solid"/>
          </a:ln>
        </p:spPr>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8FA"/>
        </a:solidFill>
      </p:bgPr>
    </p:bg>
    <p:spTree>
      <p:nvGrpSpPr>
        <p:cNvPr id="1" name=""/>
        <p:cNvGrpSpPr/>
        <p:nvPr/>
      </p:nvGrpSpPr>
      <p:grpSpPr>
        <a:xfrm>
          <a:off x="0" y="0"/>
          <a:ext cx="0" cy="0"/>
          <a:chOff x="0" y="0"/>
          <a:chExt cx="0" cy="0"/>
        </a:xfrm>
      </p:grpSpPr>
      <p:sp>
        <p:nvSpPr>
          <p:cNvPr id="2" name="Shape 0"/>
          <p:cNvSpPr/>
          <p:nvPr/>
        </p:nvSpPr>
        <p:spPr>
          <a:xfrm>
            <a:off x="0" y="0"/>
            <a:ext cx="118872" cy="5143500"/>
          </a:xfrm>
          <a:prstGeom prst="rect">
            <a:avLst/>
          </a:prstGeom>
          <a:solidFill>
            <a:srgbClr val="0D6EAF"/>
          </a:solidFill>
          <a:ln w="12700">
            <a:solidFill>
              <a:srgbClr val="0D6EAF"/>
            </a:solidFill>
            <a:prstDash val="solid"/>
          </a:ln>
        </p:spPr>
      </p:sp>
      <p:sp>
        <p:nvSpPr>
          <p:cNvPr id="3" name="Text 1"/>
          <p:cNvSpPr/>
          <p:nvPr/>
        </p:nvSpPr>
        <p:spPr>
          <a:xfrm>
            <a:off x="256032" y="201168"/>
            <a:ext cx="8686800" cy="566928"/>
          </a:xfrm>
          <a:prstGeom prst="rect">
            <a:avLst/>
          </a:prstGeom>
          <a:noFill/>
          <a:ln/>
        </p:spPr>
        <p:txBody>
          <a:bodyPr wrap="square" lIns="0" tIns="0" rIns="0" bIns="0" rtlCol="0" anchor="ctr">
            <a:normAutofit/>
          </a:bodyPr>
          <a:lstStyle/>
          <a:p>
            <a:pPr indent="0" marL="0">
              <a:buNone/>
            </a:pPr>
            <a:r>
              <a:rPr lang="en-US" sz="2600" b="1" dirty="0">
                <a:solidFill>
                  <a:srgbClr val="1B2A4A"/>
                </a:solidFill>
                <a:latin typeface="Calibri" pitchFamily="34" charset="0"/>
                <a:ea typeface="Calibri" pitchFamily="34" charset="-122"/>
                <a:cs typeface="Calibri" pitchFamily="34" charset="-120"/>
              </a:rPr>
              <a:t>LQR as a Secondary Design Path</a:t>
            </a:r>
            <a:endParaRPr lang="en-US" sz="2600" dirty="0"/>
          </a:p>
        </p:txBody>
      </p:sp>
      <p:sp>
        <p:nvSpPr>
          <p:cNvPr id="4" name="Text 2"/>
          <p:cNvSpPr/>
          <p:nvPr/>
        </p:nvSpPr>
        <p:spPr>
          <a:xfrm>
            <a:off x="256032" y="768096"/>
            <a:ext cx="8686800" cy="274320"/>
          </a:xfrm>
          <a:prstGeom prst="rect">
            <a:avLst/>
          </a:prstGeom>
          <a:noFill/>
          <a:ln/>
        </p:spPr>
        <p:txBody>
          <a:bodyPr wrap="square" lIns="0" tIns="0" rIns="0" bIns="0" rtlCol="0" anchor="ctr">
            <a:normAutofit/>
          </a:bodyPr>
          <a:lstStyle/>
          <a:p>
            <a:pPr indent="0" marL="0">
              <a:buNone/>
            </a:pPr>
            <a:r>
              <a:rPr lang="en-US" sz="1200" i="1" dirty="0">
                <a:solidFill>
                  <a:srgbClr val="64748B"/>
                </a:solidFill>
                <a:latin typeface="Calibri" pitchFamily="34" charset="0"/>
                <a:ea typeface="Calibri" pitchFamily="34" charset="-122"/>
                <a:cs typeface="Calibri" pitchFamily="34" charset="-120"/>
              </a:rPr>
              <a:t>LQR is included as a compact alternative derivation, but the thesis keeps pole placement as the main transparent design route.</a:t>
            </a:r>
            <a:endParaRPr lang="en-US" sz="1200" dirty="0"/>
          </a:p>
        </p:txBody>
      </p:sp>
      <p:sp>
        <p:nvSpPr>
          <p:cNvPr id="5" name="Shape 3"/>
          <p:cNvSpPr/>
          <p:nvPr/>
        </p:nvSpPr>
        <p:spPr>
          <a:xfrm>
            <a:off x="256032" y="822960"/>
            <a:ext cx="8631936" cy="0"/>
          </a:xfrm>
          <a:prstGeom prst="line">
            <a:avLst/>
          </a:prstGeom>
          <a:noFill/>
          <a:ln w="9525">
            <a:solidFill>
              <a:srgbClr val="DDE3EC"/>
            </a:solidFill>
            <a:prstDash val="solid"/>
          </a:ln>
        </p:spPr>
      </p:sp>
      <p:sp>
        <p:nvSpPr>
          <p:cNvPr id="6" name="Shape 4"/>
          <p:cNvSpPr/>
          <p:nvPr/>
        </p:nvSpPr>
        <p:spPr>
          <a:xfrm>
            <a:off x="685800" y="1170432"/>
            <a:ext cx="4389120" cy="548640"/>
          </a:xfrm>
          <a:prstGeom prst="rect">
            <a:avLst/>
          </a:prstGeom>
          <a:solidFill>
            <a:srgbClr val="FFFFFF"/>
          </a:solidFill>
          <a:ln w="6350">
            <a:solidFill>
              <a:srgbClr val="DDE3EC"/>
            </a:solidFill>
            <a:prstDash val="solid"/>
          </a:ln>
        </p:spPr>
      </p:sp>
      <p:sp>
        <p:nvSpPr>
          <p:cNvPr id="7" name="Text 5"/>
          <p:cNvSpPr/>
          <p:nvPr/>
        </p:nvSpPr>
        <p:spPr>
          <a:xfrm>
            <a:off x="758952" y="1225296"/>
            <a:ext cx="914400" cy="146304"/>
          </a:xfrm>
          <a:prstGeom prst="rect">
            <a:avLst/>
          </a:prstGeom>
          <a:noFill/>
          <a:ln/>
        </p:spPr>
        <p:txBody>
          <a:bodyPr wrap="square" lIns="0" tIns="0" rIns="0" bIns="0" rtlCol="0" anchor="ctr"/>
          <a:lstStyle/>
          <a:p>
            <a:pPr indent="0" marL="0">
              <a:buNone/>
            </a:pPr>
            <a:r>
              <a:rPr lang="en-US" sz="800" i="1" dirty="0">
                <a:solidFill>
                  <a:srgbClr val="64748B"/>
                </a:solidFill>
                <a:latin typeface="Calibri" pitchFamily="34" charset="0"/>
                <a:ea typeface="Calibri" pitchFamily="34" charset="-122"/>
                <a:cs typeface="Calibri" pitchFamily="34" charset="-120"/>
              </a:rPr>
              <a:t>Equation</a:t>
            </a:r>
            <a:endParaRPr lang="en-US" sz="800" dirty="0"/>
          </a:p>
        </p:txBody>
      </p:sp>
      <p:sp>
        <p:nvSpPr>
          <p:cNvPr id="8" name="Shape 6"/>
          <p:cNvSpPr/>
          <p:nvPr/>
        </p:nvSpPr>
        <p:spPr>
          <a:xfrm>
            <a:off x="5303520" y="1078992"/>
            <a:ext cx="3246120" cy="1097280"/>
          </a:xfrm>
          <a:prstGeom prst="rect">
            <a:avLst/>
          </a:prstGeom>
          <a:solidFill>
            <a:srgbClr val="FFFFFF"/>
          </a:solidFill>
          <a:ln w="6350">
            <a:solidFill>
              <a:srgbClr val="DDE3EC"/>
            </a:solidFill>
            <a:prstDash val="solid"/>
          </a:ln>
        </p:spPr>
      </p:sp>
      <p:sp>
        <p:nvSpPr>
          <p:cNvPr id="9" name="Shape 7"/>
          <p:cNvSpPr/>
          <p:nvPr/>
        </p:nvSpPr>
        <p:spPr>
          <a:xfrm>
            <a:off x="5303520" y="1078992"/>
            <a:ext cx="3246120" cy="64008"/>
          </a:xfrm>
          <a:prstGeom prst="rect">
            <a:avLst/>
          </a:prstGeom>
          <a:solidFill>
            <a:srgbClr val="0D6EAF"/>
          </a:solidFill>
          <a:ln w="12700">
            <a:solidFill>
              <a:srgbClr val="0D6EAF"/>
            </a:solidFill>
            <a:prstDash val="solid"/>
          </a:ln>
        </p:spPr>
      </p:sp>
      <p:sp>
        <p:nvSpPr>
          <p:cNvPr id="10" name="Text 8"/>
          <p:cNvSpPr/>
          <p:nvPr/>
        </p:nvSpPr>
        <p:spPr>
          <a:xfrm>
            <a:off x="5413248" y="1188720"/>
            <a:ext cx="302666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Why it is not the main story</a:t>
            </a:r>
            <a:endParaRPr lang="en-US" sz="1150" dirty="0"/>
          </a:p>
        </p:txBody>
      </p:sp>
      <p:sp>
        <p:nvSpPr>
          <p:cNvPr id="11" name="Text 9"/>
          <p:cNvSpPr/>
          <p:nvPr/>
        </p:nvSpPr>
        <p:spPr>
          <a:xfrm>
            <a:off x="5413248" y="1463040"/>
            <a:ext cx="3026664" cy="603504"/>
          </a:xfrm>
          <a:prstGeom prst="rect">
            <a:avLst/>
          </a:prstGeom>
          <a:noFill/>
          <a:ln/>
        </p:spPr>
        <p:txBody>
          <a:bodyPr wrap="square" lIns="0" tIns="0" rIns="0" bIns="0" rtlCol="0" anchor="ctr">
            <a:normAutofit/>
          </a:bodyPr>
          <a:lstStyle/>
          <a:p>
            <a:pPr indent="0" marL="0">
              <a:buNone/>
            </a:pPr>
            <a:r>
              <a:rPr lang="en-US" sz="980" dirty="0">
                <a:solidFill>
                  <a:srgbClr val="3D5472"/>
                </a:solidFill>
                <a:latin typeface="Calibri" pitchFamily="34" charset="0"/>
                <a:ea typeface="Calibri" pitchFamily="34" charset="-122"/>
                <a:cs typeface="Calibri" pitchFamily="34" charset="-120"/>
              </a:rPr>
              <a:t>• The resulting gain depends on chosen Q/R weights rather than explicit modal targets.</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Pole placement was better for explaining the intended pendulum/base mode separation.</a:t>
            </a:r>
            <a:endParaRPr lang="en-US" sz="980" dirty="0"/>
          </a:p>
        </p:txBody>
      </p:sp>
      <p:sp>
        <p:nvSpPr>
          <p:cNvPr id="12" name="Shape 10"/>
          <p:cNvSpPr/>
          <p:nvPr/>
        </p:nvSpPr>
        <p:spPr>
          <a:xfrm>
            <a:off x="502920" y="2514600"/>
            <a:ext cx="3840480" cy="1508760"/>
          </a:xfrm>
          <a:prstGeom prst="rect">
            <a:avLst/>
          </a:prstGeom>
          <a:solidFill>
            <a:srgbClr val="FFFFFF"/>
          </a:solidFill>
          <a:ln w="6350">
            <a:solidFill>
              <a:srgbClr val="DDE3EC"/>
            </a:solidFill>
            <a:prstDash val="solid"/>
          </a:ln>
        </p:spPr>
      </p:sp>
      <p:sp>
        <p:nvSpPr>
          <p:cNvPr id="13" name="Shape 11"/>
          <p:cNvSpPr/>
          <p:nvPr/>
        </p:nvSpPr>
        <p:spPr>
          <a:xfrm>
            <a:off x="502920" y="2514600"/>
            <a:ext cx="3840480" cy="64008"/>
          </a:xfrm>
          <a:prstGeom prst="rect">
            <a:avLst/>
          </a:prstGeom>
          <a:solidFill>
            <a:srgbClr val="0D6EAF"/>
          </a:solidFill>
          <a:ln w="12700">
            <a:solidFill>
              <a:srgbClr val="0D6EAF"/>
            </a:solidFill>
            <a:prstDash val="solid"/>
          </a:ln>
        </p:spPr>
      </p:sp>
      <p:sp>
        <p:nvSpPr>
          <p:cNvPr id="14" name="Text 12"/>
          <p:cNvSpPr/>
          <p:nvPr/>
        </p:nvSpPr>
        <p:spPr>
          <a:xfrm>
            <a:off x="612648" y="2624328"/>
            <a:ext cx="362102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Why still include it</a:t>
            </a:r>
            <a:endParaRPr lang="en-US" sz="1150" dirty="0"/>
          </a:p>
        </p:txBody>
      </p:sp>
      <p:sp>
        <p:nvSpPr>
          <p:cNvPr id="15" name="Text 13"/>
          <p:cNvSpPr/>
          <p:nvPr/>
        </p:nvSpPr>
        <p:spPr>
          <a:xfrm>
            <a:off x="612648" y="2898648"/>
            <a:ext cx="3621024" cy="1014984"/>
          </a:xfrm>
          <a:prstGeom prst="rect">
            <a:avLst/>
          </a:prstGeom>
          <a:noFill/>
          <a:ln/>
        </p:spPr>
        <p:txBody>
          <a:bodyPr wrap="square" lIns="0" tIns="0" rIns="0" bIns="0" rtlCol="0" anchor="ctr">
            <a:normAutofit/>
          </a:bodyPr>
          <a:lstStyle/>
          <a:p>
            <a:pPr indent="0" marL="0">
              <a:buNone/>
            </a:pPr>
            <a:r>
              <a:rPr lang="en-US" sz="980" dirty="0">
                <a:solidFill>
                  <a:srgbClr val="3D5472"/>
                </a:solidFill>
                <a:latin typeface="Calibri" pitchFamily="34" charset="0"/>
                <a:ea typeface="Calibri" pitchFamily="34" charset="-122"/>
                <a:cs typeface="Calibri" pitchFamily="34" charset="-120"/>
              </a:rPr>
              <a:t>• It confirms the same linearized plant can be handled with standard optimal control machinery.</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It is useful as a cross-check and as a future tuning path if the cost function is made actuator-aware.</a:t>
            </a:r>
            <a:endParaRPr lang="en-US" sz="980" dirty="0"/>
          </a:p>
        </p:txBody>
      </p:sp>
      <p:sp>
        <p:nvSpPr>
          <p:cNvPr id="16" name="Shape 14"/>
          <p:cNvSpPr/>
          <p:nvPr/>
        </p:nvSpPr>
        <p:spPr>
          <a:xfrm>
            <a:off x="4617720" y="2514600"/>
            <a:ext cx="3977640" cy="1508760"/>
          </a:xfrm>
          <a:prstGeom prst="rect">
            <a:avLst/>
          </a:prstGeom>
          <a:solidFill>
            <a:srgbClr val="FFFFFF"/>
          </a:solidFill>
          <a:ln w="6350">
            <a:solidFill>
              <a:srgbClr val="DDE3EC"/>
            </a:solidFill>
            <a:prstDash val="solid"/>
          </a:ln>
        </p:spPr>
      </p:sp>
      <p:sp>
        <p:nvSpPr>
          <p:cNvPr id="17" name="Shape 15"/>
          <p:cNvSpPr/>
          <p:nvPr/>
        </p:nvSpPr>
        <p:spPr>
          <a:xfrm>
            <a:off x="4617720" y="2514600"/>
            <a:ext cx="3977640" cy="64008"/>
          </a:xfrm>
          <a:prstGeom prst="rect">
            <a:avLst/>
          </a:prstGeom>
          <a:solidFill>
            <a:srgbClr val="0A7A6E"/>
          </a:solidFill>
          <a:ln w="12700">
            <a:solidFill>
              <a:srgbClr val="0A7A6E"/>
            </a:solidFill>
            <a:prstDash val="solid"/>
          </a:ln>
        </p:spPr>
      </p:sp>
      <p:sp>
        <p:nvSpPr>
          <p:cNvPr id="18" name="Text 16"/>
          <p:cNvSpPr/>
          <p:nvPr/>
        </p:nvSpPr>
        <p:spPr>
          <a:xfrm>
            <a:off x="4727448" y="2624328"/>
            <a:ext cx="375818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Design takeaway</a:t>
            </a:r>
            <a:endParaRPr lang="en-US" sz="1150" dirty="0"/>
          </a:p>
        </p:txBody>
      </p:sp>
      <p:sp>
        <p:nvSpPr>
          <p:cNvPr id="19" name="Text 17"/>
          <p:cNvSpPr/>
          <p:nvPr/>
        </p:nvSpPr>
        <p:spPr>
          <a:xfrm>
            <a:off x="4727448" y="2898648"/>
            <a:ext cx="3758184" cy="1014984"/>
          </a:xfrm>
          <a:prstGeom prst="rect">
            <a:avLst/>
          </a:prstGeom>
          <a:noFill/>
          <a:ln/>
        </p:spPr>
        <p:txBody>
          <a:bodyPr wrap="square" lIns="0" tIns="0" rIns="0" bIns="0" rtlCol="0" anchor="ctr">
            <a:normAutofit/>
          </a:bodyPr>
          <a:lstStyle/>
          <a:p>
            <a:pPr indent="0" marL="0">
              <a:buNone/>
            </a:pPr>
            <a:r>
              <a:rPr lang="en-US" sz="1000" dirty="0">
                <a:solidFill>
                  <a:srgbClr val="3D5472"/>
                </a:solidFill>
                <a:latin typeface="Calibri" pitchFamily="34" charset="0"/>
                <a:ea typeface="Calibri" pitchFamily="34" charset="-122"/>
                <a:cs typeface="Calibri" pitchFamily="34" charset="-120"/>
              </a:rPr>
              <a:t>This thesis uses LQR as supporting evidence that the linearized model is internally consistent, not as a competing headline controller branch.</a:t>
            </a:r>
            <a:endParaRPr lang="en-US" sz="1000" dirty="0"/>
          </a:p>
        </p:txBody>
      </p:sp>
      <p:sp>
        <p:nvSpPr>
          <p:cNvPr id="20" name="Text 18"/>
          <p:cNvSpPr/>
          <p:nvPr/>
        </p:nvSpPr>
        <p:spPr>
          <a:xfrm>
            <a:off x="8412480" y="4892040"/>
            <a:ext cx="640080" cy="201168"/>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23 / 38</a:t>
            </a:r>
            <a:endParaRPr lang="en-US" sz="900" dirty="0"/>
          </a:p>
        </p:txBody>
      </p:sp>
      <p:sp>
        <p:nvSpPr>
          <p:cNvPr id="21" name="Shape 19"/>
          <p:cNvSpPr/>
          <p:nvPr/>
        </p:nvSpPr>
        <p:spPr>
          <a:xfrm>
            <a:off x="256032" y="4882896"/>
            <a:ext cx="8631936" cy="36576"/>
          </a:xfrm>
          <a:prstGeom prst="rect">
            <a:avLst/>
          </a:prstGeom>
          <a:solidFill>
            <a:srgbClr val="0D6EAF">
              <a:alpha val="15000"/>
            </a:srgbClr>
          </a:solidFill>
          <a:ln w="12700">
            <a:solidFill>
              <a:srgbClr val="0D6EAF"/>
            </a:solidFill>
            <a:prstDash val="solid"/>
          </a:ln>
        </p:spPr>
      </p:sp>
      <p:sp>
        <p:nvSpPr>
          <p:cNvPr id="22" name="Shape 20"/>
          <p:cNvSpPr/>
          <p:nvPr/>
        </p:nvSpPr>
        <p:spPr>
          <a:xfrm>
            <a:off x="256032" y="4882896"/>
            <a:ext cx="5224593" cy="36576"/>
          </a:xfrm>
          <a:prstGeom prst="rect">
            <a:avLst/>
          </a:prstGeom>
          <a:solidFill>
            <a:srgbClr val="0D6EAF"/>
          </a:solidFill>
          <a:ln w="12700">
            <a:solidFill>
              <a:srgbClr val="0D6EAF"/>
            </a:solidFill>
            <a:prstDash val="solid"/>
          </a:ln>
        </p:spPr>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8FA"/>
        </a:solidFill>
      </p:bgPr>
    </p:bg>
    <p:spTree>
      <p:nvGrpSpPr>
        <p:cNvPr id="1" name=""/>
        <p:cNvGrpSpPr/>
        <p:nvPr/>
      </p:nvGrpSpPr>
      <p:grpSpPr>
        <a:xfrm>
          <a:off x="0" y="0"/>
          <a:ext cx="0" cy="0"/>
          <a:chOff x="0" y="0"/>
          <a:chExt cx="0" cy="0"/>
        </a:xfrm>
      </p:grpSpPr>
      <p:sp>
        <p:nvSpPr>
          <p:cNvPr id="2" name="Shape 0"/>
          <p:cNvSpPr/>
          <p:nvPr/>
        </p:nvSpPr>
        <p:spPr>
          <a:xfrm>
            <a:off x="0" y="0"/>
            <a:ext cx="118872" cy="5143500"/>
          </a:xfrm>
          <a:prstGeom prst="rect">
            <a:avLst/>
          </a:prstGeom>
          <a:solidFill>
            <a:srgbClr val="0D6EAF"/>
          </a:solidFill>
          <a:ln w="12700">
            <a:solidFill>
              <a:srgbClr val="0D6EAF"/>
            </a:solidFill>
            <a:prstDash val="solid"/>
          </a:ln>
        </p:spPr>
      </p:sp>
      <p:sp>
        <p:nvSpPr>
          <p:cNvPr id="3" name="Text 1"/>
          <p:cNvSpPr/>
          <p:nvPr/>
        </p:nvSpPr>
        <p:spPr>
          <a:xfrm>
            <a:off x="256032" y="201168"/>
            <a:ext cx="8686800" cy="566928"/>
          </a:xfrm>
          <a:prstGeom prst="rect">
            <a:avLst/>
          </a:prstGeom>
          <a:noFill/>
          <a:ln/>
        </p:spPr>
        <p:txBody>
          <a:bodyPr wrap="square" lIns="0" tIns="0" rIns="0" bIns="0" rtlCol="0" anchor="ctr">
            <a:normAutofit/>
          </a:bodyPr>
          <a:lstStyle/>
          <a:p>
            <a:pPr indent="0" marL="0">
              <a:buNone/>
            </a:pPr>
            <a:r>
              <a:rPr lang="en-US" sz="2600" b="1" dirty="0">
                <a:solidFill>
                  <a:srgbClr val="1B2A4A"/>
                </a:solidFill>
                <a:latin typeface="Calibri" pitchFamily="34" charset="0"/>
                <a:ea typeface="Calibri" pitchFamily="34" charset="-122"/>
                <a:cs typeface="Calibri" pitchFamily="34" charset="-120"/>
              </a:rPr>
              <a:t>Trapezoidal Reference Profiler and Stability Gates</a:t>
            </a:r>
            <a:endParaRPr lang="en-US" sz="2600" dirty="0"/>
          </a:p>
        </p:txBody>
      </p:sp>
      <p:sp>
        <p:nvSpPr>
          <p:cNvPr id="4" name="Text 2"/>
          <p:cNvSpPr/>
          <p:nvPr/>
        </p:nvSpPr>
        <p:spPr>
          <a:xfrm>
            <a:off x="256032" y="768096"/>
            <a:ext cx="8686800" cy="274320"/>
          </a:xfrm>
          <a:prstGeom prst="rect">
            <a:avLst/>
          </a:prstGeom>
          <a:noFill/>
          <a:ln/>
        </p:spPr>
        <p:txBody>
          <a:bodyPr wrap="square" lIns="0" tIns="0" rIns="0" bIns="0" rtlCol="0" anchor="ctr">
            <a:normAutofit/>
          </a:bodyPr>
          <a:lstStyle/>
          <a:p>
            <a:pPr indent="0" marL="0">
              <a:buNone/>
            </a:pPr>
            <a:r>
              <a:rPr lang="en-US" sz="1200" i="1" dirty="0">
                <a:solidFill>
                  <a:srgbClr val="64748B"/>
                </a:solidFill>
                <a:latin typeface="Calibri" pitchFamily="34" charset="0"/>
                <a:ea typeface="Calibri" pitchFamily="34" charset="-122"/>
                <a:cs typeface="Calibri" pitchFamily="34" charset="-120"/>
              </a:rPr>
              <a:t>The nudge mode is not a separate controller; it is a reference-generation layer wrapped around the same balancing stack.</a:t>
            </a:r>
            <a:endParaRPr lang="en-US" sz="1200" dirty="0"/>
          </a:p>
        </p:txBody>
      </p:sp>
      <p:sp>
        <p:nvSpPr>
          <p:cNvPr id="5" name="Shape 3"/>
          <p:cNvSpPr/>
          <p:nvPr/>
        </p:nvSpPr>
        <p:spPr>
          <a:xfrm>
            <a:off x="256032" y="822960"/>
            <a:ext cx="8631936" cy="0"/>
          </a:xfrm>
          <a:prstGeom prst="line">
            <a:avLst/>
          </a:prstGeom>
          <a:noFill/>
          <a:ln w="9525">
            <a:solidFill>
              <a:srgbClr val="DDE3EC"/>
            </a:solidFill>
            <a:prstDash val="solid"/>
          </a:ln>
        </p:spPr>
      </p:sp>
      <p:sp>
        <p:nvSpPr>
          <p:cNvPr id="6" name="Shape 4"/>
          <p:cNvSpPr/>
          <p:nvPr/>
        </p:nvSpPr>
        <p:spPr>
          <a:xfrm>
            <a:off x="502920" y="1216152"/>
            <a:ext cx="1505102" cy="625450"/>
          </a:xfrm>
          <a:prstGeom prst="roundRect">
            <a:avLst/>
          </a:prstGeom>
          <a:solidFill>
            <a:srgbClr val="D6E8F5"/>
          </a:solidFill>
          <a:ln w="6350">
            <a:solidFill>
              <a:srgbClr val="DDE3EC"/>
            </a:solidFill>
            <a:prstDash val="solid"/>
          </a:ln>
        </p:spPr>
      </p:sp>
      <p:sp>
        <p:nvSpPr>
          <p:cNvPr id="7" name="Text 5"/>
          <p:cNvSpPr/>
          <p:nvPr/>
        </p:nvSpPr>
        <p:spPr>
          <a:xfrm>
            <a:off x="557784" y="1298448"/>
            <a:ext cx="1395374" cy="460858"/>
          </a:xfrm>
          <a:prstGeom prst="rect">
            <a:avLst/>
          </a:prstGeom>
          <a:noFill/>
          <a:ln/>
        </p:spPr>
        <p:txBody>
          <a:bodyPr wrap="square" lIns="0" tIns="0" rIns="0" bIns="0" rtlCol="0" anchor="ctr">
            <a:normAutofit/>
          </a:bodyPr>
          <a:lstStyle/>
          <a:p>
            <a:pPr algn="ctr" indent="0" marL="0">
              <a:buNone/>
            </a:pPr>
            <a:r>
              <a:rPr lang="en-US" sz="1000" b="1" dirty="0">
                <a:solidFill>
                  <a:srgbClr val="1B2A4A"/>
                </a:solidFill>
                <a:latin typeface="Calibri" pitchFamily="34" charset="0"/>
                <a:ea typeface="Calibri" pitchFamily="34" charset="-122"/>
                <a:cs typeface="Calibri" pitchFamily="34" charset="-120"/>
              </a:rPr>
              <a:t>User target\nθ_target</a:t>
            </a:r>
            <a:endParaRPr lang="en-US" sz="1000" dirty="0"/>
          </a:p>
        </p:txBody>
      </p:sp>
      <p:sp>
        <p:nvSpPr>
          <p:cNvPr id="8" name="Text 6"/>
          <p:cNvSpPr/>
          <p:nvPr/>
        </p:nvSpPr>
        <p:spPr>
          <a:xfrm>
            <a:off x="2026310" y="1362456"/>
            <a:ext cx="128016" cy="228600"/>
          </a:xfrm>
          <a:prstGeom prst="rect">
            <a:avLst/>
          </a:prstGeom>
          <a:noFill/>
          <a:ln/>
        </p:spPr>
        <p:txBody>
          <a:bodyPr wrap="square" lIns="0" tIns="0" rIns="0" bIns="0" rtlCol="0" anchor="ctr"/>
          <a:lstStyle/>
          <a:p>
            <a:pPr algn="ctr" indent="0" marL="0">
              <a:buNone/>
            </a:pPr>
            <a:r>
              <a:rPr lang="en-US" sz="1800" b="1" dirty="0">
                <a:solidFill>
                  <a:srgbClr val="0D6EAF"/>
                </a:solidFill>
                <a:latin typeface="Calibri" pitchFamily="34" charset="0"/>
                <a:ea typeface="Calibri" pitchFamily="34" charset="-122"/>
                <a:cs typeface="Calibri" pitchFamily="34" charset="-120"/>
              </a:rPr>
              <a:t>→</a:t>
            </a:r>
            <a:endParaRPr lang="en-US" sz="1800" dirty="0"/>
          </a:p>
        </p:txBody>
      </p:sp>
      <p:sp>
        <p:nvSpPr>
          <p:cNvPr id="9" name="Shape 7"/>
          <p:cNvSpPr/>
          <p:nvPr/>
        </p:nvSpPr>
        <p:spPr>
          <a:xfrm>
            <a:off x="2172614" y="1216152"/>
            <a:ext cx="1505102" cy="625450"/>
          </a:xfrm>
          <a:prstGeom prst="roundRect">
            <a:avLst/>
          </a:prstGeom>
          <a:solidFill>
            <a:srgbClr val="EEF5FB"/>
          </a:solidFill>
          <a:ln w="6350">
            <a:solidFill>
              <a:srgbClr val="DDE3EC"/>
            </a:solidFill>
            <a:prstDash val="solid"/>
          </a:ln>
        </p:spPr>
      </p:sp>
      <p:sp>
        <p:nvSpPr>
          <p:cNvPr id="10" name="Text 8"/>
          <p:cNvSpPr/>
          <p:nvPr/>
        </p:nvSpPr>
        <p:spPr>
          <a:xfrm>
            <a:off x="2227478" y="1298448"/>
            <a:ext cx="1395374" cy="460858"/>
          </a:xfrm>
          <a:prstGeom prst="rect">
            <a:avLst/>
          </a:prstGeom>
          <a:noFill/>
          <a:ln/>
        </p:spPr>
        <p:txBody>
          <a:bodyPr wrap="square" lIns="0" tIns="0" rIns="0" bIns="0" rtlCol="0" anchor="ctr">
            <a:normAutofit/>
          </a:bodyPr>
          <a:lstStyle/>
          <a:p>
            <a:pPr algn="ctr" indent="0" marL="0">
              <a:buNone/>
            </a:pPr>
            <a:r>
              <a:rPr lang="en-US" sz="1000" b="1" dirty="0">
                <a:solidFill>
                  <a:srgbClr val="1B2A4A"/>
                </a:solidFill>
                <a:latin typeface="Calibri" pitchFamily="34" charset="0"/>
                <a:ea typeface="Calibri" pitchFamily="34" charset="-122"/>
                <a:cs typeface="Calibri" pitchFamily="34" charset="-120"/>
              </a:rPr>
              <a:t>Trapezoidal\nprofile</a:t>
            </a:r>
            <a:endParaRPr lang="en-US" sz="1000" dirty="0"/>
          </a:p>
        </p:txBody>
      </p:sp>
      <p:sp>
        <p:nvSpPr>
          <p:cNvPr id="11" name="Text 9"/>
          <p:cNvSpPr/>
          <p:nvPr/>
        </p:nvSpPr>
        <p:spPr>
          <a:xfrm>
            <a:off x="3696005" y="1362456"/>
            <a:ext cx="128016" cy="228600"/>
          </a:xfrm>
          <a:prstGeom prst="rect">
            <a:avLst/>
          </a:prstGeom>
          <a:noFill/>
          <a:ln/>
        </p:spPr>
        <p:txBody>
          <a:bodyPr wrap="square" lIns="0" tIns="0" rIns="0" bIns="0" rtlCol="0" anchor="ctr"/>
          <a:lstStyle/>
          <a:p>
            <a:pPr algn="ctr" indent="0" marL="0">
              <a:buNone/>
            </a:pPr>
            <a:r>
              <a:rPr lang="en-US" sz="1800" b="1" dirty="0">
                <a:solidFill>
                  <a:srgbClr val="0D6EAF"/>
                </a:solidFill>
                <a:latin typeface="Calibri" pitchFamily="34" charset="0"/>
                <a:ea typeface="Calibri" pitchFamily="34" charset="-122"/>
                <a:cs typeface="Calibri" pitchFamily="34" charset="-120"/>
              </a:rPr>
              <a:t>→</a:t>
            </a:r>
            <a:endParaRPr lang="en-US" sz="1800" dirty="0"/>
          </a:p>
        </p:txBody>
      </p:sp>
      <p:sp>
        <p:nvSpPr>
          <p:cNvPr id="12" name="Shape 10"/>
          <p:cNvSpPr/>
          <p:nvPr/>
        </p:nvSpPr>
        <p:spPr>
          <a:xfrm>
            <a:off x="3842309" y="1216152"/>
            <a:ext cx="1505102" cy="625450"/>
          </a:xfrm>
          <a:prstGeom prst="roundRect">
            <a:avLst/>
          </a:prstGeom>
          <a:solidFill>
            <a:srgbClr val="FEF3C7"/>
          </a:solidFill>
          <a:ln w="6350">
            <a:solidFill>
              <a:srgbClr val="DDE3EC"/>
            </a:solidFill>
            <a:prstDash val="solid"/>
          </a:ln>
        </p:spPr>
      </p:sp>
      <p:sp>
        <p:nvSpPr>
          <p:cNvPr id="13" name="Text 11"/>
          <p:cNvSpPr/>
          <p:nvPr/>
        </p:nvSpPr>
        <p:spPr>
          <a:xfrm>
            <a:off x="3897173" y="1298448"/>
            <a:ext cx="1395374" cy="460858"/>
          </a:xfrm>
          <a:prstGeom prst="rect">
            <a:avLst/>
          </a:prstGeom>
          <a:noFill/>
          <a:ln/>
        </p:spPr>
        <p:txBody>
          <a:bodyPr wrap="square" lIns="0" tIns="0" rIns="0" bIns="0" rtlCol="0" anchor="ctr">
            <a:normAutofit/>
          </a:bodyPr>
          <a:lstStyle/>
          <a:p>
            <a:pPr algn="ctr" indent="0" marL="0">
              <a:buNone/>
            </a:pPr>
            <a:r>
              <a:rPr lang="en-US" sz="1000" b="1" dirty="0">
                <a:solidFill>
                  <a:srgbClr val="1B2A4A"/>
                </a:solidFill>
                <a:latin typeface="Calibri" pitchFamily="34" charset="0"/>
                <a:ea typeface="Calibri" pitchFamily="34" charset="-122"/>
                <a:cs typeface="Calibri" pitchFamily="34" charset="-120"/>
              </a:rPr>
              <a:t>Stability\ngate</a:t>
            </a:r>
            <a:endParaRPr lang="en-US" sz="1000" dirty="0"/>
          </a:p>
        </p:txBody>
      </p:sp>
      <p:sp>
        <p:nvSpPr>
          <p:cNvPr id="14" name="Text 12"/>
          <p:cNvSpPr/>
          <p:nvPr/>
        </p:nvSpPr>
        <p:spPr>
          <a:xfrm>
            <a:off x="5365699" y="1362456"/>
            <a:ext cx="128016" cy="228600"/>
          </a:xfrm>
          <a:prstGeom prst="rect">
            <a:avLst/>
          </a:prstGeom>
          <a:noFill/>
          <a:ln/>
        </p:spPr>
        <p:txBody>
          <a:bodyPr wrap="square" lIns="0" tIns="0" rIns="0" bIns="0" rtlCol="0" anchor="ctr"/>
          <a:lstStyle/>
          <a:p>
            <a:pPr algn="ctr" indent="0" marL="0">
              <a:buNone/>
            </a:pPr>
            <a:r>
              <a:rPr lang="en-US" sz="1800" b="1" dirty="0">
                <a:solidFill>
                  <a:srgbClr val="0D6EAF"/>
                </a:solidFill>
                <a:latin typeface="Calibri" pitchFamily="34" charset="0"/>
                <a:ea typeface="Calibri" pitchFamily="34" charset="-122"/>
                <a:cs typeface="Calibri" pitchFamily="34" charset="-120"/>
              </a:rPr>
              <a:t>→</a:t>
            </a:r>
            <a:endParaRPr lang="en-US" sz="1800" dirty="0"/>
          </a:p>
        </p:txBody>
      </p:sp>
      <p:sp>
        <p:nvSpPr>
          <p:cNvPr id="15" name="Shape 13"/>
          <p:cNvSpPr/>
          <p:nvPr/>
        </p:nvSpPr>
        <p:spPr>
          <a:xfrm>
            <a:off x="5512003" y="1216152"/>
            <a:ext cx="1505102" cy="625450"/>
          </a:xfrm>
          <a:prstGeom prst="roundRect">
            <a:avLst/>
          </a:prstGeom>
          <a:solidFill>
            <a:srgbClr val="EEF5FB"/>
          </a:solidFill>
          <a:ln w="6350">
            <a:solidFill>
              <a:srgbClr val="DDE3EC"/>
            </a:solidFill>
            <a:prstDash val="solid"/>
          </a:ln>
        </p:spPr>
      </p:sp>
      <p:sp>
        <p:nvSpPr>
          <p:cNvPr id="16" name="Text 14"/>
          <p:cNvSpPr/>
          <p:nvPr/>
        </p:nvSpPr>
        <p:spPr>
          <a:xfrm>
            <a:off x="5566867" y="1298448"/>
            <a:ext cx="1395374" cy="460858"/>
          </a:xfrm>
          <a:prstGeom prst="rect">
            <a:avLst/>
          </a:prstGeom>
          <a:noFill/>
          <a:ln/>
        </p:spPr>
        <p:txBody>
          <a:bodyPr wrap="square" lIns="0" tIns="0" rIns="0" bIns="0" rtlCol="0" anchor="ctr">
            <a:normAutofit/>
          </a:bodyPr>
          <a:lstStyle/>
          <a:p>
            <a:pPr algn="ctr" indent="0" marL="0">
              <a:buNone/>
            </a:pPr>
            <a:r>
              <a:rPr lang="en-US" sz="1000" b="1" dirty="0">
                <a:solidFill>
                  <a:srgbClr val="1B2A4A"/>
                </a:solidFill>
                <a:latin typeface="Calibri" pitchFamily="34" charset="0"/>
                <a:ea typeface="Calibri" pitchFamily="34" charset="-122"/>
                <a:cs typeface="Calibri" pitchFamily="34" charset="-120"/>
              </a:rPr>
              <a:t>Pause /\nresume</a:t>
            </a:r>
            <a:endParaRPr lang="en-US" sz="1000" dirty="0"/>
          </a:p>
        </p:txBody>
      </p:sp>
      <p:sp>
        <p:nvSpPr>
          <p:cNvPr id="17" name="Text 15"/>
          <p:cNvSpPr/>
          <p:nvPr/>
        </p:nvSpPr>
        <p:spPr>
          <a:xfrm>
            <a:off x="7035394" y="1362456"/>
            <a:ext cx="128016" cy="228600"/>
          </a:xfrm>
          <a:prstGeom prst="rect">
            <a:avLst/>
          </a:prstGeom>
          <a:noFill/>
          <a:ln/>
        </p:spPr>
        <p:txBody>
          <a:bodyPr wrap="square" lIns="0" tIns="0" rIns="0" bIns="0" rtlCol="0" anchor="ctr"/>
          <a:lstStyle/>
          <a:p>
            <a:pPr algn="ctr" indent="0" marL="0">
              <a:buNone/>
            </a:pPr>
            <a:r>
              <a:rPr lang="en-US" sz="1800" b="1" dirty="0">
                <a:solidFill>
                  <a:srgbClr val="0D6EAF"/>
                </a:solidFill>
                <a:latin typeface="Calibri" pitchFamily="34" charset="0"/>
                <a:ea typeface="Calibri" pitchFamily="34" charset="-122"/>
                <a:cs typeface="Calibri" pitchFamily="34" charset="-120"/>
              </a:rPr>
              <a:t>→</a:t>
            </a:r>
            <a:endParaRPr lang="en-US" sz="1800" dirty="0"/>
          </a:p>
        </p:txBody>
      </p:sp>
      <p:sp>
        <p:nvSpPr>
          <p:cNvPr id="18" name="Shape 16"/>
          <p:cNvSpPr/>
          <p:nvPr/>
        </p:nvSpPr>
        <p:spPr>
          <a:xfrm>
            <a:off x="7181698" y="1216152"/>
            <a:ext cx="1505102" cy="625450"/>
          </a:xfrm>
          <a:prstGeom prst="roundRect">
            <a:avLst/>
          </a:prstGeom>
          <a:solidFill>
            <a:srgbClr val="D6E8F5"/>
          </a:solidFill>
          <a:ln w="6350">
            <a:solidFill>
              <a:srgbClr val="DDE3EC"/>
            </a:solidFill>
            <a:prstDash val="solid"/>
          </a:ln>
        </p:spPr>
      </p:sp>
      <p:sp>
        <p:nvSpPr>
          <p:cNvPr id="19" name="Text 17"/>
          <p:cNvSpPr/>
          <p:nvPr/>
        </p:nvSpPr>
        <p:spPr>
          <a:xfrm>
            <a:off x="7236562" y="1298448"/>
            <a:ext cx="1395374" cy="460858"/>
          </a:xfrm>
          <a:prstGeom prst="rect">
            <a:avLst/>
          </a:prstGeom>
          <a:noFill/>
          <a:ln/>
        </p:spPr>
        <p:txBody>
          <a:bodyPr wrap="square" lIns="0" tIns="0" rIns="0" bIns="0" rtlCol="0" anchor="ctr">
            <a:normAutofit/>
          </a:bodyPr>
          <a:lstStyle/>
          <a:p>
            <a:pPr algn="ctr" indent="0" marL="0">
              <a:buNone/>
            </a:pPr>
            <a:r>
              <a:rPr lang="en-US" sz="1000" b="1" dirty="0">
                <a:solidFill>
                  <a:srgbClr val="1B2A4A"/>
                </a:solidFill>
                <a:latin typeface="Calibri" pitchFamily="34" charset="0"/>
                <a:ea typeface="Calibri" pitchFamily="34" charset="-122"/>
                <a:cs typeface="Calibri" pitchFamily="34" charset="-120"/>
              </a:rPr>
              <a:t>θ_ref, θ̇_ref, θ̈_ref</a:t>
            </a:r>
            <a:endParaRPr lang="en-US" sz="1000" dirty="0"/>
          </a:p>
        </p:txBody>
      </p:sp>
      <p:sp>
        <p:nvSpPr>
          <p:cNvPr id="20" name="Shape 18"/>
          <p:cNvSpPr/>
          <p:nvPr/>
        </p:nvSpPr>
        <p:spPr>
          <a:xfrm>
            <a:off x="502920" y="2331720"/>
            <a:ext cx="3794760" cy="1691640"/>
          </a:xfrm>
          <a:prstGeom prst="rect">
            <a:avLst/>
          </a:prstGeom>
          <a:solidFill>
            <a:srgbClr val="FFFFFF"/>
          </a:solidFill>
          <a:ln w="6350">
            <a:solidFill>
              <a:srgbClr val="DDE3EC"/>
            </a:solidFill>
            <a:prstDash val="solid"/>
          </a:ln>
        </p:spPr>
      </p:sp>
      <p:sp>
        <p:nvSpPr>
          <p:cNvPr id="21" name="Shape 19"/>
          <p:cNvSpPr/>
          <p:nvPr/>
        </p:nvSpPr>
        <p:spPr>
          <a:xfrm>
            <a:off x="502920" y="2331720"/>
            <a:ext cx="3794760" cy="64008"/>
          </a:xfrm>
          <a:prstGeom prst="rect">
            <a:avLst/>
          </a:prstGeom>
          <a:solidFill>
            <a:srgbClr val="0D6EAF"/>
          </a:solidFill>
          <a:ln w="12700">
            <a:solidFill>
              <a:srgbClr val="0D6EAF"/>
            </a:solidFill>
            <a:prstDash val="solid"/>
          </a:ln>
        </p:spPr>
      </p:sp>
      <p:sp>
        <p:nvSpPr>
          <p:cNvPr id="22" name="Text 20"/>
          <p:cNvSpPr/>
          <p:nvPr/>
        </p:nvSpPr>
        <p:spPr>
          <a:xfrm>
            <a:off x="612648" y="2441448"/>
            <a:ext cx="357530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Profile settings used in the thesis</a:t>
            </a:r>
            <a:endParaRPr lang="en-US" sz="1150" dirty="0"/>
          </a:p>
        </p:txBody>
      </p:sp>
      <p:sp>
        <p:nvSpPr>
          <p:cNvPr id="23" name="Text 21"/>
          <p:cNvSpPr/>
          <p:nvPr/>
        </p:nvSpPr>
        <p:spPr>
          <a:xfrm>
            <a:off x="612648" y="2715768"/>
            <a:ext cx="3575304" cy="1197864"/>
          </a:xfrm>
          <a:prstGeom prst="rect">
            <a:avLst/>
          </a:prstGeom>
          <a:noFill/>
          <a:ln/>
        </p:spPr>
        <p:txBody>
          <a:bodyPr wrap="square" lIns="0" tIns="0" rIns="0" bIns="0" rtlCol="0" anchor="ctr">
            <a:normAutofit/>
          </a:bodyPr>
          <a:lstStyle/>
          <a:p>
            <a:pPr indent="0" marL="0">
              <a:buNone/>
            </a:pPr>
            <a:r>
              <a:rPr lang="en-US" sz="980" dirty="0">
                <a:solidFill>
                  <a:srgbClr val="3D5472"/>
                </a:solidFill>
                <a:latin typeface="Calibri" pitchFamily="34" charset="0"/>
                <a:ea typeface="Calibri" pitchFamily="34" charset="-122"/>
                <a:cs typeface="Calibri" pitchFamily="34" charset="-120"/>
              </a:rPr>
              <a:t>• Target limit: $|\theta_{\mathrm{target}}| \le 35^\circ$</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Max reference speed: $12^\circ/s$</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Max reference acceleration: $60^\circ/s^2$</a:t>
            </a:r>
            <a:endParaRPr lang="en-US" sz="980" dirty="0"/>
          </a:p>
        </p:txBody>
      </p:sp>
      <p:sp>
        <p:nvSpPr>
          <p:cNvPr id="24" name="Shape 22"/>
          <p:cNvSpPr/>
          <p:nvPr/>
        </p:nvSpPr>
        <p:spPr>
          <a:xfrm>
            <a:off x="4572000" y="2331720"/>
            <a:ext cx="4069080" cy="1691640"/>
          </a:xfrm>
          <a:prstGeom prst="rect">
            <a:avLst/>
          </a:prstGeom>
          <a:solidFill>
            <a:srgbClr val="FFFFFF"/>
          </a:solidFill>
          <a:ln w="6350">
            <a:solidFill>
              <a:srgbClr val="DDE3EC"/>
            </a:solidFill>
            <a:prstDash val="solid"/>
          </a:ln>
        </p:spPr>
      </p:sp>
      <p:sp>
        <p:nvSpPr>
          <p:cNvPr id="25" name="Shape 23"/>
          <p:cNvSpPr/>
          <p:nvPr/>
        </p:nvSpPr>
        <p:spPr>
          <a:xfrm>
            <a:off x="4572000" y="2331720"/>
            <a:ext cx="4069080" cy="64008"/>
          </a:xfrm>
          <a:prstGeom prst="rect">
            <a:avLst/>
          </a:prstGeom>
          <a:solidFill>
            <a:srgbClr val="0A7A6E"/>
          </a:solidFill>
          <a:ln w="12700">
            <a:solidFill>
              <a:srgbClr val="0A7A6E"/>
            </a:solidFill>
            <a:prstDash val="solid"/>
          </a:ln>
        </p:spPr>
      </p:sp>
      <p:sp>
        <p:nvSpPr>
          <p:cNvPr id="26" name="Text 24"/>
          <p:cNvSpPr/>
          <p:nvPr/>
        </p:nvSpPr>
        <p:spPr>
          <a:xfrm>
            <a:off x="4681728" y="2441448"/>
            <a:ext cx="384962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Pause / resume logic</a:t>
            </a:r>
            <a:endParaRPr lang="en-US" sz="1150" dirty="0"/>
          </a:p>
        </p:txBody>
      </p:sp>
      <p:sp>
        <p:nvSpPr>
          <p:cNvPr id="27" name="Text 25"/>
          <p:cNvSpPr/>
          <p:nvPr/>
        </p:nvSpPr>
        <p:spPr>
          <a:xfrm>
            <a:off x="4681728" y="2715768"/>
            <a:ext cx="3849624" cy="1197864"/>
          </a:xfrm>
          <a:prstGeom prst="rect">
            <a:avLst/>
          </a:prstGeom>
          <a:noFill/>
          <a:ln/>
        </p:spPr>
        <p:txBody>
          <a:bodyPr wrap="square" lIns="0" tIns="0" rIns="0" bIns="0" rtlCol="0" anchor="ctr">
            <a:normAutofit/>
          </a:bodyPr>
          <a:lstStyle/>
          <a:p>
            <a:pPr indent="0" marL="0">
              <a:buNone/>
            </a:pPr>
            <a:r>
              <a:rPr lang="en-US" sz="980" dirty="0">
                <a:solidFill>
                  <a:srgbClr val="3D5472"/>
                </a:solidFill>
                <a:latin typeface="Calibri" pitchFamily="34" charset="0"/>
                <a:ea typeface="Calibri" pitchFamily="34" charset="-122"/>
                <a:cs typeface="Calibri" pitchFamily="34" charset="-120"/>
              </a:rPr>
              <a:t>• Keep moving only if $|\alpha|&lt;5^\circ$ and $|\dot{\alpha}|&lt;80^\circ/s$ after a 200 ms grace period</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Debounce both stable and unstable conditions for 10 ticks</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On instability, hand θref once to the current measured θ and hold there until the rig is calm again</a:t>
            </a:r>
            <a:endParaRPr lang="en-US" sz="980" dirty="0"/>
          </a:p>
        </p:txBody>
      </p:sp>
      <p:sp>
        <p:nvSpPr>
          <p:cNvPr id="28" name="Text 26"/>
          <p:cNvSpPr/>
          <p:nvPr/>
        </p:nvSpPr>
        <p:spPr>
          <a:xfrm>
            <a:off x="8412480" y="4892040"/>
            <a:ext cx="640080" cy="201168"/>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24 / 38</a:t>
            </a:r>
            <a:endParaRPr lang="en-US" sz="900" dirty="0"/>
          </a:p>
        </p:txBody>
      </p:sp>
      <p:sp>
        <p:nvSpPr>
          <p:cNvPr id="29" name="Shape 27"/>
          <p:cNvSpPr/>
          <p:nvPr/>
        </p:nvSpPr>
        <p:spPr>
          <a:xfrm>
            <a:off x="256032" y="4882896"/>
            <a:ext cx="8631936" cy="36576"/>
          </a:xfrm>
          <a:prstGeom prst="rect">
            <a:avLst/>
          </a:prstGeom>
          <a:solidFill>
            <a:srgbClr val="0D6EAF">
              <a:alpha val="15000"/>
            </a:srgbClr>
          </a:solidFill>
          <a:ln w="12700">
            <a:solidFill>
              <a:srgbClr val="0D6EAF"/>
            </a:solidFill>
            <a:prstDash val="solid"/>
          </a:ln>
        </p:spPr>
      </p:sp>
      <p:sp>
        <p:nvSpPr>
          <p:cNvPr id="30" name="Shape 28"/>
          <p:cNvSpPr/>
          <p:nvPr/>
        </p:nvSpPr>
        <p:spPr>
          <a:xfrm>
            <a:off x="256032" y="4882896"/>
            <a:ext cx="5451749" cy="36576"/>
          </a:xfrm>
          <a:prstGeom prst="rect">
            <a:avLst/>
          </a:prstGeom>
          <a:solidFill>
            <a:srgbClr val="0D6EAF"/>
          </a:solidFill>
          <a:ln w="12700">
            <a:solidFill>
              <a:srgbClr val="0D6EAF"/>
            </a:solidFill>
            <a:prstDash val="solid"/>
          </a:ln>
        </p:spPr>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8FA"/>
        </a:solidFill>
      </p:bgPr>
    </p:bg>
    <p:spTree>
      <p:nvGrpSpPr>
        <p:cNvPr id="1" name=""/>
        <p:cNvGrpSpPr/>
        <p:nvPr/>
      </p:nvGrpSpPr>
      <p:grpSpPr>
        <a:xfrm>
          <a:off x="0" y="0"/>
          <a:ext cx="0" cy="0"/>
          <a:chOff x="0" y="0"/>
          <a:chExt cx="0" cy="0"/>
        </a:xfrm>
      </p:grpSpPr>
      <p:sp>
        <p:nvSpPr>
          <p:cNvPr id="2" name="Shape 0"/>
          <p:cNvSpPr/>
          <p:nvPr/>
        </p:nvSpPr>
        <p:spPr>
          <a:xfrm>
            <a:off x="0" y="0"/>
            <a:ext cx="118872" cy="5143500"/>
          </a:xfrm>
          <a:prstGeom prst="rect">
            <a:avLst/>
          </a:prstGeom>
          <a:solidFill>
            <a:srgbClr val="0D6EAF"/>
          </a:solidFill>
          <a:ln w="12700">
            <a:solidFill>
              <a:srgbClr val="0D6EAF"/>
            </a:solidFill>
            <a:prstDash val="solid"/>
          </a:ln>
        </p:spPr>
      </p:sp>
      <p:sp>
        <p:nvSpPr>
          <p:cNvPr id="3" name="Text 1"/>
          <p:cNvSpPr/>
          <p:nvPr/>
        </p:nvSpPr>
        <p:spPr>
          <a:xfrm>
            <a:off x="256032" y="201168"/>
            <a:ext cx="8686800" cy="566928"/>
          </a:xfrm>
          <a:prstGeom prst="rect">
            <a:avLst/>
          </a:prstGeom>
          <a:noFill/>
          <a:ln/>
        </p:spPr>
        <p:txBody>
          <a:bodyPr wrap="square" lIns="0" tIns="0" rIns="0" bIns="0" rtlCol="0" anchor="ctr">
            <a:normAutofit/>
          </a:bodyPr>
          <a:lstStyle/>
          <a:p>
            <a:pPr indent="0" marL="0">
              <a:buNone/>
            </a:pPr>
            <a:r>
              <a:rPr lang="en-US" sz="2600" b="1" dirty="0">
                <a:solidFill>
                  <a:srgbClr val="1B2A4A"/>
                </a:solidFill>
                <a:latin typeface="Calibri" pitchFamily="34" charset="0"/>
                <a:ea typeface="Calibri" pitchFamily="34" charset="-122"/>
                <a:cs typeface="Calibri" pitchFamily="34" charset="-120"/>
              </a:rPr>
              <a:t>Implementation Tricks in Firmware</a:t>
            </a:r>
            <a:endParaRPr lang="en-US" sz="2600" dirty="0"/>
          </a:p>
        </p:txBody>
      </p:sp>
      <p:sp>
        <p:nvSpPr>
          <p:cNvPr id="4" name="Text 2"/>
          <p:cNvSpPr/>
          <p:nvPr/>
        </p:nvSpPr>
        <p:spPr>
          <a:xfrm>
            <a:off x="256032" y="768096"/>
            <a:ext cx="8686800" cy="274320"/>
          </a:xfrm>
          <a:prstGeom prst="rect">
            <a:avLst/>
          </a:prstGeom>
          <a:noFill/>
          <a:ln/>
        </p:spPr>
        <p:txBody>
          <a:bodyPr wrap="square" lIns="0" tIns="0" rIns="0" bIns="0" rtlCol="0" anchor="ctr">
            <a:normAutofit/>
          </a:bodyPr>
          <a:lstStyle/>
          <a:p>
            <a:pPr indent="0" marL="0">
              <a:buNone/>
            </a:pPr>
            <a:r>
              <a:rPr lang="en-US" sz="1200" i="1" dirty="0">
                <a:solidFill>
                  <a:srgbClr val="64748B"/>
                </a:solidFill>
                <a:latin typeface="Calibri" pitchFamily="34" charset="0"/>
                <a:ea typeface="Calibri" pitchFamily="34" charset="-122"/>
                <a:cs typeface="Calibri" pitchFamily="34" charset="-120"/>
              </a:rPr>
              <a:t>This slide collects the small choices that stop the real hardware from behaving like the ideal equations would suggest.</a:t>
            </a:r>
            <a:endParaRPr lang="en-US" sz="1200" dirty="0"/>
          </a:p>
        </p:txBody>
      </p:sp>
      <p:sp>
        <p:nvSpPr>
          <p:cNvPr id="5" name="Shape 3"/>
          <p:cNvSpPr/>
          <p:nvPr/>
        </p:nvSpPr>
        <p:spPr>
          <a:xfrm>
            <a:off x="256032" y="822960"/>
            <a:ext cx="8631936" cy="0"/>
          </a:xfrm>
          <a:prstGeom prst="line">
            <a:avLst/>
          </a:prstGeom>
          <a:noFill/>
          <a:ln w="9525">
            <a:solidFill>
              <a:srgbClr val="DDE3EC"/>
            </a:solidFill>
            <a:prstDash val="solid"/>
          </a:ln>
        </p:spPr>
      </p:sp>
      <p:sp>
        <p:nvSpPr>
          <p:cNvPr id="6" name="Shape 4"/>
          <p:cNvSpPr/>
          <p:nvPr/>
        </p:nvSpPr>
        <p:spPr>
          <a:xfrm>
            <a:off x="502920" y="1078992"/>
            <a:ext cx="2606040" cy="1280160"/>
          </a:xfrm>
          <a:prstGeom prst="rect">
            <a:avLst/>
          </a:prstGeom>
          <a:solidFill>
            <a:srgbClr val="FFFFFF"/>
          </a:solidFill>
          <a:ln w="6350">
            <a:solidFill>
              <a:srgbClr val="DDE3EC"/>
            </a:solidFill>
            <a:prstDash val="solid"/>
          </a:ln>
        </p:spPr>
      </p:sp>
      <p:sp>
        <p:nvSpPr>
          <p:cNvPr id="7" name="Shape 5"/>
          <p:cNvSpPr/>
          <p:nvPr/>
        </p:nvSpPr>
        <p:spPr>
          <a:xfrm>
            <a:off x="502920" y="1078992"/>
            <a:ext cx="2606040" cy="64008"/>
          </a:xfrm>
          <a:prstGeom prst="rect">
            <a:avLst/>
          </a:prstGeom>
          <a:solidFill>
            <a:srgbClr val="0D6EAF"/>
          </a:solidFill>
          <a:ln w="12700">
            <a:solidFill>
              <a:srgbClr val="0D6EAF"/>
            </a:solidFill>
            <a:prstDash val="solid"/>
          </a:ln>
        </p:spPr>
      </p:sp>
      <p:sp>
        <p:nvSpPr>
          <p:cNvPr id="8" name="Text 6"/>
          <p:cNvSpPr/>
          <p:nvPr/>
        </p:nvSpPr>
        <p:spPr>
          <a:xfrm>
            <a:off x="612648" y="1188720"/>
            <a:ext cx="238658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Wrap + glitch handling</a:t>
            </a:r>
            <a:endParaRPr lang="en-US" sz="1150" dirty="0"/>
          </a:p>
        </p:txBody>
      </p:sp>
      <p:sp>
        <p:nvSpPr>
          <p:cNvPr id="9" name="Text 7"/>
          <p:cNvSpPr/>
          <p:nvPr/>
        </p:nvSpPr>
        <p:spPr>
          <a:xfrm>
            <a:off x="612648" y="1463040"/>
            <a:ext cx="2386584" cy="786384"/>
          </a:xfrm>
          <a:prstGeom prst="rect">
            <a:avLst/>
          </a:prstGeom>
          <a:noFill/>
          <a:ln/>
        </p:spPr>
        <p:txBody>
          <a:bodyPr wrap="square" lIns="0" tIns="0" rIns="0" bIns="0" rtlCol="0" anchor="ctr">
            <a:normAutofit/>
          </a:bodyPr>
          <a:lstStyle/>
          <a:p>
            <a:pPr indent="0" marL="0">
              <a:buNone/>
            </a:pPr>
            <a:r>
              <a:rPr lang="en-US" sz="980" dirty="0">
                <a:solidFill>
                  <a:srgbClr val="3D5472"/>
                </a:solidFill>
                <a:latin typeface="Calibri" pitchFamily="34" charset="0"/>
                <a:ea typeface="Calibri" pitchFamily="34" charset="-122"/>
                <a:cs typeface="Calibri" pitchFamily="34" charset="-120"/>
              </a:rPr>
              <a:t>• Wrap-safe angle differences</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Reject &gt;30° one-tick jumps</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Keep false spikes out of α̇ and θ̇</a:t>
            </a:r>
            <a:endParaRPr lang="en-US" sz="980" dirty="0"/>
          </a:p>
        </p:txBody>
      </p:sp>
      <p:sp>
        <p:nvSpPr>
          <p:cNvPr id="10" name="Shape 8"/>
          <p:cNvSpPr/>
          <p:nvPr/>
        </p:nvSpPr>
        <p:spPr>
          <a:xfrm>
            <a:off x="3246120" y="1078992"/>
            <a:ext cx="2606040" cy="1280160"/>
          </a:xfrm>
          <a:prstGeom prst="rect">
            <a:avLst/>
          </a:prstGeom>
          <a:solidFill>
            <a:srgbClr val="FFFFFF"/>
          </a:solidFill>
          <a:ln w="6350">
            <a:solidFill>
              <a:srgbClr val="DDE3EC"/>
            </a:solidFill>
            <a:prstDash val="solid"/>
          </a:ln>
        </p:spPr>
      </p:sp>
      <p:sp>
        <p:nvSpPr>
          <p:cNvPr id="11" name="Shape 9"/>
          <p:cNvSpPr/>
          <p:nvPr/>
        </p:nvSpPr>
        <p:spPr>
          <a:xfrm>
            <a:off x="3246120" y="1078992"/>
            <a:ext cx="2606040" cy="64008"/>
          </a:xfrm>
          <a:prstGeom prst="rect">
            <a:avLst/>
          </a:prstGeom>
          <a:solidFill>
            <a:srgbClr val="0A7A6E"/>
          </a:solidFill>
          <a:ln w="12700">
            <a:solidFill>
              <a:srgbClr val="0A7A6E"/>
            </a:solidFill>
            <a:prstDash val="solid"/>
          </a:ln>
        </p:spPr>
      </p:sp>
      <p:sp>
        <p:nvSpPr>
          <p:cNvPr id="12" name="Text 10"/>
          <p:cNvSpPr/>
          <p:nvPr/>
        </p:nvSpPr>
        <p:spPr>
          <a:xfrm>
            <a:off x="3355848" y="1188720"/>
            <a:ext cx="238658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Bias killers</a:t>
            </a:r>
            <a:endParaRPr lang="en-US" sz="1150" dirty="0"/>
          </a:p>
        </p:txBody>
      </p:sp>
      <p:sp>
        <p:nvSpPr>
          <p:cNvPr id="13" name="Text 11"/>
          <p:cNvSpPr/>
          <p:nvPr/>
        </p:nvSpPr>
        <p:spPr>
          <a:xfrm>
            <a:off x="3355848" y="1463040"/>
            <a:ext cx="2386584" cy="786384"/>
          </a:xfrm>
          <a:prstGeom prst="rect">
            <a:avLst/>
          </a:prstGeom>
          <a:noFill/>
          <a:ln/>
        </p:spPr>
        <p:txBody>
          <a:bodyPr wrap="square" lIns="0" tIns="0" rIns="0" bIns="0" rtlCol="0" anchor="ctr">
            <a:normAutofit/>
          </a:bodyPr>
          <a:lstStyle/>
          <a:p>
            <a:pPr indent="0" marL="0">
              <a:buNone/>
            </a:pPr>
            <a:r>
              <a:rPr lang="en-US" sz="980" dirty="0">
                <a:solidFill>
                  <a:srgbClr val="3D5472"/>
                </a:solidFill>
                <a:latin typeface="Calibri" pitchFamily="34" charset="0"/>
                <a:ea typeface="Calibri" pitchFamily="34" charset="-122"/>
                <a:cs typeface="Calibri" pitchFamily="34" charset="-120"/>
              </a:rPr>
              <a:t>• Velocity leak in linear mode only</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Auto-trim the α reference slowly</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Clamp trim to ±1.5°</a:t>
            </a:r>
            <a:endParaRPr lang="en-US" sz="980" dirty="0"/>
          </a:p>
        </p:txBody>
      </p:sp>
      <p:sp>
        <p:nvSpPr>
          <p:cNvPr id="14" name="Shape 12"/>
          <p:cNvSpPr/>
          <p:nvPr/>
        </p:nvSpPr>
        <p:spPr>
          <a:xfrm>
            <a:off x="5989320" y="1078992"/>
            <a:ext cx="2606040" cy="1280160"/>
          </a:xfrm>
          <a:prstGeom prst="rect">
            <a:avLst/>
          </a:prstGeom>
          <a:solidFill>
            <a:srgbClr val="FFFFFF"/>
          </a:solidFill>
          <a:ln w="6350">
            <a:solidFill>
              <a:srgbClr val="DDE3EC"/>
            </a:solidFill>
            <a:prstDash val="solid"/>
          </a:ln>
        </p:spPr>
      </p:sp>
      <p:sp>
        <p:nvSpPr>
          <p:cNvPr id="15" name="Shape 13"/>
          <p:cNvSpPr/>
          <p:nvPr/>
        </p:nvSpPr>
        <p:spPr>
          <a:xfrm>
            <a:off x="5989320" y="1078992"/>
            <a:ext cx="2606040" cy="64008"/>
          </a:xfrm>
          <a:prstGeom prst="rect">
            <a:avLst/>
          </a:prstGeom>
          <a:solidFill>
            <a:srgbClr val="0D6EAF"/>
          </a:solidFill>
          <a:ln w="12700">
            <a:solidFill>
              <a:srgbClr val="0D6EAF"/>
            </a:solidFill>
            <a:prstDash val="solid"/>
          </a:ln>
        </p:spPr>
      </p:sp>
      <p:sp>
        <p:nvSpPr>
          <p:cNvPr id="16" name="Text 14"/>
          <p:cNvSpPr/>
          <p:nvPr/>
        </p:nvSpPr>
        <p:spPr>
          <a:xfrm>
            <a:off x="6099048" y="1188720"/>
            <a:ext cx="238658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Motor command shaping</a:t>
            </a:r>
            <a:endParaRPr lang="en-US" sz="1150" dirty="0"/>
          </a:p>
        </p:txBody>
      </p:sp>
      <p:sp>
        <p:nvSpPr>
          <p:cNvPr id="17" name="Text 15"/>
          <p:cNvSpPr/>
          <p:nvPr/>
        </p:nvSpPr>
        <p:spPr>
          <a:xfrm>
            <a:off x="6099048" y="1463040"/>
            <a:ext cx="2386584" cy="786384"/>
          </a:xfrm>
          <a:prstGeom prst="rect">
            <a:avLst/>
          </a:prstGeom>
          <a:noFill/>
          <a:ln/>
        </p:spPr>
        <p:txBody>
          <a:bodyPr wrap="square" lIns="0" tIns="0" rIns="0" bIns="0" rtlCol="0" anchor="ctr">
            <a:normAutofit/>
          </a:bodyPr>
          <a:lstStyle/>
          <a:p>
            <a:pPr indent="0" marL="0">
              <a:buNone/>
            </a:pPr>
            <a:r>
              <a:rPr lang="en-US" sz="980" dirty="0">
                <a:solidFill>
                  <a:srgbClr val="3D5472"/>
                </a:solidFill>
                <a:latin typeface="Calibri" pitchFamily="34" charset="0"/>
                <a:ea typeface="Calibri" pitchFamily="34" charset="-122"/>
                <a:cs typeface="Calibri" pitchFamily="34" charset="-120"/>
              </a:rPr>
              <a:t>• 100 ms engage ramp</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Low-speed stop deadband</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Stop-before-reverse</a:t>
            </a:r>
            <a:endParaRPr lang="en-US" sz="980" dirty="0"/>
          </a:p>
        </p:txBody>
      </p:sp>
      <p:sp>
        <p:nvSpPr>
          <p:cNvPr id="18" name="Shape 16"/>
          <p:cNvSpPr/>
          <p:nvPr/>
        </p:nvSpPr>
        <p:spPr>
          <a:xfrm>
            <a:off x="502920" y="2697480"/>
            <a:ext cx="2606040" cy="1280160"/>
          </a:xfrm>
          <a:prstGeom prst="rect">
            <a:avLst/>
          </a:prstGeom>
          <a:solidFill>
            <a:srgbClr val="FEF2F2"/>
          </a:solidFill>
          <a:ln w="6350">
            <a:solidFill>
              <a:srgbClr val="DDE3EC"/>
            </a:solidFill>
            <a:prstDash val="solid"/>
          </a:ln>
        </p:spPr>
      </p:sp>
      <p:sp>
        <p:nvSpPr>
          <p:cNvPr id="19" name="Shape 17"/>
          <p:cNvSpPr/>
          <p:nvPr/>
        </p:nvSpPr>
        <p:spPr>
          <a:xfrm>
            <a:off x="502920" y="2697480"/>
            <a:ext cx="2606040" cy="64008"/>
          </a:xfrm>
          <a:prstGeom prst="rect">
            <a:avLst/>
          </a:prstGeom>
          <a:solidFill>
            <a:srgbClr val="B91C1C"/>
          </a:solidFill>
          <a:ln w="12700">
            <a:solidFill>
              <a:srgbClr val="B91C1C"/>
            </a:solidFill>
            <a:prstDash val="solid"/>
          </a:ln>
        </p:spPr>
      </p:sp>
      <p:sp>
        <p:nvSpPr>
          <p:cNvPr id="20" name="Text 18"/>
          <p:cNvSpPr/>
          <p:nvPr/>
        </p:nvSpPr>
        <p:spPr>
          <a:xfrm>
            <a:off x="612648" y="2807208"/>
            <a:ext cx="238658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Watchdogs</a:t>
            </a:r>
            <a:endParaRPr lang="en-US" sz="1150" dirty="0"/>
          </a:p>
        </p:txBody>
      </p:sp>
      <p:sp>
        <p:nvSpPr>
          <p:cNvPr id="21" name="Text 19"/>
          <p:cNvSpPr/>
          <p:nvPr/>
        </p:nvSpPr>
        <p:spPr>
          <a:xfrm>
            <a:off x="612648" y="3081528"/>
            <a:ext cx="2386584" cy="786384"/>
          </a:xfrm>
          <a:prstGeom prst="rect">
            <a:avLst/>
          </a:prstGeom>
          <a:noFill/>
          <a:ln/>
        </p:spPr>
        <p:txBody>
          <a:bodyPr wrap="square" lIns="0" tIns="0" rIns="0" bIns="0" rtlCol="0" anchor="ctr">
            <a:normAutofit/>
          </a:bodyPr>
          <a:lstStyle/>
          <a:p>
            <a:pPr indent="0" marL="0">
              <a:buNone/>
            </a:pPr>
            <a:r>
              <a:rPr lang="en-US" sz="980" dirty="0">
                <a:solidFill>
                  <a:srgbClr val="3D5472"/>
                </a:solidFill>
                <a:latin typeface="Calibri" pitchFamily="34" charset="0"/>
                <a:ea typeface="Calibri" pitchFamily="34" charset="-122"/>
                <a:cs typeface="Calibri" pitchFamily="34" charset="-120"/>
              </a:rPr>
              <a:t>• Base stall detection from measured θ</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Limit debounce before FALLEN</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SMC upright-only abort window</a:t>
            </a:r>
            <a:endParaRPr lang="en-US" sz="980" dirty="0"/>
          </a:p>
        </p:txBody>
      </p:sp>
      <p:sp>
        <p:nvSpPr>
          <p:cNvPr id="22" name="Shape 20"/>
          <p:cNvSpPr/>
          <p:nvPr/>
        </p:nvSpPr>
        <p:spPr>
          <a:xfrm>
            <a:off x="3246120" y="2697480"/>
            <a:ext cx="2606040" cy="1280160"/>
          </a:xfrm>
          <a:prstGeom prst="rect">
            <a:avLst/>
          </a:prstGeom>
          <a:solidFill>
            <a:srgbClr val="FFFFFF"/>
          </a:solidFill>
          <a:ln w="6350">
            <a:solidFill>
              <a:srgbClr val="DDE3EC"/>
            </a:solidFill>
            <a:prstDash val="solid"/>
          </a:ln>
        </p:spPr>
      </p:sp>
      <p:sp>
        <p:nvSpPr>
          <p:cNvPr id="23" name="Shape 21"/>
          <p:cNvSpPr/>
          <p:nvPr/>
        </p:nvSpPr>
        <p:spPr>
          <a:xfrm>
            <a:off x="3246120" y="2697480"/>
            <a:ext cx="2606040" cy="64008"/>
          </a:xfrm>
          <a:prstGeom prst="rect">
            <a:avLst/>
          </a:prstGeom>
          <a:solidFill>
            <a:srgbClr val="0D6EAF"/>
          </a:solidFill>
          <a:ln w="12700">
            <a:solidFill>
              <a:srgbClr val="0D6EAF"/>
            </a:solidFill>
            <a:prstDash val="solid"/>
          </a:ln>
        </p:spPr>
      </p:sp>
      <p:sp>
        <p:nvSpPr>
          <p:cNvPr id="24" name="Text 22"/>
          <p:cNvSpPr/>
          <p:nvPr/>
        </p:nvSpPr>
        <p:spPr>
          <a:xfrm>
            <a:off x="3355848" y="2807208"/>
            <a:ext cx="238658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Tuning helpers</a:t>
            </a:r>
            <a:endParaRPr lang="en-US" sz="1150" dirty="0"/>
          </a:p>
        </p:txBody>
      </p:sp>
      <p:sp>
        <p:nvSpPr>
          <p:cNvPr id="25" name="Text 23"/>
          <p:cNvSpPr/>
          <p:nvPr/>
        </p:nvSpPr>
        <p:spPr>
          <a:xfrm>
            <a:off x="3355848" y="3081528"/>
            <a:ext cx="2386584" cy="786384"/>
          </a:xfrm>
          <a:prstGeom prst="rect">
            <a:avLst/>
          </a:prstGeom>
          <a:noFill/>
          <a:ln/>
        </p:spPr>
        <p:txBody>
          <a:bodyPr wrap="square" lIns="0" tIns="0" rIns="0" bIns="0" rtlCol="0" anchor="ctr">
            <a:normAutofit/>
          </a:bodyPr>
          <a:lstStyle/>
          <a:p>
            <a:pPr indent="0" marL="0">
              <a:buNone/>
            </a:pPr>
            <a:r>
              <a:rPr lang="en-US" sz="980" dirty="0">
                <a:solidFill>
                  <a:srgbClr val="3D5472"/>
                </a:solidFill>
                <a:latin typeface="Calibri" pitchFamily="34" charset="0"/>
                <a:ea typeface="Calibri" pitchFamily="34" charset="-122"/>
                <a:cs typeface="Calibri" pitchFamily="34" charset="-120"/>
              </a:rPr>
              <a:t>• Sign wizard for motor / θ / α / control direction</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EEPROM persistence for settings</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Runtime controller parameter commands</a:t>
            </a:r>
            <a:endParaRPr lang="en-US" sz="980" dirty="0"/>
          </a:p>
        </p:txBody>
      </p:sp>
      <p:sp>
        <p:nvSpPr>
          <p:cNvPr id="26" name="Shape 24"/>
          <p:cNvSpPr/>
          <p:nvPr/>
        </p:nvSpPr>
        <p:spPr>
          <a:xfrm>
            <a:off x="5989320" y="2697480"/>
            <a:ext cx="2606040" cy="1280160"/>
          </a:xfrm>
          <a:prstGeom prst="rect">
            <a:avLst/>
          </a:prstGeom>
          <a:solidFill>
            <a:srgbClr val="FFFBEB"/>
          </a:solidFill>
          <a:ln w="6350">
            <a:solidFill>
              <a:srgbClr val="DDE3EC"/>
            </a:solidFill>
            <a:prstDash val="solid"/>
          </a:ln>
        </p:spPr>
      </p:sp>
      <p:sp>
        <p:nvSpPr>
          <p:cNvPr id="27" name="Shape 25"/>
          <p:cNvSpPr/>
          <p:nvPr/>
        </p:nvSpPr>
        <p:spPr>
          <a:xfrm>
            <a:off x="5989320" y="2697480"/>
            <a:ext cx="2606040" cy="64008"/>
          </a:xfrm>
          <a:prstGeom prst="rect">
            <a:avLst/>
          </a:prstGeom>
          <a:solidFill>
            <a:srgbClr val="D97706"/>
          </a:solidFill>
          <a:ln w="12700">
            <a:solidFill>
              <a:srgbClr val="D97706"/>
            </a:solidFill>
            <a:prstDash val="solid"/>
          </a:ln>
        </p:spPr>
      </p:sp>
      <p:sp>
        <p:nvSpPr>
          <p:cNvPr id="28" name="Text 26"/>
          <p:cNvSpPr/>
          <p:nvPr/>
        </p:nvSpPr>
        <p:spPr>
          <a:xfrm>
            <a:off x="6099048" y="2807208"/>
            <a:ext cx="238658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Why these matter</a:t>
            </a:r>
            <a:endParaRPr lang="en-US" sz="1150" dirty="0"/>
          </a:p>
        </p:txBody>
      </p:sp>
      <p:sp>
        <p:nvSpPr>
          <p:cNvPr id="29" name="Text 27"/>
          <p:cNvSpPr/>
          <p:nvPr/>
        </p:nvSpPr>
        <p:spPr>
          <a:xfrm>
            <a:off x="6099048" y="3081528"/>
            <a:ext cx="2386584" cy="786384"/>
          </a:xfrm>
          <a:prstGeom prst="rect">
            <a:avLst/>
          </a:prstGeom>
          <a:noFill/>
          <a:ln/>
        </p:spPr>
        <p:txBody>
          <a:bodyPr wrap="square" lIns="0" tIns="0" rIns="0" bIns="0" rtlCol="0" anchor="ctr">
            <a:normAutofit/>
          </a:bodyPr>
          <a:lstStyle/>
          <a:p>
            <a:pPr indent="0" marL="0">
              <a:buNone/>
            </a:pPr>
            <a:r>
              <a:rPr lang="en-US" sz="1000" dirty="0">
                <a:solidFill>
                  <a:srgbClr val="3D5472"/>
                </a:solidFill>
                <a:latin typeface="Calibri" pitchFamily="34" charset="0"/>
                <a:ea typeface="Calibri" pitchFamily="34" charset="-122"/>
                <a:cs typeface="Calibri" pitchFamily="34" charset="-120"/>
              </a:rPr>
              <a:t>These are the difference between a controller law that looks correct on paper and a balancing session that survives repeated real-world trials.</a:t>
            </a:r>
            <a:endParaRPr lang="en-US" sz="1000" dirty="0"/>
          </a:p>
        </p:txBody>
      </p:sp>
      <p:sp>
        <p:nvSpPr>
          <p:cNvPr id="30" name="Text 28"/>
          <p:cNvSpPr/>
          <p:nvPr/>
        </p:nvSpPr>
        <p:spPr>
          <a:xfrm>
            <a:off x="8412480" y="4892040"/>
            <a:ext cx="640080" cy="201168"/>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25 / 38</a:t>
            </a:r>
            <a:endParaRPr lang="en-US" sz="900" dirty="0"/>
          </a:p>
        </p:txBody>
      </p:sp>
      <p:sp>
        <p:nvSpPr>
          <p:cNvPr id="31" name="Shape 29"/>
          <p:cNvSpPr/>
          <p:nvPr/>
        </p:nvSpPr>
        <p:spPr>
          <a:xfrm>
            <a:off x="256032" y="4882896"/>
            <a:ext cx="8631936" cy="36576"/>
          </a:xfrm>
          <a:prstGeom prst="rect">
            <a:avLst/>
          </a:prstGeom>
          <a:solidFill>
            <a:srgbClr val="0D6EAF">
              <a:alpha val="15000"/>
            </a:srgbClr>
          </a:solidFill>
          <a:ln w="12700">
            <a:solidFill>
              <a:srgbClr val="0D6EAF"/>
            </a:solidFill>
            <a:prstDash val="solid"/>
          </a:ln>
        </p:spPr>
      </p:sp>
      <p:sp>
        <p:nvSpPr>
          <p:cNvPr id="32" name="Shape 30"/>
          <p:cNvSpPr/>
          <p:nvPr/>
        </p:nvSpPr>
        <p:spPr>
          <a:xfrm>
            <a:off x="256032" y="4882896"/>
            <a:ext cx="5678905" cy="36576"/>
          </a:xfrm>
          <a:prstGeom prst="rect">
            <a:avLst/>
          </a:prstGeom>
          <a:solidFill>
            <a:srgbClr val="0D6EAF"/>
          </a:solidFill>
          <a:ln w="12700">
            <a:solidFill>
              <a:srgbClr val="0D6EAF"/>
            </a:solidFill>
            <a:prstDash val="solid"/>
          </a:ln>
        </p:spPr>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6F8FA"/>
        </a:solidFill>
      </p:bgPr>
    </p:bg>
    <p:spTree>
      <p:nvGrpSpPr>
        <p:cNvPr id="1" name=""/>
        <p:cNvGrpSpPr/>
        <p:nvPr/>
      </p:nvGrpSpPr>
      <p:grpSpPr>
        <a:xfrm>
          <a:off x="0" y="0"/>
          <a:ext cx="0" cy="0"/>
          <a:chOff x="0" y="0"/>
          <a:chExt cx="0" cy="0"/>
        </a:xfrm>
      </p:grpSpPr>
      <p:sp>
        <p:nvSpPr>
          <p:cNvPr id="2" name="Shape 0"/>
          <p:cNvSpPr/>
          <p:nvPr/>
        </p:nvSpPr>
        <p:spPr>
          <a:xfrm>
            <a:off x="0" y="0"/>
            <a:ext cx="118872" cy="5143500"/>
          </a:xfrm>
          <a:prstGeom prst="rect">
            <a:avLst/>
          </a:prstGeom>
          <a:solidFill>
            <a:srgbClr val="0D6EAF"/>
          </a:solidFill>
          <a:ln w="12700">
            <a:solidFill>
              <a:srgbClr val="0D6EAF"/>
            </a:solidFill>
            <a:prstDash val="solid"/>
          </a:ln>
        </p:spPr>
      </p:sp>
      <p:sp>
        <p:nvSpPr>
          <p:cNvPr id="3" name="Text 1"/>
          <p:cNvSpPr/>
          <p:nvPr/>
        </p:nvSpPr>
        <p:spPr>
          <a:xfrm>
            <a:off x="256032" y="201168"/>
            <a:ext cx="8686800" cy="566928"/>
          </a:xfrm>
          <a:prstGeom prst="rect">
            <a:avLst/>
          </a:prstGeom>
          <a:noFill/>
          <a:ln/>
        </p:spPr>
        <p:txBody>
          <a:bodyPr wrap="square" lIns="0" tIns="0" rIns="0" bIns="0" rtlCol="0" anchor="ctr">
            <a:normAutofit/>
          </a:bodyPr>
          <a:lstStyle/>
          <a:p>
            <a:pPr indent="0" marL="0">
              <a:buNone/>
            </a:pPr>
            <a:r>
              <a:rPr lang="en-US" sz="2600" b="1" dirty="0">
                <a:solidFill>
                  <a:srgbClr val="1B2A4A"/>
                </a:solidFill>
                <a:latin typeface="Calibri" pitchFamily="34" charset="0"/>
                <a:ea typeface="Calibri" pitchFamily="34" charset="-122"/>
                <a:cs typeface="Calibri" pitchFamily="34" charset="-120"/>
              </a:rPr>
              <a:t>Linear Controller Performance</a:t>
            </a:r>
            <a:endParaRPr lang="en-US" sz="2600" dirty="0"/>
          </a:p>
        </p:txBody>
      </p:sp>
      <p:sp>
        <p:nvSpPr>
          <p:cNvPr id="4" name="Text 2"/>
          <p:cNvSpPr/>
          <p:nvPr/>
        </p:nvSpPr>
        <p:spPr>
          <a:xfrm>
            <a:off x="256032" y="768096"/>
            <a:ext cx="8686800" cy="274320"/>
          </a:xfrm>
          <a:prstGeom prst="rect">
            <a:avLst/>
          </a:prstGeom>
          <a:noFill/>
          <a:ln/>
        </p:spPr>
        <p:txBody>
          <a:bodyPr wrap="square" lIns="0" tIns="0" rIns="0" bIns="0" rtlCol="0" anchor="ctr">
            <a:normAutofit/>
          </a:bodyPr>
          <a:lstStyle/>
          <a:p>
            <a:pPr indent="0" marL="0">
              <a:buNone/>
            </a:pPr>
            <a:r>
              <a:rPr lang="en-US" sz="1200" i="1" dirty="0">
                <a:solidFill>
                  <a:srgbClr val="64748B"/>
                </a:solidFill>
                <a:latin typeface="Calibri" pitchFamily="34" charset="0"/>
                <a:ea typeface="Calibri" pitchFamily="34" charset="-122"/>
                <a:cs typeface="Calibri" pitchFamily="34" charset="-120"/>
              </a:rPr>
              <a:t>The linear controller is the cleanest performer on this rig: calm in hold mode and capable of commanded base motion without a fall.</a:t>
            </a:r>
            <a:endParaRPr lang="en-US" sz="1200" dirty="0"/>
          </a:p>
        </p:txBody>
      </p:sp>
      <p:sp>
        <p:nvSpPr>
          <p:cNvPr id="5" name="Shape 3"/>
          <p:cNvSpPr/>
          <p:nvPr/>
        </p:nvSpPr>
        <p:spPr>
          <a:xfrm>
            <a:off x="256032" y="822960"/>
            <a:ext cx="8631936" cy="0"/>
          </a:xfrm>
          <a:prstGeom prst="line">
            <a:avLst/>
          </a:prstGeom>
          <a:noFill/>
          <a:ln w="9525">
            <a:solidFill>
              <a:srgbClr val="DDE3EC"/>
            </a:solidFill>
            <a:prstDash val="solid"/>
          </a:ln>
        </p:spPr>
      </p:sp>
      <p:sp>
        <p:nvSpPr>
          <p:cNvPr id="6" name="Shape 4"/>
          <p:cNvSpPr/>
          <p:nvPr/>
        </p:nvSpPr>
        <p:spPr>
          <a:xfrm>
            <a:off x="502920" y="1078992"/>
            <a:ext cx="3977640" cy="1828800"/>
          </a:xfrm>
          <a:prstGeom prst="rect">
            <a:avLst/>
          </a:prstGeom>
          <a:solidFill>
            <a:srgbClr val="FFFFFF"/>
          </a:solidFill>
          <a:ln w="6350">
            <a:solidFill>
              <a:srgbClr val="DDE3EC"/>
            </a:solidFill>
            <a:prstDash val="solid"/>
          </a:ln>
        </p:spPr>
      </p:sp>
      <p:sp>
        <p:nvSpPr>
          <p:cNvPr id="7" name="Text 5"/>
          <p:cNvSpPr/>
          <p:nvPr/>
        </p:nvSpPr>
        <p:spPr>
          <a:xfrm>
            <a:off x="576072" y="1133856"/>
            <a:ext cx="914400" cy="146304"/>
          </a:xfrm>
          <a:prstGeom prst="rect">
            <a:avLst/>
          </a:prstGeom>
          <a:noFill/>
          <a:ln/>
        </p:spPr>
        <p:txBody>
          <a:bodyPr wrap="square" lIns="0" tIns="0" rIns="0" bIns="0" rtlCol="0" anchor="ctr"/>
          <a:lstStyle/>
          <a:p>
            <a:pPr indent="0" marL="0">
              <a:buNone/>
            </a:pPr>
            <a:r>
              <a:rPr lang="en-US" sz="800" i="1" dirty="0">
                <a:solidFill>
                  <a:srgbClr val="64748B"/>
                </a:solidFill>
                <a:latin typeface="Calibri" pitchFamily="34" charset="0"/>
                <a:ea typeface="Calibri" pitchFamily="34" charset="-122"/>
                <a:cs typeface="Calibri" pitchFamily="34" charset="-120"/>
              </a:rPr>
              <a:t>Figure</a:t>
            </a:r>
            <a:endParaRPr lang="en-US" sz="800" dirty="0"/>
          </a:p>
        </p:txBody>
      </p:sp>
      <p:sp>
        <p:nvSpPr>
          <p:cNvPr id="8" name="Shape 6"/>
          <p:cNvSpPr/>
          <p:nvPr/>
        </p:nvSpPr>
        <p:spPr>
          <a:xfrm>
            <a:off x="4617720" y="1078992"/>
            <a:ext cx="3977640" cy="1828800"/>
          </a:xfrm>
          <a:prstGeom prst="rect">
            <a:avLst/>
          </a:prstGeom>
          <a:solidFill>
            <a:srgbClr val="FFFFFF"/>
          </a:solidFill>
          <a:ln w="6350">
            <a:solidFill>
              <a:srgbClr val="DDE3EC"/>
            </a:solidFill>
            <a:prstDash val="solid"/>
          </a:ln>
        </p:spPr>
      </p:sp>
      <p:sp>
        <p:nvSpPr>
          <p:cNvPr id="9" name="Text 7"/>
          <p:cNvSpPr/>
          <p:nvPr/>
        </p:nvSpPr>
        <p:spPr>
          <a:xfrm>
            <a:off x="4690872" y="1133856"/>
            <a:ext cx="914400" cy="146304"/>
          </a:xfrm>
          <a:prstGeom prst="rect">
            <a:avLst/>
          </a:prstGeom>
          <a:noFill/>
          <a:ln/>
        </p:spPr>
        <p:txBody>
          <a:bodyPr wrap="square" lIns="0" tIns="0" rIns="0" bIns="0" rtlCol="0" anchor="ctr"/>
          <a:lstStyle/>
          <a:p>
            <a:pPr indent="0" marL="0">
              <a:buNone/>
            </a:pPr>
            <a:r>
              <a:rPr lang="en-US" sz="800" i="1" dirty="0">
                <a:solidFill>
                  <a:srgbClr val="64748B"/>
                </a:solidFill>
                <a:latin typeface="Calibri" pitchFamily="34" charset="0"/>
                <a:ea typeface="Calibri" pitchFamily="34" charset="-122"/>
                <a:cs typeface="Calibri" pitchFamily="34" charset="-120"/>
              </a:rPr>
              <a:t>Figure</a:t>
            </a:r>
            <a:endParaRPr lang="en-US" sz="800" dirty="0"/>
          </a:p>
        </p:txBody>
      </p:sp>
      <p:sp>
        <p:nvSpPr>
          <p:cNvPr id="10" name="Text 8"/>
          <p:cNvSpPr/>
          <p:nvPr/>
        </p:nvSpPr>
        <p:spPr>
          <a:xfrm>
            <a:off x="1097280" y="2926080"/>
            <a:ext cx="2834640" cy="201168"/>
          </a:xfrm>
          <a:prstGeom prst="rect">
            <a:avLst/>
          </a:prstGeom>
          <a:noFill/>
          <a:ln/>
        </p:spPr>
        <p:txBody>
          <a:bodyPr wrap="square" lIns="0" tIns="0" rIns="0" bIns="0" rtlCol="0" anchor="t">
            <a:normAutofit/>
          </a:bodyPr>
          <a:lstStyle/>
          <a:p>
            <a:pPr algn="ctr" indent="0" marL="0">
              <a:buNone/>
            </a:pPr>
            <a:r>
              <a:rPr lang="en-US" sz="900" i="1" dirty="0">
                <a:solidFill>
                  <a:srgbClr val="64748B"/>
                </a:solidFill>
                <a:latin typeface="Calibri" pitchFamily="34" charset="0"/>
                <a:ea typeface="Calibri" pitchFamily="34" charset="-122"/>
                <a:cs typeface="Calibri" pitchFamily="34" charset="-120"/>
              </a:rPr>
              <a:t>Hold run H1</a:t>
            </a:r>
            <a:endParaRPr lang="en-US" sz="900" dirty="0"/>
          </a:p>
        </p:txBody>
      </p:sp>
      <p:sp>
        <p:nvSpPr>
          <p:cNvPr id="11" name="Text 9"/>
          <p:cNvSpPr/>
          <p:nvPr/>
        </p:nvSpPr>
        <p:spPr>
          <a:xfrm>
            <a:off x="5257800" y="2926080"/>
            <a:ext cx="2743200" cy="201168"/>
          </a:xfrm>
          <a:prstGeom prst="rect">
            <a:avLst/>
          </a:prstGeom>
          <a:noFill/>
          <a:ln/>
        </p:spPr>
        <p:txBody>
          <a:bodyPr wrap="square" lIns="0" tIns="0" rIns="0" bIns="0" rtlCol="0" anchor="t">
            <a:normAutofit/>
          </a:bodyPr>
          <a:lstStyle/>
          <a:p>
            <a:pPr algn="ctr" indent="0" marL="0">
              <a:buNone/>
            </a:pPr>
            <a:r>
              <a:rPr lang="en-US" sz="900" i="1" dirty="0">
                <a:solidFill>
                  <a:srgbClr val="64748B"/>
                </a:solidFill>
                <a:latin typeface="Calibri" pitchFamily="34" charset="0"/>
                <a:ea typeface="Calibri" pitchFamily="34" charset="-122"/>
                <a:cs typeface="Calibri" pitchFamily="34" charset="-120"/>
              </a:rPr>
              <a:t>Nudge run N1</a:t>
            </a:r>
            <a:endParaRPr lang="en-US" sz="900" dirty="0"/>
          </a:p>
        </p:txBody>
      </p:sp>
      <p:sp>
        <p:nvSpPr>
          <p:cNvPr id="12" name="Shape 10"/>
          <p:cNvSpPr/>
          <p:nvPr/>
        </p:nvSpPr>
        <p:spPr>
          <a:xfrm>
            <a:off x="502920" y="3246120"/>
            <a:ext cx="8092440" cy="914400"/>
          </a:xfrm>
          <a:prstGeom prst="rect">
            <a:avLst/>
          </a:prstGeom>
          <a:solidFill>
            <a:srgbClr val="ECFDF5"/>
          </a:solidFill>
          <a:ln w="6350">
            <a:solidFill>
              <a:srgbClr val="DDE3EC"/>
            </a:solidFill>
            <a:prstDash val="solid"/>
          </a:ln>
        </p:spPr>
      </p:sp>
      <p:sp>
        <p:nvSpPr>
          <p:cNvPr id="13" name="Shape 11"/>
          <p:cNvSpPr/>
          <p:nvPr/>
        </p:nvSpPr>
        <p:spPr>
          <a:xfrm>
            <a:off x="502920" y="3246120"/>
            <a:ext cx="8092440" cy="64008"/>
          </a:xfrm>
          <a:prstGeom prst="rect">
            <a:avLst/>
          </a:prstGeom>
          <a:solidFill>
            <a:srgbClr val="047857"/>
          </a:solidFill>
          <a:ln w="12700">
            <a:solidFill>
              <a:srgbClr val="047857"/>
            </a:solidFill>
            <a:prstDash val="solid"/>
          </a:ln>
        </p:spPr>
      </p:sp>
      <p:sp>
        <p:nvSpPr>
          <p:cNvPr id="14" name="Text 12"/>
          <p:cNvSpPr/>
          <p:nvPr/>
        </p:nvSpPr>
        <p:spPr>
          <a:xfrm>
            <a:off x="612648" y="3355848"/>
            <a:ext cx="787298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Readout</a:t>
            </a:r>
            <a:endParaRPr lang="en-US" sz="1150" dirty="0"/>
          </a:p>
        </p:txBody>
      </p:sp>
      <p:sp>
        <p:nvSpPr>
          <p:cNvPr id="15" name="Text 13"/>
          <p:cNvSpPr/>
          <p:nvPr/>
        </p:nvSpPr>
        <p:spPr>
          <a:xfrm>
            <a:off x="612648" y="3630168"/>
            <a:ext cx="7872984" cy="420624"/>
          </a:xfrm>
          <a:prstGeom prst="rect">
            <a:avLst/>
          </a:prstGeom>
          <a:noFill/>
          <a:ln/>
        </p:spPr>
        <p:txBody>
          <a:bodyPr wrap="square" lIns="0" tIns="0" rIns="0" bIns="0" rtlCol="0" anchor="ctr">
            <a:normAutofit/>
          </a:bodyPr>
          <a:lstStyle/>
          <a:p>
            <a:pPr indent="0" marL="0">
              <a:buNone/>
            </a:pPr>
            <a:r>
              <a:rPr lang="en-US" sz="1000" dirty="0">
                <a:solidFill>
                  <a:srgbClr val="3D5472"/>
                </a:solidFill>
                <a:latin typeface="Calibri" pitchFamily="34" charset="0"/>
                <a:ea typeface="Calibri" pitchFamily="34" charset="-122"/>
                <a:cs typeface="Calibri" pitchFamily="34" charset="-120"/>
              </a:rPr>
              <a:t>In the pinned dataset the linear controller gives the lowest hold-mode α RMS (0.513°), survives the tap run T1, and demonstrates commanded base-position moves while keeping the pendulum upright during N1.</a:t>
            </a:r>
            <a:endParaRPr lang="en-US" sz="1000" dirty="0"/>
          </a:p>
        </p:txBody>
      </p:sp>
      <p:sp>
        <p:nvSpPr>
          <p:cNvPr id="16" name="Text 14"/>
          <p:cNvSpPr/>
          <p:nvPr/>
        </p:nvSpPr>
        <p:spPr>
          <a:xfrm>
            <a:off x="8412480" y="4892040"/>
            <a:ext cx="640080" cy="201168"/>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26 / 38</a:t>
            </a:r>
            <a:endParaRPr lang="en-US" sz="900" dirty="0"/>
          </a:p>
        </p:txBody>
      </p:sp>
      <p:sp>
        <p:nvSpPr>
          <p:cNvPr id="17" name="Shape 15"/>
          <p:cNvSpPr/>
          <p:nvPr/>
        </p:nvSpPr>
        <p:spPr>
          <a:xfrm>
            <a:off x="256032" y="4882896"/>
            <a:ext cx="8631936" cy="36576"/>
          </a:xfrm>
          <a:prstGeom prst="rect">
            <a:avLst/>
          </a:prstGeom>
          <a:solidFill>
            <a:srgbClr val="0D6EAF">
              <a:alpha val="15000"/>
            </a:srgbClr>
          </a:solidFill>
          <a:ln w="12700">
            <a:solidFill>
              <a:srgbClr val="0D6EAF"/>
            </a:solidFill>
            <a:prstDash val="solid"/>
          </a:ln>
        </p:spPr>
      </p:sp>
      <p:sp>
        <p:nvSpPr>
          <p:cNvPr id="18" name="Shape 16"/>
          <p:cNvSpPr/>
          <p:nvPr/>
        </p:nvSpPr>
        <p:spPr>
          <a:xfrm>
            <a:off x="256032" y="4882896"/>
            <a:ext cx="5906061" cy="36576"/>
          </a:xfrm>
          <a:prstGeom prst="rect">
            <a:avLst/>
          </a:prstGeom>
          <a:solidFill>
            <a:srgbClr val="0D6EAF"/>
          </a:solidFill>
          <a:ln w="12700">
            <a:solidFill>
              <a:srgbClr val="0D6EAF"/>
            </a:solidFill>
            <a:prstDash val="solid"/>
          </a:ln>
        </p:spPr>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BEB"/>
        </a:solidFill>
      </p:bgPr>
    </p:bg>
    <p:spTree>
      <p:nvGrpSpPr>
        <p:cNvPr id="1" name=""/>
        <p:cNvGrpSpPr/>
        <p:nvPr/>
      </p:nvGrpSpPr>
      <p:grpSpPr>
        <a:xfrm>
          <a:off x="0" y="0"/>
          <a:ext cx="0" cy="0"/>
          <a:chOff x="0" y="0"/>
          <a:chExt cx="0" cy="0"/>
        </a:xfrm>
      </p:grpSpPr>
      <p:sp>
        <p:nvSpPr>
          <p:cNvPr id="2" name="Shape 0"/>
          <p:cNvSpPr/>
          <p:nvPr/>
        </p:nvSpPr>
        <p:spPr>
          <a:xfrm>
            <a:off x="0" y="0"/>
            <a:ext cx="118872" cy="5143500"/>
          </a:xfrm>
          <a:prstGeom prst="rect">
            <a:avLst/>
          </a:prstGeom>
          <a:solidFill>
            <a:srgbClr val="D97706"/>
          </a:solidFill>
          <a:ln w="12700">
            <a:solidFill>
              <a:srgbClr val="D97706"/>
            </a:solidFill>
            <a:prstDash val="solid"/>
          </a:ln>
        </p:spPr>
      </p:sp>
      <p:sp>
        <p:nvSpPr>
          <p:cNvPr id="3" name="Shape 1"/>
          <p:cNvSpPr/>
          <p:nvPr/>
        </p:nvSpPr>
        <p:spPr>
          <a:xfrm>
            <a:off x="6263640" y="182880"/>
            <a:ext cx="2651760" cy="320040"/>
          </a:xfrm>
          <a:prstGeom prst="rect">
            <a:avLst/>
          </a:prstGeom>
          <a:solidFill>
            <a:srgbClr val="D97706"/>
          </a:solidFill>
          <a:ln w="12700">
            <a:solidFill>
              <a:srgbClr val="D97706"/>
            </a:solidFill>
            <a:prstDash val="solid"/>
          </a:ln>
        </p:spPr>
      </p:sp>
      <p:sp>
        <p:nvSpPr>
          <p:cNvPr id="4" name="Text 2"/>
          <p:cNvSpPr/>
          <p:nvPr/>
        </p:nvSpPr>
        <p:spPr>
          <a:xfrm>
            <a:off x="6263640" y="182880"/>
            <a:ext cx="2651760"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KEY CONTRIBUTION</a:t>
            </a:r>
            <a:endParaRPr lang="en-US" sz="900" dirty="0"/>
          </a:p>
        </p:txBody>
      </p:sp>
      <p:sp>
        <p:nvSpPr>
          <p:cNvPr id="5" name="Text 3"/>
          <p:cNvSpPr/>
          <p:nvPr/>
        </p:nvSpPr>
        <p:spPr>
          <a:xfrm>
            <a:off x="256032" y="201168"/>
            <a:ext cx="5925312" cy="566928"/>
          </a:xfrm>
          <a:prstGeom prst="rect">
            <a:avLst/>
          </a:prstGeom>
          <a:noFill/>
          <a:ln/>
        </p:spPr>
        <p:txBody>
          <a:bodyPr wrap="square" lIns="0" tIns="0" rIns="0" bIns="0" rtlCol="0" anchor="ctr">
            <a:normAutofit/>
          </a:bodyPr>
          <a:lstStyle/>
          <a:p>
            <a:pPr indent="0" marL="0">
              <a:buNone/>
            </a:pPr>
            <a:r>
              <a:rPr lang="en-US" sz="2200" b="1" dirty="0">
                <a:solidFill>
                  <a:srgbClr val="1B2A4A"/>
                </a:solidFill>
                <a:latin typeface="Calibri" pitchFamily="34" charset="0"/>
                <a:ea typeface="Calibri" pitchFamily="34" charset="-122"/>
                <a:cs typeface="Calibri" pitchFamily="34" charset="-120"/>
              </a:rPr>
              <a:t>Hybrid SMC: Motivation and Sliding Surface</a:t>
            </a:r>
            <a:endParaRPr lang="en-US" sz="2200" dirty="0"/>
          </a:p>
        </p:txBody>
      </p:sp>
      <p:sp>
        <p:nvSpPr>
          <p:cNvPr id="6" name="Text 4"/>
          <p:cNvSpPr/>
          <p:nvPr/>
        </p:nvSpPr>
        <p:spPr>
          <a:xfrm>
            <a:off x="256032" y="768096"/>
            <a:ext cx="8686800" cy="274320"/>
          </a:xfrm>
          <a:prstGeom prst="rect">
            <a:avLst/>
          </a:prstGeom>
          <a:noFill/>
          <a:ln/>
        </p:spPr>
        <p:txBody>
          <a:bodyPr wrap="square" lIns="0" tIns="0" rIns="0" bIns="0" rtlCol="0" anchor="ctr">
            <a:normAutofit/>
          </a:bodyPr>
          <a:lstStyle/>
          <a:p>
            <a:pPr indent="0" marL="0">
              <a:buNone/>
            </a:pPr>
            <a:r>
              <a:rPr lang="en-US" sz="1200" i="1" dirty="0">
                <a:solidFill>
                  <a:srgbClr val="64748B"/>
                </a:solidFill>
                <a:latin typeface="Calibri" pitchFamily="34" charset="0"/>
                <a:ea typeface="Calibri" pitchFamily="34" charset="-122"/>
                <a:cs typeface="Calibri" pitchFamily="34" charset="-120"/>
              </a:rPr>
              <a:t>The first nonlinear design keeps the sliding surface pendulum-centric and treats base centering as a second objective.</a:t>
            </a:r>
            <a:endParaRPr lang="en-US" sz="1200" dirty="0"/>
          </a:p>
        </p:txBody>
      </p:sp>
      <p:sp>
        <p:nvSpPr>
          <p:cNvPr id="7" name="Shape 5"/>
          <p:cNvSpPr/>
          <p:nvPr/>
        </p:nvSpPr>
        <p:spPr>
          <a:xfrm>
            <a:off x="256032" y="822960"/>
            <a:ext cx="8631936" cy="0"/>
          </a:xfrm>
          <a:prstGeom prst="line">
            <a:avLst/>
          </a:prstGeom>
          <a:noFill/>
          <a:ln w="9525">
            <a:solidFill>
              <a:srgbClr val="D97706"/>
            </a:solidFill>
            <a:prstDash val="solid"/>
          </a:ln>
        </p:spPr>
      </p:sp>
      <p:sp>
        <p:nvSpPr>
          <p:cNvPr id="8" name="Shape 6"/>
          <p:cNvSpPr/>
          <p:nvPr/>
        </p:nvSpPr>
        <p:spPr>
          <a:xfrm>
            <a:off x="777240" y="1170432"/>
            <a:ext cx="2926080" cy="502920"/>
          </a:xfrm>
          <a:prstGeom prst="rect">
            <a:avLst/>
          </a:prstGeom>
          <a:solidFill>
            <a:srgbClr val="FFFFFF"/>
          </a:solidFill>
          <a:ln w="6350">
            <a:solidFill>
              <a:srgbClr val="DDE3EC"/>
            </a:solidFill>
            <a:prstDash val="solid"/>
          </a:ln>
        </p:spPr>
      </p:sp>
      <p:sp>
        <p:nvSpPr>
          <p:cNvPr id="9" name="Text 7"/>
          <p:cNvSpPr/>
          <p:nvPr/>
        </p:nvSpPr>
        <p:spPr>
          <a:xfrm>
            <a:off x="850392" y="1225296"/>
            <a:ext cx="914400" cy="146304"/>
          </a:xfrm>
          <a:prstGeom prst="rect">
            <a:avLst/>
          </a:prstGeom>
          <a:noFill/>
          <a:ln/>
        </p:spPr>
        <p:txBody>
          <a:bodyPr wrap="square" lIns="0" tIns="0" rIns="0" bIns="0" rtlCol="0" anchor="ctr"/>
          <a:lstStyle/>
          <a:p>
            <a:pPr indent="0" marL="0">
              <a:buNone/>
            </a:pPr>
            <a:r>
              <a:rPr lang="en-US" sz="800" i="1" dirty="0">
                <a:solidFill>
                  <a:srgbClr val="64748B"/>
                </a:solidFill>
                <a:latin typeface="Calibri" pitchFamily="34" charset="0"/>
                <a:ea typeface="Calibri" pitchFamily="34" charset="-122"/>
                <a:cs typeface="Calibri" pitchFamily="34" charset="-120"/>
              </a:rPr>
              <a:t>Equation</a:t>
            </a:r>
            <a:endParaRPr lang="en-US" sz="800" dirty="0"/>
          </a:p>
        </p:txBody>
      </p:sp>
      <p:sp>
        <p:nvSpPr>
          <p:cNvPr id="10" name="Shape 8"/>
          <p:cNvSpPr/>
          <p:nvPr/>
        </p:nvSpPr>
        <p:spPr>
          <a:xfrm>
            <a:off x="3977640" y="1078992"/>
            <a:ext cx="4572000" cy="1097280"/>
          </a:xfrm>
          <a:prstGeom prst="rect">
            <a:avLst/>
          </a:prstGeom>
          <a:solidFill>
            <a:srgbClr val="FFFFFF"/>
          </a:solidFill>
          <a:ln w="6350">
            <a:solidFill>
              <a:srgbClr val="DDE3EC"/>
            </a:solidFill>
            <a:prstDash val="solid"/>
          </a:ln>
        </p:spPr>
      </p:sp>
      <p:sp>
        <p:nvSpPr>
          <p:cNvPr id="11" name="Shape 9"/>
          <p:cNvSpPr/>
          <p:nvPr/>
        </p:nvSpPr>
        <p:spPr>
          <a:xfrm>
            <a:off x="3977640" y="1078992"/>
            <a:ext cx="4572000" cy="64008"/>
          </a:xfrm>
          <a:prstGeom prst="rect">
            <a:avLst/>
          </a:prstGeom>
          <a:solidFill>
            <a:srgbClr val="0D6EAF"/>
          </a:solidFill>
          <a:ln w="12700">
            <a:solidFill>
              <a:srgbClr val="0D6EAF"/>
            </a:solidFill>
            <a:prstDash val="solid"/>
          </a:ln>
        </p:spPr>
      </p:sp>
      <p:sp>
        <p:nvSpPr>
          <p:cNvPr id="12" name="Text 10"/>
          <p:cNvSpPr/>
          <p:nvPr/>
        </p:nvSpPr>
        <p:spPr>
          <a:xfrm>
            <a:off x="4087368" y="1188720"/>
            <a:ext cx="435254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Interpretation</a:t>
            </a:r>
            <a:endParaRPr lang="en-US" sz="1150" dirty="0"/>
          </a:p>
        </p:txBody>
      </p:sp>
      <p:sp>
        <p:nvSpPr>
          <p:cNvPr id="13" name="Text 11"/>
          <p:cNvSpPr/>
          <p:nvPr/>
        </p:nvSpPr>
        <p:spPr>
          <a:xfrm>
            <a:off x="4087368" y="1463040"/>
            <a:ext cx="4352544" cy="603504"/>
          </a:xfrm>
          <a:prstGeom prst="rect">
            <a:avLst/>
          </a:prstGeom>
          <a:noFill/>
          <a:ln/>
        </p:spPr>
        <p:txBody>
          <a:bodyPr wrap="square" lIns="0" tIns="0" rIns="0" bIns="0" rtlCol="0" anchor="ctr">
            <a:normAutofit/>
          </a:bodyPr>
          <a:lstStyle/>
          <a:p>
            <a:pPr indent="0" marL="0">
              <a:buNone/>
            </a:pPr>
            <a:r>
              <a:rPr lang="en-US" sz="1000" dirty="0">
                <a:solidFill>
                  <a:srgbClr val="3D5472"/>
                </a:solidFill>
                <a:latin typeface="Calibri" pitchFamily="34" charset="0"/>
                <a:ea typeface="Calibri" pitchFamily="34" charset="-122"/>
                <a:cs typeface="Calibri" pitchFamily="34" charset="-120"/>
              </a:rPr>
              <a:t>On the surface $s=0$, the pendulum follows $\dot{\alpha}=-\lambda\alpha$, so $\alpha(t)=\alpha_0 e^{-\lambda t}$ and $\lambda$ directly sets the desired decay rate.</a:t>
            </a:r>
            <a:endParaRPr lang="en-US" sz="1000" dirty="0"/>
          </a:p>
        </p:txBody>
      </p:sp>
      <p:sp>
        <p:nvSpPr>
          <p:cNvPr id="14" name="Shape 12"/>
          <p:cNvSpPr/>
          <p:nvPr/>
        </p:nvSpPr>
        <p:spPr>
          <a:xfrm>
            <a:off x="502920" y="2514600"/>
            <a:ext cx="3749040" cy="1554480"/>
          </a:xfrm>
          <a:prstGeom prst="rect">
            <a:avLst/>
          </a:prstGeom>
          <a:solidFill>
            <a:srgbClr val="FFFFFF"/>
          </a:solidFill>
          <a:ln w="6350">
            <a:solidFill>
              <a:srgbClr val="DDE3EC"/>
            </a:solidFill>
            <a:prstDash val="solid"/>
          </a:ln>
        </p:spPr>
      </p:sp>
      <p:sp>
        <p:nvSpPr>
          <p:cNvPr id="15" name="Shape 13"/>
          <p:cNvSpPr/>
          <p:nvPr/>
        </p:nvSpPr>
        <p:spPr>
          <a:xfrm>
            <a:off x="502920" y="2514600"/>
            <a:ext cx="3749040" cy="64008"/>
          </a:xfrm>
          <a:prstGeom prst="rect">
            <a:avLst/>
          </a:prstGeom>
          <a:solidFill>
            <a:srgbClr val="0D6EAF"/>
          </a:solidFill>
          <a:ln w="12700">
            <a:solidFill>
              <a:srgbClr val="0D6EAF"/>
            </a:solidFill>
            <a:prstDash val="solid"/>
          </a:ln>
        </p:spPr>
      </p:sp>
      <p:sp>
        <p:nvSpPr>
          <p:cNvPr id="16" name="Text 14"/>
          <p:cNvSpPr/>
          <p:nvPr/>
        </p:nvSpPr>
        <p:spPr>
          <a:xfrm>
            <a:off x="612648" y="2624328"/>
            <a:ext cx="352958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Why move to nonlinear control</a:t>
            </a:r>
            <a:endParaRPr lang="en-US" sz="1150" dirty="0"/>
          </a:p>
        </p:txBody>
      </p:sp>
      <p:sp>
        <p:nvSpPr>
          <p:cNvPr id="17" name="Text 15"/>
          <p:cNvSpPr/>
          <p:nvPr/>
        </p:nvSpPr>
        <p:spPr>
          <a:xfrm>
            <a:off x="612648" y="2898648"/>
            <a:ext cx="3529584" cy="1060704"/>
          </a:xfrm>
          <a:prstGeom prst="rect">
            <a:avLst/>
          </a:prstGeom>
          <a:noFill/>
          <a:ln/>
        </p:spPr>
        <p:txBody>
          <a:bodyPr wrap="square" lIns="0" tIns="0" rIns="0" bIns="0" rtlCol="0" anchor="ctr">
            <a:normAutofit/>
          </a:bodyPr>
          <a:lstStyle/>
          <a:p>
            <a:pPr indent="0" marL="0">
              <a:buNone/>
            </a:pPr>
            <a:r>
              <a:rPr lang="en-US" sz="980" dirty="0">
                <a:solidFill>
                  <a:srgbClr val="3D5472"/>
                </a:solidFill>
                <a:latin typeface="Calibri" pitchFamily="34" charset="0"/>
                <a:ea typeface="Calibri" pitchFamily="34" charset="-122"/>
                <a:cs typeface="Calibri" pitchFamily="34" charset="-120"/>
              </a:rPr>
              <a:t>• The linear controller ignores the exact $A\sin\alpha$ gravity term and the centrifugal coupling.</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The SMC law uses the reduced nonlinear upright model directly.</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This is especially attractive for moderate excursions where the small-angle approximation is visibly coarse.</a:t>
            </a:r>
            <a:endParaRPr lang="en-US" sz="980" dirty="0"/>
          </a:p>
        </p:txBody>
      </p:sp>
      <p:sp>
        <p:nvSpPr>
          <p:cNvPr id="18" name="Shape 16"/>
          <p:cNvSpPr/>
          <p:nvPr/>
        </p:nvSpPr>
        <p:spPr>
          <a:xfrm>
            <a:off x="4526280" y="2514600"/>
            <a:ext cx="4069080" cy="1554480"/>
          </a:xfrm>
          <a:prstGeom prst="rect">
            <a:avLst/>
          </a:prstGeom>
          <a:solidFill>
            <a:srgbClr val="FFFBEB"/>
          </a:solidFill>
          <a:ln w="6350">
            <a:solidFill>
              <a:srgbClr val="DDE3EC"/>
            </a:solidFill>
            <a:prstDash val="solid"/>
          </a:ln>
        </p:spPr>
      </p:sp>
      <p:sp>
        <p:nvSpPr>
          <p:cNvPr id="19" name="Shape 17"/>
          <p:cNvSpPr/>
          <p:nvPr/>
        </p:nvSpPr>
        <p:spPr>
          <a:xfrm>
            <a:off x="4526280" y="2514600"/>
            <a:ext cx="4069080" cy="64008"/>
          </a:xfrm>
          <a:prstGeom prst="rect">
            <a:avLst/>
          </a:prstGeom>
          <a:solidFill>
            <a:srgbClr val="D97706"/>
          </a:solidFill>
          <a:ln w="12700">
            <a:solidFill>
              <a:srgbClr val="D97706"/>
            </a:solidFill>
            <a:prstDash val="solid"/>
          </a:ln>
        </p:spPr>
      </p:sp>
      <p:sp>
        <p:nvSpPr>
          <p:cNvPr id="20" name="Text 18"/>
          <p:cNvSpPr/>
          <p:nvPr/>
        </p:nvSpPr>
        <p:spPr>
          <a:xfrm>
            <a:off x="4636008" y="2624328"/>
            <a:ext cx="384962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Hybrid idea</a:t>
            </a:r>
            <a:endParaRPr lang="en-US" sz="1150" dirty="0"/>
          </a:p>
        </p:txBody>
      </p:sp>
      <p:sp>
        <p:nvSpPr>
          <p:cNvPr id="21" name="Text 19"/>
          <p:cNvSpPr/>
          <p:nvPr/>
        </p:nvSpPr>
        <p:spPr>
          <a:xfrm>
            <a:off x="4636008" y="2898648"/>
            <a:ext cx="3849624" cy="1060704"/>
          </a:xfrm>
          <a:prstGeom prst="rect">
            <a:avLst/>
          </a:prstGeom>
          <a:noFill/>
          <a:ln/>
        </p:spPr>
        <p:txBody>
          <a:bodyPr wrap="square" lIns="0" tIns="0" rIns="0" bIns="0" rtlCol="0" anchor="ctr">
            <a:normAutofit/>
          </a:bodyPr>
          <a:lstStyle/>
          <a:p>
            <a:pPr indent="0" marL="0">
              <a:buNone/>
            </a:pPr>
            <a:r>
              <a:rPr lang="en-US" sz="980" dirty="0">
                <a:solidFill>
                  <a:srgbClr val="3D5472"/>
                </a:solidFill>
                <a:latin typeface="Calibri" pitchFamily="34" charset="0"/>
                <a:ea typeface="Calibri" pitchFamily="34" charset="-122"/>
                <a:cs typeface="Calibri" pitchFamily="34" charset="-120"/>
              </a:rPr>
              <a:t>• The sliding surface handles pendulum stabilization only.</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A separate gated PD-like base-centering term is later blended in.</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This separation keeps tuning intuitive on the real rig.</a:t>
            </a:r>
            <a:endParaRPr lang="en-US" sz="980" dirty="0"/>
          </a:p>
        </p:txBody>
      </p:sp>
      <p:sp>
        <p:nvSpPr>
          <p:cNvPr id="22" name="Text 20"/>
          <p:cNvSpPr/>
          <p:nvPr/>
        </p:nvSpPr>
        <p:spPr>
          <a:xfrm>
            <a:off x="8412480" y="4892040"/>
            <a:ext cx="640080" cy="201168"/>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27 / 38</a:t>
            </a:r>
            <a:endParaRPr lang="en-US" sz="900" dirty="0"/>
          </a:p>
        </p:txBody>
      </p:sp>
      <p:sp>
        <p:nvSpPr>
          <p:cNvPr id="23" name="Shape 21"/>
          <p:cNvSpPr/>
          <p:nvPr/>
        </p:nvSpPr>
        <p:spPr>
          <a:xfrm>
            <a:off x="256032" y="4882896"/>
            <a:ext cx="8631936" cy="36576"/>
          </a:xfrm>
          <a:prstGeom prst="rect">
            <a:avLst/>
          </a:prstGeom>
          <a:solidFill>
            <a:srgbClr val="D97706">
              <a:alpha val="15000"/>
            </a:srgbClr>
          </a:solidFill>
          <a:ln w="12700">
            <a:solidFill>
              <a:srgbClr val="D97706"/>
            </a:solidFill>
            <a:prstDash val="solid"/>
          </a:ln>
        </p:spPr>
      </p:sp>
      <p:sp>
        <p:nvSpPr>
          <p:cNvPr id="24" name="Shape 22"/>
          <p:cNvSpPr/>
          <p:nvPr/>
        </p:nvSpPr>
        <p:spPr>
          <a:xfrm>
            <a:off x="256032" y="4882896"/>
            <a:ext cx="6133218" cy="36576"/>
          </a:xfrm>
          <a:prstGeom prst="rect">
            <a:avLst/>
          </a:prstGeom>
          <a:solidFill>
            <a:srgbClr val="D97706"/>
          </a:solidFill>
          <a:ln w="12700">
            <a:solidFill>
              <a:srgbClr val="D97706"/>
            </a:solidFill>
            <a:prstDash val="solid"/>
          </a:ln>
        </p:spPr>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6F8FA"/>
        </a:solidFill>
      </p:bgPr>
    </p:bg>
    <p:spTree>
      <p:nvGrpSpPr>
        <p:cNvPr id="1" name=""/>
        <p:cNvGrpSpPr/>
        <p:nvPr/>
      </p:nvGrpSpPr>
      <p:grpSpPr>
        <a:xfrm>
          <a:off x="0" y="0"/>
          <a:ext cx="0" cy="0"/>
          <a:chOff x="0" y="0"/>
          <a:chExt cx="0" cy="0"/>
        </a:xfrm>
      </p:grpSpPr>
      <p:sp>
        <p:nvSpPr>
          <p:cNvPr id="2" name="Shape 0"/>
          <p:cNvSpPr/>
          <p:nvPr/>
        </p:nvSpPr>
        <p:spPr>
          <a:xfrm>
            <a:off x="0" y="0"/>
            <a:ext cx="118872" cy="5143500"/>
          </a:xfrm>
          <a:prstGeom prst="rect">
            <a:avLst/>
          </a:prstGeom>
          <a:solidFill>
            <a:srgbClr val="0D6EAF"/>
          </a:solidFill>
          <a:ln w="12700">
            <a:solidFill>
              <a:srgbClr val="0D6EAF"/>
            </a:solidFill>
            <a:prstDash val="solid"/>
          </a:ln>
        </p:spPr>
      </p:sp>
      <p:sp>
        <p:nvSpPr>
          <p:cNvPr id="3" name="Text 1"/>
          <p:cNvSpPr/>
          <p:nvPr/>
        </p:nvSpPr>
        <p:spPr>
          <a:xfrm>
            <a:off x="256032" y="201168"/>
            <a:ext cx="8686800" cy="566928"/>
          </a:xfrm>
          <a:prstGeom prst="rect">
            <a:avLst/>
          </a:prstGeom>
          <a:noFill/>
          <a:ln/>
        </p:spPr>
        <p:txBody>
          <a:bodyPr wrap="square" lIns="0" tIns="0" rIns="0" bIns="0" rtlCol="0" anchor="ctr">
            <a:normAutofit/>
          </a:bodyPr>
          <a:lstStyle/>
          <a:p>
            <a:pPr indent="0" marL="0">
              <a:buNone/>
            </a:pPr>
            <a:r>
              <a:rPr lang="en-US" sz="2600" b="1" dirty="0">
                <a:solidFill>
                  <a:srgbClr val="1B2A4A"/>
                </a:solidFill>
                <a:latin typeface="Calibri" pitchFamily="34" charset="0"/>
                <a:ea typeface="Calibri" pitchFamily="34" charset="-122"/>
                <a:cs typeface="Calibri" pitchFamily="34" charset="-120"/>
              </a:rPr>
              <a:t>Hybrid SMC: Control Law Derivation</a:t>
            </a:r>
            <a:endParaRPr lang="en-US" sz="2600" dirty="0"/>
          </a:p>
        </p:txBody>
      </p:sp>
      <p:sp>
        <p:nvSpPr>
          <p:cNvPr id="4" name="Text 2"/>
          <p:cNvSpPr/>
          <p:nvPr/>
        </p:nvSpPr>
        <p:spPr>
          <a:xfrm>
            <a:off x="256032" y="768096"/>
            <a:ext cx="8686800" cy="274320"/>
          </a:xfrm>
          <a:prstGeom prst="rect">
            <a:avLst/>
          </a:prstGeom>
          <a:noFill/>
          <a:ln/>
        </p:spPr>
        <p:txBody>
          <a:bodyPr wrap="square" lIns="0" tIns="0" rIns="0" bIns="0" rtlCol="0" anchor="ctr">
            <a:normAutofit/>
          </a:bodyPr>
          <a:lstStyle/>
          <a:p>
            <a:pPr indent="0" marL="0">
              <a:buNone/>
            </a:pPr>
            <a:r>
              <a:rPr lang="en-US" sz="1200" i="1" dirty="0">
                <a:solidFill>
                  <a:srgbClr val="64748B"/>
                </a:solidFill>
                <a:latin typeface="Calibri" pitchFamily="34" charset="0"/>
                <a:ea typeface="Calibri" pitchFamily="34" charset="-122"/>
                <a:cs typeface="Calibri" pitchFamily="34" charset="-120"/>
              </a:rPr>
              <a:t>Start from the nonlinear acceleration-input plant, differentiate the sliding surface, and solve for the base acceleration that enforces the reaching law.</a:t>
            </a:r>
            <a:endParaRPr lang="en-US" sz="1200" dirty="0"/>
          </a:p>
        </p:txBody>
      </p:sp>
      <p:sp>
        <p:nvSpPr>
          <p:cNvPr id="5" name="Shape 3"/>
          <p:cNvSpPr/>
          <p:nvPr/>
        </p:nvSpPr>
        <p:spPr>
          <a:xfrm>
            <a:off x="256032" y="822960"/>
            <a:ext cx="8631936" cy="0"/>
          </a:xfrm>
          <a:prstGeom prst="line">
            <a:avLst/>
          </a:prstGeom>
          <a:noFill/>
          <a:ln w="9525">
            <a:solidFill>
              <a:srgbClr val="DDE3EC"/>
            </a:solidFill>
            <a:prstDash val="solid"/>
          </a:ln>
        </p:spPr>
      </p:sp>
      <p:sp>
        <p:nvSpPr>
          <p:cNvPr id="6" name="Shape 4"/>
          <p:cNvSpPr/>
          <p:nvPr/>
        </p:nvSpPr>
        <p:spPr>
          <a:xfrm>
            <a:off x="594360" y="1078992"/>
            <a:ext cx="4389120" cy="1097280"/>
          </a:xfrm>
          <a:prstGeom prst="rect">
            <a:avLst/>
          </a:prstGeom>
          <a:solidFill>
            <a:srgbClr val="FFFFFF"/>
          </a:solidFill>
          <a:ln w="6350">
            <a:solidFill>
              <a:srgbClr val="DDE3EC"/>
            </a:solidFill>
            <a:prstDash val="solid"/>
          </a:ln>
        </p:spPr>
      </p:sp>
      <p:sp>
        <p:nvSpPr>
          <p:cNvPr id="7" name="Text 5"/>
          <p:cNvSpPr/>
          <p:nvPr/>
        </p:nvSpPr>
        <p:spPr>
          <a:xfrm>
            <a:off x="667512" y="1133856"/>
            <a:ext cx="914400" cy="146304"/>
          </a:xfrm>
          <a:prstGeom prst="rect">
            <a:avLst/>
          </a:prstGeom>
          <a:noFill/>
          <a:ln/>
        </p:spPr>
        <p:txBody>
          <a:bodyPr wrap="square" lIns="0" tIns="0" rIns="0" bIns="0" rtlCol="0" anchor="ctr"/>
          <a:lstStyle/>
          <a:p>
            <a:pPr indent="0" marL="0">
              <a:buNone/>
            </a:pPr>
            <a:r>
              <a:rPr lang="en-US" sz="800" i="1" dirty="0">
                <a:solidFill>
                  <a:srgbClr val="64748B"/>
                </a:solidFill>
                <a:latin typeface="Calibri" pitchFamily="34" charset="0"/>
                <a:ea typeface="Calibri" pitchFamily="34" charset="-122"/>
                <a:cs typeface="Calibri" pitchFamily="34" charset="-120"/>
              </a:rPr>
              <a:t>Equation</a:t>
            </a:r>
            <a:endParaRPr lang="en-US" sz="800" dirty="0"/>
          </a:p>
        </p:txBody>
      </p:sp>
      <p:sp>
        <p:nvSpPr>
          <p:cNvPr id="8" name="Shape 6"/>
          <p:cNvSpPr/>
          <p:nvPr/>
        </p:nvSpPr>
        <p:spPr>
          <a:xfrm>
            <a:off x="5166360" y="1078992"/>
            <a:ext cx="3429000" cy="1097280"/>
          </a:xfrm>
          <a:prstGeom prst="rect">
            <a:avLst/>
          </a:prstGeom>
          <a:solidFill>
            <a:srgbClr val="FFFFFF"/>
          </a:solidFill>
          <a:ln w="6350">
            <a:solidFill>
              <a:srgbClr val="DDE3EC"/>
            </a:solidFill>
            <a:prstDash val="solid"/>
          </a:ln>
        </p:spPr>
      </p:sp>
      <p:sp>
        <p:nvSpPr>
          <p:cNvPr id="9" name="Shape 7"/>
          <p:cNvSpPr/>
          <p:nvPr/>
        </p:nvSpPr>
        <p:spPr>
          <a:xfrm>
            <a:off x="5166360" y="1078992"/>
            <a:ext cx="3429000" cy="64008"/>
          </a:xfrm>
          <a:prstGeom prst="rect">
            <a:avLst/>
          </a:prstGeom>
          <a:solidFill>
            <a:srgbClr val="0D6EAF"/>
          </a:solidFill>
          <a:ln w="12700">
            <a:solidFill>
              <a:srgbClr val="0D6EAF"/>
            </a:solidFill>
            <a:prstDash val="solid"/>
          </a:ln>
        </p:spPr>
      </p:sp>
      <p:sp>
        <p:nvSpPr>
          <p:cNvPr id="10" name="Text 8"/>
          <p:cNvSpPr/>
          <p:nvPr/>
        </p:nvSpPr>
        <p:spPr>
          <a:xfrm>
            <a:off x="5276088" y="1188720"/>
            <a:ext cx="320954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Experimental parameters</a:t>
            </a:r>
            <a:endParaRPr lang="en-US" sz="1150" dirty="0"/>
          </a:p>
        </p:txBody>
      </p:sp>
      <p:sp>
        <p:nvSpPr>
          <p:cNvPr id="11" name="Text 9"/>
          <p:cNvSpPr/>
          <p:nvPr/>
        </p:nvSpPr>
        <p:spPr>
          <a:xfrm>
            <a:off x="5276088" y="1463040"/>
            <a:ext cx="3209544" cy="603504"/>
          </a:xfrm>
          <a:prstGeom prst="rect">
            <a:avLst/>
          </a:prstGeom>
          <a:noFill/>
          <a:ln/>
        </p:spPr>
        <p:txBody>
          <a:bodyPr wrap="square" lIns="0" tIns="0" rIns="0" bIns="0" rtlCol="0" anchor="ctr">
            <a:normAutofit/>
          </a:bodyPr>
          <a:lstStyle/>
          <a:p>
            <a:pPr indent="0" marL="0">
              <a:buNone/>
            </a:pPr>
            <a:r>
              <a:rPr lang="en-US" sz="1000" dirty="0">
                <a:solidFill>
                  <a:srgbClr val="3D5472"/>
                </a:solidFill>
                <a:latin typeface="Calibri" pitchFamily="34" charset="0"/>
                <a:ea typeface="Calibri" pitchFamily="34" charset="-122"/>
                <a:cs typeface="Calibri" pitchFamily="34" charset="-120"/>
              </a:rPr>
              <a:t>$\lambda = 15,\ K = 800,\ \phi = 50,\ \gamma = 1.0$</a:t>
            </a:r>
            <a:endParaRPr lang="en-US" sz="1000" dirty="0"/>
          </a:p>
        </p:txBody>
      </p:sp>
      <p:sp>
        <p:nvSpPr>
          <p:cNvPr id="12" name="Shape 10"/>
          <p:cNvSpPr/>
          <p:nvPr/>
        </p:nvSpPr>
        <p:spPr>
          <a:xfrm>
            <a:off x="502920" y="2514600"/>
            <a:ext cx="3977640" cy="1554480"/>
          </a:xfrm>
          <a:prstGeom prst="rect">
            <a:avLst/>
          </a:prstGeom>
          <a:solidFill>
            <a:srgbClr val="FFFFFF"/>
          </a:solidFill>
          <a:ln w="6350">
            <a:solidFill>
              <a:srgbClr val="DDE3EC"/>
            </a:solidFill>
            <a:prstDash val="solid"/>
          </a:ln>
        </p:spPr>
      </p:sp>
      <p:sp>
        <p:nvSpPr>
          <p:cNvPr id="13" name="Shape 11"/>
          <p:cNvSpPr/>
          <p:nvPr/>
        </p:nvSpPr>
        <p:spPr>
          <a:xfrm>
            <a:off x="502920" y="2514600"/>
            <a:ext cx="3977640" cy="64008"/>
          </a:xfrm>
          <a:prstGeom prst="rect">
            <a:avLst/>
          </a:prstGeom>
          <a:solidFill>
            <a:srgbClr val="0D6EAF"/>
          </a:solidFill>
          <a:ln w="12700">
            <a:solidFill>
              <a:srgbClr val="0D6EAF"/>
            </a:solidFill>
            <a:prstDash val="solid"/>
          </a:ln>
        </p:spPr>
      </p:sp>
      <p:sp>
        <p:nvSpPr>
          <p:cNvPr id="14" name="Text 12"/>
          <p:cNvSpPr/>
          <p:nvPr/>
        </p:nvSpPr>
        <p:spPr>
          <a:xfrm>
            <a:off x="612648" y="2624328"/>
            <a:ext cx="375818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Numerical implementation notes</a:t>
            </a:r>
            <a:endParaRPr lang="en-US" sz="1150" dirty="0"/>
          </a:p>
        </p:txBody>
      </p:sp>
      <p:sp>
        <p:nvSpPr>
          <p:cNvPr id="15" name="Text 13"/>
          <p:cNvSpPr/>
          <p:nvPr/>
        </p:nvSpPr>
        <p:spPr>
          <a:xfrm>
            <a:off x="612648" y="2898648"/>
            <a:ext cx="3758184" cy="1060704"/>
          </a:xfrm>
          <a:prstGeom prst="rect">
            <a:avLst/>
          </a:prstGeom>
          <a:noFill/>
          <a:ln/>
        </p:spPr>
        <p:txBody>
          <a:bodyPr wrap="square" lIns="0" tIns="0" rIns="0" bIns="0" rtlCol="0" anchor="ctr">
            <a:normAutofit/>
          </a:bodyPr>
          <a:lstStyle/>
          <a:p>
            <a:pPr indent="0" marL="0">
              <a:buNone/>
            </a:pPr>
            <a:r>
              <a:rPr lang="en-US" sz="980" dirty="0">
                <a:solidFill>
                  <a:srgbClr val="3D5472"/>
                </a:solidFill>
                <a:latin typeface="Calibri" pitchFamily="34" charset="0"/>
                <a:ea typeface="Calibri" pitchFamily="34" charset="-122"/>
                <a:cs typeface="Calibri" pitchFamily="34" charset="-120"/>
              </a:rPr>
              <a:t>• Angles are measured in degrees, but the nonlinear trigonometric terms are evaluated in radians.</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A cosine floor protects the denominator: cos_safe = sign(cos α) max(|cos α|, 0.2).</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The resulting θ̈ command is converted into stepper acceleration units and saturated.</a:t>
            </a:r>
            <a:endParaRPr lang="en-US" sz="980" dirty="0"/>
          </a:p>
        </p:txBody>
      </p:sp>
      <p:sp>
        <p:nvSpPr>
          <p:cNvPr id="16" name="Shape 14"/>
          <p:cNvSpPr/>
          <p:nvPr/>
        </p:nvSpPr>
        <p:spPr>
          <a:xfrm>
            <a:off x="4663440" y="2514600"/>
            <a:ext cx="3931920" cy="1554480"/>
          </a:xfrm>
          <a:prstGeom prst="rect">
            <a:avLst/>
          </a:prstGeom>
          <a:solidFill>
            <a:srgbClr val="FFFFFF"/>
          </a:solidFill>
          <a:ln w="6350">
            <a:solidFill>
              <a:srgbClr val="DDE3EC"/>
            </a:solidFill>
            <a:prstDash val="solid"/>
          </a:ln>
        </p:spPr>
      </p:sp>
      <p:sp>
        <p:nvSpPr>
          <p:cNvPr id="17" name="Shape 15"/>
          <p:cNvSpPr/>
          <p:nvPr/>
        </p:nvSpPr>
        <p:spPr>
          <a:xfrm>
            <a:off x="4663440" y="2514600"/>
            <a:ext cx="3931920" cy="64008"/>
          </a:xfrm>
          <a:prstGeom prst="rect">
            <a:avLst/>
          </a:prstGeom>
          <a:solidFill>
            <a:srgbClr val="0A7A6E"/>
          </a:solidFill>
          <a:ln w="12700">
            <a:solidFill>
              <a:srgbClr val="0A7A6E"/>
            </a:solidFill>
            <a:prstDash val="solid"/>
          </a:ln>
        </p:spPr>
      </p:sp>
      <p:sp>
        <p:nvSpPr>
          <p:cNvPr id="18" name="Text 16"/>
          <p:cNvSpPr/>
          <p:nvPr/>
        </p:nvSpPr>
        <p:spPr>
          <a:xfrm>
            <a:off x="4773168" y="2624328"/>
            <a:ext cx="371246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Why the law is attractive</a:t>
            </a:r>
            <a:endParaRPr lang="en-US" sz="1150" dirty="0"/>
          </a:p>
        </p:txBody>
      </p:sp>
      <p:sp>
        <p:nvSpPr>
          <p:cNvPr id="19" name="Text 17"/>
          <p:cNvSpPr/>
          <p:nvPr/>
        </p:nvSpPr>
        <p:spPr>
          <a:xfrm>
            <a:off x="4773168" y="2898648"/>
            <a:ext cx="3712464" cy="1060704"/>
          </a:xfrm>
          <a:prstGeom prst="rect">
            <a:avLst/>
          </a:prstGeom>
          <a:noFill/>
          <a:ln/>
        </p:spPr>
        <p:txBody>
          <a:bodyPr wrap="square" lIns="0" tIns="0" rIns="0" bIns="0" rtlCol="0" anchor="ctr">
            <a:normAutofit/>
          </a:bodyPr>
          <a:lstStyle/>
          <a:p>
            <a:pPr indent="0" marL="0">
              <a:buNone/>
            </a:pPr>
            <a:r>
              <a:rPr lang="en-US" sz="980" dirty="0">
                <a:solidFill>
                  <a:srgbClr val="3D5472"/>
                </a:solidFill>
                <a:latin typeface="Calibri" pitchFamily="34" charset="0"/>
                <a:ea typeface="Calibri" pitchFamily="34" charset="-122"/>
                <a:cs typeface="Calibri" pitchFamily="34" charset="-120"/>
              </a:rPr>
              <a:t>• Explicit compensation of gravity and centrifugal drift</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Direct design knobs: λ for decay, K for reaching, ϕ for boundary layer width</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Still simple enough to run comfortably at 200 Hz on the Arduino Mega</a:t>
            </a:r>
            <a:endParaRPr lang="en-US" sz="980" dirty="0"/>
          </a:p>
        </p:txBody>
      </p:sp>
      <p:sp>
        <p:nvSpPr>
          <p:cNvPr id="20" name="Text 18"/>
          <p:cNvSpPr/>
          <p:nvPr/>
        </p:nvSpPr>
        <p:spPr>
          <a:xfrm>
            <a:off x="8412480" y="4892040"/>
            <a:ext cx="640080" cy="201168"/>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28 / 38</a:t>
            </a:r>
            <a:endParaRPr lang="en-US" sz="900" dirty="0"/>
          </a:p>
        </p:txBody>
      </p:sp>
      <p:sp>
        <p:nvSpPr>
          <p:cNvPr id="21" name="Shape 19"/>
          <p:cNvSpPr/>
          <p:nvPr/>
        </p:nvSpPr>
        <p:spPr>
          <a:xfrm>
            <a:off x="256032" y="4882896"/>
            <a:ext cx="8631936" cy="36576"/>
          </a:xfrm>
          <a:prstGeom prst="rect">
            <a:avLst/>
          </a:prstGeom>
          <a:solidFill>
            <a:srgbClr val="0D6EAF">
              <a:alpha val="15000"/>
            </a:srgbClr>
          </a:solidFill>
          <a:ln w="12700">
            <a:solidFill>
              <a:srgbClr val="0D6EAF"/>
            </a:solidFill>
            <a:prstDash val="solid"/>
          </a:ln>
        </p:spPr>
      </p:sp>
      <p:sp>
        <p:nvSpPr>
          <p:cNvPr id="22" name="Shape 20"/>
          <p:cNvSpPr/>
          <p:nvPr/>
        </p:nvSpPr>
        <p:spPr>
          <a:xfrm>
            <a:off x="256032" y="4882896"/>
            <a:ext cx="6360374" cy="36576"/>
          </a:xfrm>
          <a:prstGeom prst="rect">
            <a:avLst/>
          </a:prstGeom>
          <a:solidFill>
            <a:srgbClr val="0D6EAF"/>
          </a:solidFill>
          <a:ln w="12700">
            <a:solidFill>
              <a:srgbClr val="0D6EAF"/>
            </a:solidFill>
            <a:prstDash val="solid"/>
          </a:ln>
        </p:spPr>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6F8FA"/>
        </a:solidFill>
      </p:bgPr>
    </p:bg>
    <p:spTree>
      <p:nvGrpSpPr>
        <p:cNvPr id="1" name=""/>
        <p:cNvGrpSpPr/>
        <p:nvPr/>
      </p:nvGrpSpPr>
      <p:grpSpPr>
        <a:xfrm>
          <a:off x="0" y="0"/>
          <a:ext cx="0" cy="0"/>
          <a:chOff x="0" y="0"/>
          <a:chExt cx="0" cy="0"/>
        </a:xfrm>
      </p:grpSpPr>
      <p:sp>
        <p:nvSpPr>
          <p:cNvPr id="2" name="Shape 0"/>
          <p:cNvSpPr/>
          <p:nvPr/>
        </p:nvSpPr>
        <p:spPr>
          <a:xfrm>
            <a:off x="0" y="0"/>
            <a:ext cx="118872" cy="5143500"/>
          </a:xfrm>
          <a:prstGeom prst="rect">
            <a:avLst/>
          </a:prstGeom>
          <a:solidFill>
            <a:srgbClr val="0D6EAF"/>
          </a:solidFill>
          <a:ln w="12700">
            <a:solidFill>
              <a:srgbClr val="0D6EAF"/>
            </a:solidFill>
            <a:prstDash val="solid"/>
          </a:ln>
        </p:spPr>
      </p:sp>
      <p:sp>
        <p:nvSpPr>
          <p:cNvPr id="3" name="Text 1"/>
          <p:cNvSpPr/>
          <p:nvPr/>
        </p:nvSpPr>
        <p:spPr>
          <a:xfrm>
            <a:off x="256032" y="201168"/>
            <a:ext cx="8686800" cy="566928"/>
          </a:xfrm>
          <a:prstGeom prst="rect">
            <a:avLst/>
          </a:prstGeom>
          <a:noFill/>
          <a:ln/>
        </p:spPr>
        <p:txBody>
          <a:bodyPr wrap="square" lIns="0" tIns="0" rIns="0" bIns="0" rtlCol="0" anchor="ctr">
            <a:normAutofit/>
          </a:bodyPr>
          <a:lstStyle/>
          <a:p>
            <a:pPr indent="0" marL="0">
              <a:buNone/>
            </a:pPr>
            <a:r>
              <a:rPr lang="en-US" sz="2600" b="1" dirty="0">
                <a:solidFill>
                  <a:srgbClr val="1B2A4A"/>
                </a:solidFill>
                <a:latin typeface="Calibri" pitchFamily="34" charset="0"/>
                <a:ea typeface="Calibri" pitchFamily="34" charset="-122"/>
                <a:cs typeface="Calibri" pitchFamily="34" charset="-120"/>
              </a:rPr>
              <a:t>Lyapunov Stability Proof for the Hybrid SMC Reaching Law</a:t>
            </a:r>
            <a:endParaRPr lang="en-US" sz="2600" dirty="0"/>
          </a:p>
        </p:txBody>
      </p:sp>
      <p:sp>
        <p:nvSpPr>
          <p:cNvPr id="4" name="Text 2"/>
          <p:cNvSpPr/>
          <p:nvPr/>
        </p:nvSpPr>
        <p:spPr>
          <a:xfrm>
            <a:off x="256032" y="768096"/>
            <a:ext cx="8686800" cy="274320"/>
          </a:xfrm>
          <a:prstGeom prst="rect">
            <a:avLst/>
          </a:prstGeom>
          <a:noFill/>
          <a:ln/>
        </p:spPr>
        <p:txBody>
          <a:bodyPr wrap="square" lIns="0" tIns="0" rIns="0" bIns="0" rtlCol="0" anchor="ctr">
            <a:normAutofit/>
          </a:bodyPr>
          <a:lstStyle/>
          <a:p>
            <a:pPr indent="0" marL="0">
              <a:buNone/>
            </a:pPr>
            <a:r>
              <a:rPr lang="en-US" sz="1200" i="1" dirty="0">
                <a:solidFill>
                  <a:srgbClr val="64748B"/>
                </a:solidFill>
                <a:latin typeface="Calibri" pitchFamily="34" charset="0"/>
                <a:ea typeface="Calibri" pitchFamily="34" charset="-122"/>
                <a:cs typeface="Calibri" pitchFamily="34" charset="-120"/>
              </a:rPr>
              <a:t>The analytic law gives a clean reaching proof, but the firmware protections must be stated alongside it.</a:t>
            </a:r>
            <a:endParaRPr lang="en-US" sz="1200" dirty="0"/>
          </a:p>
        </p:txBody>
      </p:sp>
      <p:sp>
        <p:nvSpPr>
          <p:cNvPr id="5" name="Shape 3"/>
          <p:cNvSpPr/>
          <p:nvPr/>
        </p:nvSpPr>
        <p:spPr>
          <a:xfrm>
            <a:off x="256032" y="822960"/>
            <a:ext cx="8631936" cy="0"/>
          </a:xfrm>
          <a:prstGeom prst="line">
            <a:avLst/>
          </a:prstGeom>
          <a:noFill/>
          <a:ln w="9525">
            <a:solidFill>
              <a:srgbClr val="DDE3EC"/>
            </a:solidFill>
            <a:prstDash val="solid"/>
          </a:ln>
        </p:spPr>
      </p:sp>
      <p:sp>
        <p:nvSpPr>
          <p:cNvPr id="6" name="Shape 4"/>
          <p:cNvSpPr/>
          <p:nvPr/>
        </p:nvSpPr>
        <p:spPr>
          <a:xfrm>
            <a:off x="685800" y="1115568"/>
            <a:ext cx="3657600" cy="1005840"/>
          </a:xfrm>
          <a:prstGeom prst="rect">
            <a:avLst/>
          </a:prstGeom>
          <a:solidFill>
            <a:srgbClr val="FFFFFF"/>
          </a:solidFill>
          <a:ln w="6350">
            <a:solidFill>
              <a:srgbClr val="DDE3EC"/>
            </a:solidFill>
            <a:prstDash val="solid"/>
          </a:ln>
        </p:spPr>
      </p:sp>
      <p:sp>
        <p:nvSpPr>
          <p:cNvPr id="7" name="Text 5"/>
          <p:cNvSpPr/>
          <p:nvPr/>
        </p:nvSpPr>
        <p:spPr>
          <a:xfrm>
            <a:off x="758952" y="1170432"/>
            <a:ext cx="914400" cy="146304"/>
          </a:xfrm>
          <a:prstGeom prst="rect">
            <a:avLst/>
          </a:prstGeom>
          <a:noFill/>
          <a:ln/>
        </p:spPr>
        <p:txBody>
          <a:bodyPr wrap="square" lIns="0" tIns="0" rIns="0" bIns="0" rtlCol="0" anchor="ctr"/>
          <a:lstStyle/>
          <a:p>
            <a:pPr indent="0" marL="0">
              <a:buNone/>
            </a:pPr>
            <a:r>
              <a:rPr lang="en-US" sz="800" i="1" dirty="0">
                <a:solidFill>
                  <a:srgbClr val="64748B"/>
                </a:solidFill>
                <a:latin typeface="Calibri" pitchFamily="34" charset="0"/>
                <a:ea typeface="Calibri" pitchFamily="34" charset="-122"/>
                <a:cs typeface="Calibri" pitchFamily="34" charset="-120"/>
              </a:rPr>
              <a:t>Equation</a:t>
            </a:r>
            <a:endParaRPr lang="en-US" sz="800" dirty="0"/>
          </a:p>
        </p:txBody>
      </p:sp>
      <p:sp>
        <p:nvSpPr>
          <p:cNvPr id="8" name="Shape 6"/>
          <p:cNvSpPr/>
          <p:nvPr/>
        </p:nvSpPr>
        <p:spPr>
          <a:xfrm>
            <a:off x="4572000" y="1078992"/>
            <a:ext cx="3977640" cy="1097280"/>
          </a:xfrm>
          <a:prstGeom prst="rect">
            <a:avLst/>
          </a:prstGeom>
          <a:solidFill>
            <a:srgbClr val="ECFDF5"/>
          </a:solidFill>
          <a:ln w="6350">
            <a:solidFill>
              <a:srgbClr val="DDE3EC"/>
            </a:solidFill>
            <a:prstDash val="solid"/>
          </a:ln>
        </p:spPr>
      </p:sp>
      <p:sp>
        <p:nvSpPr>
          <p:cNvPr id="9" name="Shape 7"/>
          <p:cNvSpPr/>
          <p:nvPr/>
        </p:nvSpPr>
        <p:spPr>
          <a:xfrm>
            <a:off x="4572000" y="1078992"/>
            <a:ext cx="3977640" cy="64008"/>
          </a:xfrm>
          <a:prstGeom prst="rect">
            <a:avLst/>
          </a:prstGeom>
          <a:solidFill>
            <a:srgbClr val="047857"/>
          </a:solidFill>
          <a:ln w="12700">
            <a:solidFill>
              <a:srgbClr val="047857"/>
            </a:solidFill>
            <a:prstDash val="solid"/>
          </a:ln>
        </p:spPr>
      </p:sp>
      <p:sp>
        <p:nvSpPr>
          <p:cNvPr id="10" name="Text 8"/>
          <p:cNvSpPr/>
          <p:nvPr/>
        </p:nvSpPr>
        <p:spPr>
          <a:xfrm>
            <a:off x="4681728" y="1188720"/>
            <a:ext cx="375818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Finite-time reaching outside the boundary layer</a:t>
            </a:r>
            <a:endParaRPr lang="en-US" sz="1150" dirty="0"/>
          </a:p>
        </p:txBody>
      </p:sp>
      <p:sp>
        <p:nvSpPr>
          <p:cNvPr id="11" name="Text 9"/>
          <p:cNvSpPr/>
          <p:nvPr/>
        </p:nvSpPr>
        <p:spPr>
          <a:xfrm>
            <a:off x="4681728" y="1463040"/>
            <a:ext cx="3758184" cy="603504"/>
          </a:xfrm>
          <a:prstGeom prst="rect">
            <a:avLst/>
          </a:prstGeom>
          <a:noFill/>
          <a:ln/>
        </p:spPr>
        <p:txBody>
          <a:bodyPr wrap="square" lIns="0" tIns="0" rIns="0" bIns="0" rtlCol="0" anchor="ctr">
            <a:normAutofit/>
          </a:bodyPr>
          <a:lstStyle/>
          <a:p>
            <a:pPr indent="0" marL="0">
              <a:buNone/>
            </a:pPr>
            <a:r>
              <a:rPr lang="en-US" sz="1000" dirty="0">
                <a:solidFill>
                  <a:srgbClr val="3D5472"/>
                </a:solidFill>
                <a:latin typeface="Calibri" pitchFamily="34" charset="0"/>
                <a:ea typeface="Calibri" pitchFamily="34" charset="-122"/>
                <a:cs typeface="Calibri" pitchFamily="34" charset="-120"/>
              </a:rPr>
              <a:t>The standard ideal reaching result is recovered: the surface is reached in finite time with a rate set by $K$ when $|s|&gt;\phi$.</a:t>
            </a:r>
            <a:endParaRPr lang="en-US" sz="1000" dirty="0"/>
          </a:p>
        </p:txBody>
      </p:sp>
      <p:sp>
        <p:nvSpPr>
          <p:cNvPr id="12" name="Shape 10"/>
          <p:cNvSpPr/>
          <p:nvPr/>
        </p:nvSpPr>
        <p:spPr>
          <a:xfrm>
            <a:off x="502920" y="2514600"/>
            <a:ext cx="3886200" cy="1600200"/>
          </a:xfrm>
          <a:prstGeom prst="rect">
            <a:avLst/>
          </a:prstGeom>
          <a:solidFill>
            <a:srgbClr val="FFFBEB"/>
          </a:solidFill>
          <a:ln w="6350">
            <a:solidFill>
              <a:srgbClr val="DDE3EC"/>
            </a:solidFill>
            <a:prstDash val="solid"/>
          </a:ln>
        </p:spPr>
      </p:sp>
      <p:sp>
        <p:nvSpPr>
          <p:cNvPr id="13" name="Shape 11"/>
          <p:cNvSpPr/>
          <p:nvPr/>
        </p:nvSpPr>
        <p:spPr>
          <a:xfrm>
            <a:off x="502920" y="2514600"/>
            <a:ext cx="3886200" cy="64008"/>
          </a:xfrm>
          <a:prstGeom prst="rect">
            <a:avLst/>
          </a:prstGeom>
          <a:solidFill>
            <a:srgbClr val="D97706"/>
          </a:solidFill>
          <a:ln w="12700">
            <a:solidFill>
              <a:srgbClr val="D97706"/>
            </a:solidFill>
            <a:prstDash val="solid"/>
          </a:ln>
        </p:spPr>
      </p:sp>
      <p:sp>
        <p:nvSpPr>
          <p:cNvPr id="14" name="Text 12"/>
          <p:cNvSpPr/>
          <p:nvPr/>
        </p:nvSpPr>
        <p:spPr>
          <a:xfrm>
            <a:off x="612648" y="2624328"/>
            <a:ext cx="366674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Theory vs firmware</a:t>
            </a:r>
            <a:endParaRPr lang="en-US" sz="1150" dirty="0"/>
          </a:p>
        </p:txBody>
      </p:sp>
      <p:sp>
        <p:nvSpPr>
          <p:cNvPr id="15" name="Text 13"/>
          <p:cNvSpPr/>
          <p:nvPr/>
        </p:nvSpPr>
        <p:spPr>
          <a:xfrm>
            <a:off x="612648" y="2898648"/>
            <a:ext cx="3666744" cy="1106424"/>
          </a:xfrm>
          <a:prstGeom prst="rect">
            <a:avLst/>
          </a:prstGeom>
          <a:noFill/>
          <a:ln/>
        </p:spPr>
        <p:txBody>
          <a:bodyPr wrap="square" lIns="0" tIns="0" rIns="0" bIns="0" rtlCol="0" anchor="ctr">
            <a:normAutofit/>
          </a:bodyPr>
          <a:lstStyle/>
          <a:p>
            <a:pPr indent="0" marL="0">
              <a:buNone/>
            </a:pPr>
            <a:r>
              <a:rPr lang="en-US" sz="980" dirty="0">
                <a:solidFill>
                  <a:srgbClr val="3D5472"/>
                </a:solidFill>
                <a:latin typeface="Calibri" pitchFamily="34" charset="0"/>
                <a:ea typeface="Calibri" pitchFamily="34" charset="-122"/>
                <a:cs typeface="Calibri" pitchFamily="34" charset="-120"/>
              </a:rPr>
              <a:t>• The proof applies to the analytic law before saturation, deadband, engage ramp, and abort logic are added.</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The deployed firmware also enforces the upright-only validity window, cosine protection, and acceleration limits.</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So the Lyapunov result is a design guide, not an unconditional hardware theorem.</a:t>
            </a:r>
            <a:endParaRPr lang="en-US" sz="980" dirty="0"/>
          </a:p>
        </p:txBody>
      </p:sp>
      <p:sp>
        <p:nvSpPr>
          <p:cNvPr id="16" name="Shape 14"/>
          <p:cNvSpPr/>
          <p:nvPr/>
        </p:nvSpPr>
        <p:spPr>
          <a:xfrm>
            <a:off x="4617720" y="2514600"/>
            <a:ext cx="3931920" cy="1600200"/>
          </a:xfrm>
          <a:prstGeom prst="rect">
            <a:avLst/>
          </a:prstGeom>
          <a:solidFill>
            <a:srgbClr val="FFFFFF"/>
          </a:solidFill>
          <a:ln w="6350">
            <a:solidFill>
              <a:srgbClr val="DDE3EC"/>
            </a:solidFill>
            <a:prstDash val="solid"/>
          </a:ln>
        </p:spPr>
      </p:sp>
      <p:sp>
        <p:nvSpPr>
          <p:cNvPr id="17" name="Shape 15"/>
          <p:cNvSpPr/>
          <p:nvPr/>
        </p:nvSpPr>
        <p:spPr>
          <a:xfrm>
            <a:off x="4617720" y="2514600"/>
            <a:ext cx="3931920" cy="64008"/>
          </a:xfrm>
          <a:prstGeom prst="rect">
            <a:avLst/>
          </a:prstGeom>
          <a:solidFill>
            <a:srgbClr val="0D6EAF"/>
          </a:solidFill>
          <a:ln w="12700">
            <a:solidFill>
              <a:srgbClr val="0D6EAF"/>
            </a:solidFill>
            <a:prstDash val="solid"/>
          </a:ln>
        </p:spPr>
      </p:sp>
      <p:sp>
        <p:nvSpPr>
          <p:cNvPr id="18" name="Text 16"/>
          <p:cNvSpPr/>
          <p:nvPr/>
        </p:nvSpPr>
        <p:spPr>
          <a:xfrm>
            <a:off x="4727448" y="2624328"/>
            <a:ext cx="371246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Why keep the proof in the deck</a:t>
            </a:r>
            <a:endParaRPr lang="en-US" sz="1150" dirty="0"/>
          </a:p>
        </p:txBody>
      </p:sp>
      <p:sp>
        <p:nvSpPr>
          <p:cNvPr id="19" name="Text 17"/>
          <p:cNvSpPr/>
          <p:nvPr/>
        </p:nvSpPr>
        <p:spPr>
          <a:xfrm>
            <a:off x="4727448" y="2898648"/>
            <a:ext cx="3712464" cy="1106424"/>
          </a:xfrm>
          <a:prstGeom prst="rect">
            <a:avLst/>
          </a:prstGeom>
          <a:noFill/>
          <a:ln/>
        </p:spPr>
        <p:txBody>
          <a:bodyPr wrap="square" lIns="0" tIns="0" rIns="0" bIns="0" rtlCol="0" anchor="ctr">
            <a:normAutofit/>
          </a:bodyPr>
          <a:lstStyle/>
          <a:p>
            <a:pPr indent="0" marL="0">
              <a:buNone/>
            </a:pPr>
            <a:r>
              <a:rPr lang="en-US" sz="980" dirty="0">
                <a:solidFill>
                  <a:srgbClr val="3D5472"/>
                </a:solidFill>
                <a:latin typeface="Calibri" pitchFamily="34" charset="0"/>
                <a:ea typeface="Calibri" pitchFamily="34" charset="-122"/>
                <a:cs typeface="Calibri" pitchFamily="34" charset="-120"/>
              </a:rPr>
              <a:t>• It explains the logic of the controller rather than presenting SMC as a tuning heuristic.</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It also shows exactly where the practical implementation begins to diverge from the ideal law.</a:t>
            </a:r>
            <a:endParaRPr lang="en-US" sz="980" dirty="0"/>
          </a:p>
        </p:txBody>
      </p:sp>
      <p:sp>
        <p:nvSpPr>
          <p:cNvPr id="20" name="Text 18"/>
          <p:cNvSpPr/>
          <p:nvPr/>
        </p:nvSpPr>
        <p:spPr>
          <a:xfrm>
            <a:off x="8412480" y="4892040"/>
            <a:ext cx="640080" cy="201168"/>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29 / 38</a:t>
            </a:r>
            <a:endParaRPr lang="en-US" sz="900" dirty="0"/>
          </a:p>
        </p:txBody>
      </p:sp>
      <p:sp>
        <p:nvSpPr>
          <p:cNvPr id="21" name="Shape 19"/>
          <p:cNvSpPr/>
          <p:nvPr/>
        </p:nvSpPr>
        <p:spPr>
          <a:xfrm>
            <a:off x="256032" y="4882896"/>
            <a:ext cx="8631936" cy="36576"/>
          </a:xfrm>
          <a:prstGeom prst="rect">
            <a:avLst/>
          </a:prstGeom>
          <a:solidFill>
            <a:srgbClr val="0D6EAF">
              <a:alpha val="15000"/>
            </a:srgbClr>
          </a:solidFill>
          <a:ln w="12700">
            <a:solidFill>
              <a:srgbClr val="0D6EAF"/>
            </a:solidFill>
            <a:prstDash val="solid"/>
          </a:ln>
        </p:spPr>
      </p:sp>
      <p:sp>
        <p:nvSpPr>
          <p:cNvPr id="22" name="Shape 20"/>
          <p:cNvSpPr/>
          <p:nvPr/>
        </p:nvSpPr>
        <p:spPr>
          <a:xfrm>
            <a:off x="256032" y="4882896"/>
            <a:ext cx="6587530" cy="36576"/>
          </a:xfrm>
          <a:prstGeom prst="rect">
            <a:avLst/>
          </a:prstGeom>
          <a:solidFill>
            <a:srgbClr val="0D6EAF"/>
          </a:solidFill>
          <a:ln w="12700">
            <a:solidFill>
              <a:srgbClr val="0D6EAF"/>
            </a:solidFill>
            <a:prstDash val="solid"/>
          </a:ln>
        </p:spPr>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6F8FA"/>
        </a:solidFill>
      </p:bgPr>
    </p:bg>
    <p:spTree>
      <p:nvGrpSpPr>
        <p:cNvPr id="1" name=""/>
        <p:cNvGrpSpPr/>
        <p:nvPr/>
      </p:nvGrpSpPr>
      <p:grpSpPr>
        <a:xfrm>
          <a:off x="0" y="0"/>
          <a:ext cx="0" cy="0"/>
          <a:chOff x="0" y="0"/>
          <a:chExt cx="0" cy="0"/>
        </a:xfrm>
      </p:grpSpPr>
      <p:sp>
        <p:nvSpPr>
          <p:cNvPr id="2" name="Shape 0"/>
          <p:cNvSpPr/>
          <p:nvPr/>
        </p:nvSpPr>
        <p:spPr>
          <a:xfrm>
            <a:off x="0" y="0"/>
            <a:ext cx="118872" cy="5143500"/>
          </a:xfrm>
          <a:prstGeom prst="rect">
            <a:avLst/>
          </a:prstGeom>
          <a:solidFill>
            <a:srgbClr val="0D6EAF"/>
          </a:solidFill>
          <a:ln w="12700">
            <a:solidFill>
              <a:srgbClr val="0D6EAF"/>
            </a:solidFill>
            <a:prstDash val="solid"/>
          </a:ln>
        </p:spPr>
      </p:sp>
      <p:sp>
        <p:nvSpPr>
          <p:cNvPr id="3" name="Text 1"/>
          <p:cNvSpPr/>
          <p:nvPr/>
        </p:nvSpPr>
        <p:spPr>
          <a:xfrm>
            <a:off x="256032" y="201168"/>
            <a:ext cx="8686800" cy="566928"/>
          </a:xfrm>
          <a:prstGeom prst="rect">
            <a:avLst/>
          </a:prstGeom>
          <a:noFill/>
          <a:ln/>
        </p:spPr>
        <p:txBody>
          <a:bodyPr wrap="square" lIns="0" tIns="0" rIns="0" bIns="0" rtlCol="0" anchor="ctr">
            <a:normAutofit/>
          </a:bodyPr>
          <a:lstStyle/>
          <a:p>
            <a:pPr indent="0" marL="0">
              <a:buNone/>
            </a:pPr>
            <a:r>
              <a:rPr lang="en-US" sz="2600" b="1" dirty="0">
                <a:solidFill>
                  <a:srgbClr val="1B2A4A"/>
                </a:solidFill>
                <a:latin typeface="Calibri" pitchFamily="34" charset="0"/>
                <a:ea typeface="Calibri" pitchFamily="34" charset="-122"/>
                <a:cs typeface="Calibri" pitchFamily="34" charset="-120"/>
              </a:rPr>
              <a:t>Boundary Layer and Chattering Elimination</a:t>
            </a:r>
            <a:endParaRPr lang="en-US" sz="2600" dirty="0"/>
          </a:p>
        </p:txBody>
      </p:sp>
      <p:sp>
        <p:nvSpPr>
          <p:cNvPr id="4" name="Text 2"/>
          <p:cNvSpPr/>
          <p:nvPr/>
        </p:nvSpPr>
        <p:spPr>
          <a:xfrm>
            <a:off x="256032" y="768096"/>
            <a:ext cx="8686800" cy="274320"/>
          </a:xfrm>
          <a:prstGeom prst="rect">
            <a:avLst/>
          </a:prstGeom>
          <a:noFill/>
          <a:ln/>
        </p:spPr>
        <p:txBody>
          <a:bodyPr wrap="square" lIns="0" tIns="0" rIns="0" bIns="0" rtlCol="0" anchor="ctr">
            <a:normAutofit/>
          </a:bodyPr>
          <a:lstStyle/>
          <a:p>
            <a:pPr indent="0" marL="0">
              <a:buNone/>
            </a:pPr>
            <a:r>
              <a:rPr lang="en-US" sz="1200" i="1" dirty="0">
                <a:solidFill>
                  <a:srgbClr val="64748B"/>
                </a:solidFill>
                <a:latin typeface="Calibri" pitchFamily="34" charset="0"/>
                <a:ea typeface="Calibri" pitchFamily="34" charset="-122"/>
                <a:cs typeface="Calibri" pitchFamily="34" charset="-120"/>
              </a:rPr>
              <a:t>The saturation function keeps the reaching law usable on the real stepper platform by softening the switching near the surface.</a:t>
            </a:r>
            <a:endParaRPr lang="en-US" sz="1200" dirty="0"/>
          </a:p>
        </p:txBody>
      </p:sp>
      <p:sp>
        <p:nvSpPr>
          <p:cNvPr id="5" name="Shape 3"/>
          <p:cNvSpPr/>
          <p:nvPr/>
        </p:nvSpPr>
        <p:spPr>
          <a:xfrm>
            <a:off x="256032" y="822960"/>
            <a:ext cx="8631936" cy="0"/>
          </a:xfrm>
          <a:prstGeom prst="line">
            <a:avLst/>
          </a:prstGeom>
          <a:noFill/>
          <a:ln w="9525">
            <a:solidFill>
              <a:srgbClr val="DDE3EC"/>
            </a:solidFill>
            <a:prstDash val="solid"/>
          </a:ln>
        </p:spPr>
      </p:sp>
      <p:sp>
        <p:nvSpPr>
          <p:cNvPr id="6" name="Shape 4"/>
          <p:cNvSpPr/>
          <p:nvPr/>
        </p:nvSpPr>
        <p:spPr>
          <a:xfrm>
            <a:off x="685800" y="1170432"/>
            <a:ext cx="4160520" cy="640080"/>
          </a:xfrm>
          <a:prstGeom prst="rect">
            <a:avLst/>
          </a:prstGeom>
          <a:solidFill>
            <a:srgbClr val="FFFFFF"/>
          </a:solidFill>
          <a:ln w="6350">
            <a:solidFill>
              <a:srgbClr val="DDE3EC"/>
            </a:solidFill>
            <a:prstDash val="solid"/>
          </a:ln>
        </p:spPr>
      </p:sp>
      <p:sp>
        <p:nvSpPr>
          <p:cNvPr id="7" name="Text 5"/>
          <p:cNvSpPr/>
          <p:nvPr/>
        </p:nvSpPr>
        <p:spPr>
          <a:xfrm>
            <a:off x="758952" y="1225296"/>
            <a:ext cx="914400" cy="146304"/>
          </a:xfrm>
          <a:prstGeom prst="rect">
            <a:avLst/>
          </a:prstGeom>
          <a:noFill/>
          <a:ln/>
        </p:spPr>
        <p:txBody>
          <a:bodyPr wrap="square" lIns="0" tIns="0" rIns="0" bIns="0" rtlCol="0" anchor="ctr"/>
          <a:lstStyle/>
          <a:p>
            <a:pPr indent="0" marL="0">
              <a:buNone/>
            </a:pPr>
            <a:r>
              <a:rPr lang="en-US" sz="800" i="1" dirty="0">
                <a:solidFill>
                  <a:srgbClr val="64748B"/>
                </a:solidFill>
                <a:latin typeface="Calibri" pitchFamily="34" charset="0"/>
                <a:ea typeface="Calibri" pitchFamily="34" charset="-122"/>
                <a:cs typeface="Calibri" pitchFamily="34" charset="-120"/>
              </a:rPr>
              <a:t>Equation</a:t>
            </a:r>
            <a:endParaRPr lang="en-US" sz="800" dirty="0"/>
          </a:p>
        </p:txBody>
      </p:sp>
      <p:sp>
        <p:nvSpPr>
          <p:cNvPr id="8" name="Shape 6"/>
          <p:cNvSpPr/>
          <p:nvPr/>
        </p:nvSpPr>
        <p:spPr>
          <a:xfrm>
            <a:off x="5074920" y="1078992"/>
            <a:ext cx="3474720" cy="960120"/>
          </a:xfrm>
          <a:prstGeom prst="rect">
            <a:avLst/>
          </a:prstGeom>
          <a:solidFill>
            <a:srgbClr val="FFFFFF"/>
          </a:solidFill>
          <a:ln w="6350">
            <a:solidFill>
              <a:srgbClr val="DDE3EC"/>
            </a:solidFill>
            <a:prstDash val="solid"/>
          </a:ln>
        </p:spPr>
      </p:sp>
      <p:sp>
        <p:nvSpPr>
          <p:cNvPr id="9" name="Shape 7"/>
          <p:cNvSpPr/>
          <p:nvPr/>
        </p:nvSpPr>
        <p:spPr>
          <a:xfrm>
            <a:off x="5074920" y="1078992"/>
            <a:ext cx="3474720" cy="64008"/>
          </a:xfrm>
          <a:prstGeom prst="rect">
            <a:avLst/>
          </a:prstGeom>
          <a:solidFill>
            <a:srgbClr val="0D6EAF"/>
          </a:solidFill>
          <a:ln w="12700">
            <a:solidFill>
              <a:srgbClr val="0D6EAF"/>
            </a:solidFill>
            <a:prstDash val="solid"/>
          </a:ln>
        </p:spPr>
      </p:sp>
      <p:sp>
        <p:nvSpPr>
          <p:cNvPr id="10" name="Text 8"/>
          <p:cNvSpPr/>
          <p:nvPr/>
        </p:nvSpPr>
        <p:spPr>
          <a:xfrm>
            <a:off x="5184648" y="1188720"/>
            <a:ext cx="325526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Chosen boundary layer</a:t>
            </a:r>
            <a:endParaRPr lang="en-US" sz="1150" dirty="0"/>
          </a:p>
        </p:txBody>
      </p:sp>
      <p:sp>
        <p:nvSpPr>
          <p:cNvPr id="11" name="Text 9"/>
          <p:cNvSpPr/>
          <p:nvPr/>
        </p:nvSpPr>
        <p:spPr>
          <a:xfrm>
            <a:off x="5184648" y="1463040"/>
            <a:ext cx="3255264" cy="466344"/>
          </a:xfrm>
          <a:prstGeom prst="rect">
            <a:avLst/>
          </a:prstGeom>
          <a:noFill/>
          <a:ln/>
        </p:spPr>
        <p:txBody>
          <a:bodyPr wrap="square" lIns="0" tIns="0" rIns="0" bIns="0" rtlCol="0" anchor="ctr">
            <a:normAutofit/>
          </a:bodyPr>
          <a:lstStyle/>
          <a:p>
            <a:pPr indent="0" marL="0">
              <a:buNone/>
            </a:pPr>
            <a:r>
              <a:rPr lang="en-US" sz="1000" dirty="0">
                <a:solidFill>
                  <a:srgbClr val="3D5472"/>
                </a:solidFill>
                <a:latin typeface="Calibri" pitchFamily="34" charset="0"/>
                <a:ea typeface="Calibri" pitchFamily="34" charset="-122"/>
                <a:cs typeface="Calibri" pitchFamily="34" charset="-120"/>
              </a:rPr>
              <a:t>$\phi = 50\ \mathrm{deg/s}$ in the pinned dataset</a:t>
            </a:r>
            <a:endParaRPr lang="en-US" sz="1000" dirty="0"/>
          </a:p>
        </p:txBody>
      </p:sp>
      <p:sp>
        <p:nvSpPr>
          <p:cNvPr id="12" name="Shape 10"/>
          <p:cNvSpPr/>
          <p:nvPr/>
        </p:nvSpPr>
        <p:spPr>
          <a:xfrm>
            <a:off x="502920" y="2423160"/>
            <a:ext cx="3840480" cy="1691640"/>
          </a:xfrm>
          <a:prstGeom prst="rect">
            <a:avLst/>
          </a:prstGeom>
          <a:solidFill>
            <a:srgbClr val="FFFFFF"/>
          </a:solidFill>
          <a:ln w="6350">
            <a:solidFill>
              <a:srgbClr val="DDE3EC"/>
            </a:solidFill>
            <a:prstDash val="solid"/>
          </a:ln>
        </p:spPr>
      </p:sp>
      <p:sp>
        <p:nvSpPr>
          <p:cNvPr id="13" name="Shape 11"/>
          <p:cNvSpPr/>
          <p:nvPr/>
        </p:nvSpPr>
        <p:spPr>
          <a:xfrm>
            <a:off x="502920" y="2423160"/>
            <a:ext cx="3840480" cy="64008"/>
          </a:xfrm>
          <a:prstGeom prst="rect">
            <a:avLst/>
          </a:prstGeom>
          <a:solidFill>
            <a:srgbClr val="0D6EAF"/>
          </a:solidFill>
          <a:ln w="12700">
            <a:solidFill>
              <a:srgbClr val="0D6EAF"/>
            </a:solidFill>
            <a:prstDash val="solid"/>
          </a:ln>
        </p:spPr>
      </p:sp>
      <p:sp>
        <p:nvSpPr>
          <p:cNvPr id="14" name="Text 12"/>
          <p:cNvSpPr/>
          <p:nvPr/>
        </p:nvSpPr>
        <p:spPr>
          <a:xfrm>
            <a:off x="612648" y="2532888"/>
            <a:ext cx="362102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Outside the layer</a:t>
            </a:r>
            <a:endParaRPr lang="en-US" sz="1150" dirty="0"/>
          </a:p>
        </p:txBody>
      </p:sp>
      <p:sp>
        <p:nvSpPr>
          <p:cNvPr id="15" name="Text 13"/>
          <p:cNvSpPr/>
          <p:nvPr/>
        </p:nvSpPr>
        <p:spPr>
          <a:xfrm>
            <a:off x="612648" y="2807208"/>
            <a:ext cx="3621024" cy="1197864"/>
          </a:xfrm>
          <a:prstGeom prst="rect">
            <a:avLst/>
          </a:prstGeom>
          <a:noFill/>
          <a:ln/>
        </p:spPr>
        <p:txBody>
          <a:bodyPr wrap="square" lIns="0" tIns="0" rIns="0" bIns="0" rtlCol="0" anchor="ctr">
            <a:normAutofit/>
          </a:bodyPr>
          <a:lstStyle/>
          <a:p>
            <a:pPr indent="0" marL="0">
              <a:buNone/>
            </a:pPr>
            <a:r>
              <a:rPr lang="en-US" sz="980" dirty="0">
                <a:solidFill>
                  <a:srgbClr val="3D5472"/>
                </a:solidFill>
                <a:latin typeface="Calibri" pitchFamily="34" charset="0"/>
                <a:ea typeface="Calibri" pitchFamily="34" charset="-122"/>
                <a:cs typeface="Calibri" pitchFamily="34" charset="-120"/>
              </a:rPr>
              <a:t>• The reaching term behaves like sign(s), so the controller pulls aggressively toward the surface.</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This is the part that provides the classical finite-time reaching behavior.</a:t>
            </a:r>
            <a:endParaRPr lang="en-US" sz="980" dirty="0"/>
          </a:p>
        </p:txBody>
      </p:sp>
      <p:sp>
        <p:nvSpPr>
          <p:cNvPr id="16" name="Shape 14"/>
          <p:cNvSpPr/>
          <p:nvPr/>
        </p:nvSpPr>
        <p:spPr>
          <a:xfrm>
            <a:off x="4572000" y="2423160"/>
            <a:ext cx="3977640" cy="1691640"/>
          </a:xfrm>
          <a:prstGeom prst="rect">
            <a:avLst/>
          </a:prstGeom>
          <a:solidFill>
            <a:srgbClr val="FFFFFF"/>
          </a:solidFill>
          <a:ln w="6350">
            <a:solidFill>
              <a:srgbClr val="DDE3EC"/>
            </a:solidFill>
            <a:prstDash val="solid"/>
          </a:ln>
        </p:spPr>
      </p:sp>
      <p:sp>
        <p:nvSpPr>
          <p:cNvPr id="17" name="Shape 15"/>
          <p:cNvSpPr/>
          <p:nvPr/>
        </p:nvSpPr>
        <p:spPr>
          <a:xfrm>
            <a:off x="4572000" y="2423160"/>
            <a:ext cx="3977640" cy="64008"/>
          </a:xfrm>
          <a:prstGeom prst="rect">
            <a:avLst/>
          </a:prstGeom>
          <a:solidFill>
            <a:srgbClr val="0A7A6E"/>
          </a:solidFill>
          <a:ln w="12700">
            <a:solidFill>
              <a:srgbClr val="0A7A6E"/>
            </a:solidFill>
            <a:prstDash val="solid"/>
          </a:ln>
        </p:spPr>
      </p:sp>
      <p:sp>
        <p:nvSpPr>
          <p:cNvPr id="18" name="Text 16"/>
          <p:cNvSpPr/>
          <p:nvPr/>
        </p:nvSpPr>
        <p:spPr>
          <a:xfrm>
            <a:off x="4681728" y="2532888"/>
            <a:ext cx="375818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Inside the layer</a:t>
            </a:r>
            <a:endParaRPr lang="en-US" sz="1150" dirty="0"/>
          </a:p>
        </p:txBody>
      </p:sp>
      <p:sp>
        <p:nvSpPr>
          <p:cNvPr id="19" name="Text 17"/>
          <p:cNvSpPr/>
          <p:nvPr/>
        </p:nvSpPr>
        <p:spPr>
          <a:xfrm>
            <a:off x="4681728" y="2807208"/>
            <a:ext cx="3758184" cy="1197864"/>
          </a:xfrm>
          <a:prstGeom prst="rect">
            <a:avLst/>
          </a:prstGeom>
          <a:noFill/>
          <a:ln/>
        </p:spPr>
        <p:txBody>
          <a:bodyPr wrap="square" lIns="0" tIns="0" rIns="0" bIns="0" rtlCol="0" anchor="ctr">
            <a:normAutofit/>
          </a:bodyPr>
          <a:lstStyle/>
          <a:p>
            <a:pPr indent="0" marL="0">
              <a:buNone/>
            </a:pPr>
            <a:r>
              <a:rPr lang="en-US" sz="980" dirty="0">
                <a:solidFill>
                  <a:srgbClr val="3D5472"/>
                </a:solidFill>
                <a:latin typeface="Calibri" pitchFamily="34" charset="0"/>
                <a:ea typeface="Calibri" pitchFamily="34" charset="-122"/>
                <a:cs typeface="Calibri" pitchFamily="34" charset="-120"/>
              </a:rPr>
              <a:t>• The law becomes locally linear and smooths the control action.</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This reduces chatter in commanded acceleration and therefore reduces harsh stepper commands near upright.</a:t>
            </a:r>
            <a:endParaRPr lang="en-US" sz="980" dirty="0"/>
          </a:p>
        </p:txBody>
      </p:sp>
      <p:sp>
        <p:nvSpPr>
          <p:cNvPr id="20" name="Text 18"/>
          <p:cNvSpPr/>
          <p:nvPr/>
        </p:nvSpPr>
        <p:spPr>
          <a:xfrm>
            <a:off x="8412480" y="4892040"/>
            <a:ext cx="640080" cy="201168"/>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30 / 38</a:t>
            </a:r>
            <a:endParaRPr lang="en-US" sz="900" dirty="0"/>
          </a:p>
        </p:txBody>
      </p:sp>
      <p:sp>
        <p:nvSpPr>
          <p:cNvPr id="21" name="Shape 19"/>
          <p:cNvSpPr/>
          <p:nvPr/>
        </p:nvSpPr>
        <p:spPr>
          <a:xfrm>
            <a:off x="256032" y="4882896"/>
            <a:ext cx="8631936" cy="36576"/>
          </a:xfrm>
          <a:prstGeom prst="rect">
            <a:avLst/>
          </a:prstGeom>
          <a:solidFill>
            <a:srgbClr val="0D6EAF">
              <a:alpha val="15000"/>
            </a:srgbClr>
          </a:solidFill>
          <a:ln w="12700">
            <a:solidFill>
              <a:srgbClr val="0D6EAF"/>
            </a:solidFill>
            <a:prstDash val="solid"/>
          </a:ln>
        </p:spPr>
      </p:sp>
      <p:sp>
        <p:nvSpPr>
          <p:cNvPr id="22" name="Shape 20"/>
          <p:cNvSpPr/>
          <p:nvPr/>
        </p:nvSpPr>
        <p:spPr>
          <a:xfrm>
            <a:off x="256032" y="4882896"/>
            <a:ext cx="6814686" cy="36576"/>
          </a:xfrm>
          <a:prstGeom prst="rect">
            <a:avLst/>
          </a:prstGeom>
          <a:solidFill>
            <a:srgbClr val="0D6EAF"/>
          </a:solidFill>
          <a:ln w="12700">
            <a:solidFill>
              <a:srgbClr val="0D6EAF"/>
            </a:solidFill>
            <a:prstDash val="solid"/>
          </a:ln>
        </p:spPr>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6F8FA"/>
        </a:solidFill>
      </p:bgPr>
    </p:bg>
    <p:spTree>
      <p:nvGrpSpPr>
        <p:cNvPr id="1" name=""/>
        <p:cNvGrpSpPr/>
        <p:nvPr/>
      </p:nvGrpSpPr>
      <p:grpSpPr>
        <a:xfrm>
          <a:off x="0" y="0"/>
          <a:ext cx="0" cy="0"/>
          <a:chOff x="0" y="0"/>
          <a:chExt cx="0" cy="0"/>
        </a:xfrm>
      </p:grpSpPr>
      <p:sp>
        <p:nvSpPr>
          <p:cNvPr id="2" name="Shape 0"/>
          <p:cNvSpPr/>
          <p:nvPr/>
        </p:nvSpPr>
        <p:spPr>
          <a:xfrm>
            <a:off x="0" y="0"/>
            <a:ext cx="118872" cy="5143500"/>
          </a:xfrm>
          <a:prstGeom prst="rect">
            <a:avLst/>
          </a:prstGeom>
          <a:solidFill>
            <a:srgbClr val="0D6EAF"/>
          </a:solidFill>
          <a:ln w="12700">
            <a:solidFill>
              <a:srgbClr val="0D6EAF"/>
            </a:solidFill>
            <a:prstDash val="solid"/>
          </a:ln>
        </p:spPr>
      </p:sp>
      <p:sp>
        <p:nvSpPr>
          <p:cNvPr id="3" name="Text 1"/>
          <p:cNvSpPr/>
          <p:nvPr/>
        </p:nvSpPr>
        <p:spPr>
          <a:xfrm>
            <a:off x="256032" y="201168"/>
            <a:ext cx="8686800" cy="566928"/>
          </a:xfrm>
          <a:prstGeom prst="rect">
            <a:avLst/>
          </a:prstGeom>
          <a:noFill/>
          <a:ln/>
        </p:spPr>
        <p:txBody>
          <a:bodyPr wrap="square" lIns="0" tIns="0" rIns="0" bIns="0" rtlCol="0" anchor="ctr">
            <a:normAutofit/>
          </a:bodyPr>
          <a:lstStyle/>
          <a:p>
            <a:pPr indent="0" marL="0">
              <a:buNone/>
            </a:pPr>
            <a:r>
              <a:rPr lang="en-US" sz="2600" b="1" dirty="0">
                <a:solidFill>
                  <a:srgbClr val="1B2A4A"/>
                </a:solidFill>
                <a:latin typeface="Calibri" pitchFamily="34" charset="0"/>
                <a:ea typeface="Calibri" pitchFamily="34" charset="-122"/>
                <a:cs typeface="Calibri" pitchFamily="34" charset="-120"/>
              </a:rPr>
              <a:t>Hybrid SMC: Base-Centering Blend</a:t>
            </a:r>
            <a:endParaRPr lang="en-US" sz="2600" dirty="0"/>
          </a:p>
        </p:txBody>
      </p:sp>
      <p:sp>
        <p:nvSpPr>
          <p:cNvPr id="4" name="Text 2"/>
          <p:cNvSpPr/>
          <p:nvPr/>
        </p:nvSpPr>
        <p:spPr>
          <a:xfrm>
            <a:off x="256032" y="768096"/>
            <a:ext cx="8686800" cy="274320"/>
          </a:xfrm>
          <a:prstGeom prst="rect">
            <a:avLst/>
          </a:prstGeom>
          <a:noFill/>
          <a:ln/>
        </p:spPr>
        <p:txBody>
          <a:bodyPr wrap="square" lIns="0" tIns="0" rIns="0" bIns="0" rtlCol="0" anchor="ctr">
            <a:normAutofit/>
          </a:bodyPr>
          <a:lstStyle/>
          <a:p>
            <a:pPr indent="0" marL="0">
              <a:buNone/>
            </a:pPr>
            <a:r>
              <a:rPr lang="en-US" sz="1200" i="1" dirty="0">
                <a:solidFill>
                  <a:srgbClr val="64748B"/>
                </a:solidFill>
                <a:latin typeface="Calibri" pitchFamily="34" charset="0"/>
                <a:ea typeface="Calibri" pitchFamily="34" charset="-122"/>
                <a:cs typeface="Calibri" pitchFamily="34" charset="-120"/>
              </a:rPr>
              <a:t>The controller is called hybrid because the pendulum-surface SMC is blended with a separate gated base-centering term.</a:t>
            </a:r>
            <a:endParaRPr lang="en-US" sz="1200" dirty="0"/>
          </a:p>
        </p:txBody>
      </p:sp>
      <p:sp>
        <p:nvSpPr>
          <p:cNvPr id="5" name="Shape 3"/>
          <p:cNvSpPr/>
          <p:nvPr/>
        </p:nvSpPr>
        <p:spPr>
          <a:xfrm>
            <a:off x="256032" y="822960"/>
            <a:ext cx="8631936" cy="0"/>
          </a:xfrm>
          <a:prstGeom prst="line">
            <a:avLst/>
          </a:prstGeom>
          <a:noFill/>
          <a:ln w="9525">
            <a:solidFill>
              <a:srgbClr val="DDE3EC"/>
            </a:solidFill>
            <a:prstDash val="solid"/>
          </a:ln>
        </p:spPr>
      </p:sp>
      <p:sp>
        <p:nvSpPr>
          <p:cNvPr id="6" name="Shape 4"/>
          <p:cNvSpPr/>
          <p:nvPr/>
        </p:nvSpPr>
        <p:spPr>
          <a:xfrm>
            <a:off x="594360" y="1115568"/>
            <a:ext cx="4572000" cy="777240"/>
          </a:xfrm>
          <a:prstGeom prst="rect">
            <a:avLst/>
          </a:prstGeom>
          <a:solidFill>
            <a:srgbClr val="FFFFFF"/>
          </a:solidFill>
          <a:ln w="6350">
            <a:solidFill>
              <a:srgbClr val="DDE3EC"/>
            </a:solidFill>
            <a:prstDash val="solid"/>
          </a:ln>
        </p:spPr>
      </p:sp>
      <p:sp>
        <p:nvSpPr>
          <p:cNvPr id="7" name="Text 5"/>
          <p:cNvSpPr/>
          <p:nvPr/>
        </p:nvSpPr>
        <p:spPr>
          <a:xfrm>
            <a:off x="667512" y="1170432"/>
            <a:ext cx="914400" cy="146304"/>
          </a:xfrm>
          <a:prstGeom prst="rect">
            <a:avLst/>
          </a:prstGeom>
          <a:noFill/>
          <a:ln/>
        </p:spPr>
        <p:txBody>
          <a:bodyPr wrap="square" lIns="0" tIns="0" rIns="0" bIns="0" rtlCol="0" anchor="ctr"/>
          <a:lstStyle/>
          <a:p>
            <a:pPr indent="0" marL="0">
              <a:buNone/>
            </a:pPr>
            <a:r>
              <a:rPr lang="en-US" sz="800" i="1" dirty="0">
                <a:solidFill>
                  <a:srgbClr val="64748B"/>
                </a:solidFill>
                <a:latin typeface="Calibri" pitchFamily="34" charset="0"/>
                <a:ea typeface="Calibri" pitchFamily="34" charset="-122"/>
                <a:cs typeface="Calibri" pitchFamily="34" charset="-120"/>
              </a:rPr>
              <a:t>Equation</a:t>
            </a:r>
            <a:endParaRPr lang="en-US" sz="800" dirty="0"/>
          </a:p>
        </p:txBody>
      </p:sp>
      <p:sp>
        <p:nvSpPr>
          <p:cNvPr id="8" name="Shape 6"/>
          <p:cNvSpPr/>
          <p:nvPr/>
        </p:nvSpPr>
        <p:spPr>
          <a:xfrm>
            <a:off x="5394960" y="1078992"/>
            <a:ext cx="3200400" cy="1005840"/>
          </a:xfrm>
          <a:prstGeom prst="rect">
            <a:avLst/>
          </a:prstGeom>
          <a:solidFill>
            <a:srgbClr val="FFFFFF"/>
          </a:solidFill>
          <a:ln w="6350">
            <a:solidFill>
              <a:srgbClr val="DDE3EC"/>
            </a:solidFill>
            <a:prstDash val="solid"/>
          </a:ln>
        </p:spPr>
      </p:sp>
      <p:sp>
        <p:nvSpPr>
          <p:cNvPr id="9" name="Shape 7"/>
          <p:cNvSpPr/>
          <p:nvPr/>
        </p:nvSpPr>
        <p:spPr>
          <a:xfrm>
            <a:off x="5394960" y="1078992"/>
            <a:ext cx="3200400" cy="64008"/>
          </a:xfrm>
          <a:prstGeom prst="rect">
            <a:avLst/>
          </a:prstGeom>
          <a:solidFill>
            <a:srgbClr val="0D6EAF"/>
          </a:solidFill>
          <a:ln w="12700">
            <a:solidFill>
              <a:srgbClr val="0D6EAF"/>
            </a:solidFill>
            <a:prstDash val="solid"/>
          </a:ln>
        </p:spPr>
      </p:sp>
      <p:sp>
        <p:nvSpPr>
          <p:cNvPr id="10" name="Text 8"/>
          <p:cNvSpPr/>
          <p:nvPr/>
        </p:nvSpPr>
        <p:spPr>
          <a:xfrm>
            <a:off x="5504688" y="1188720"/>
            <a:ext cx="298094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Gate used in firmware</a:t>
            </a:r>
            <a:endParaRPr lang="en-US" sz="1150" dirty="0"/>
          </a:p>
        </p:txBody>
      </p:sp>
      <p:sp>
        <p:nvSpPr>
          <p:cNvPr id="11" name="Text 9"/>
          <p:cNvSpPr/>
          <p:nvPr/>
        </p:nvSpPr>
        <p:spPr>
          <a:xfrm>
            <a:off x="5504688" y="1463040"/>
            <a:ext cx="2980944" cy="512064"/>
          </a:xfrm>
          <a:prstGeom prst="rect">
            <a:avLst/>
          </a:prstGeom>
          <a:noFill/>
          <a:ln/>
        </p:spPr>
        <p:txBody>
          <a:bodyPr wrap="square" lIns="0" tIns="0" rIns="0" bIns="0" rtlCol="0" anchor="ctr">
            <a:normAutofit/>
          </a:bodyPr>
          <a:lstStyle/>
          <a:p>
            <a:pPr indent="0" marL="0">
              <a:buNone/>
            </a:pPr>
            <a:r>
              <a:rPr lang="en-US" sz="1000" dirty="0">
                <a:solidFill>
                  <a:srgbClr val="3D5472"/>
                </a:solidFill>
                <a:latin typeface="Calibri" pitchFamily="34" charset="0"/>
                <a:ea typeface="Calibri" pitchFamily="34" charset="-122"/>
                <a:cs typeface="Calibri" pitchFamily="34" charset="-120"/>
              </a:rPr>
              <a:t>Enable only after 200 ms and only if $|\alpha|&lt;5^\circ$ and $|\dot{\alpha}|&lt;150^\circ/s$</a:t>
            </a:r>
            <a:endParaRPr lang="en-US" sz="1000" dirty="0"/>
          </a:p>
        </p:txBody>
      </p:sp>
      <p:sp>
        <p:nvSpPr>
          <p:cNvPr id="12" name="Shape 10"/>
          <p:cNvSpPr/>
          <p:nvPr/>
        </p:nvSpPr>
        <p:spPr>
          <a:xfrm>
            <a:off x="502920" y="2468880"/>
            <a:ext cx="3886200" cy="1645920"/>
          </a:xfrm>
          <a:prstGeom prst="rect">
            <a:avLst/>
          </a:prstGeom>
          <a:solidFill>
            <a:srgbClr val="FFFFFF"/>
          </a:solidFill>
          <a:ln w="6350">
            <a:solidFill>
              <a:srgbClr val="DDE3EC"/>
            </a:solidFill>
            <a:prstDash val="solid"/>
          </a:ln>
        </p:spPr>
      </p:sp>
      <p:sp>
        <p:nvSpPr>
          <p:cNvPr id="13" name="Shape 11"/>
          <p:cNvSpPr/>
          <p:nvPr/>
        </p:nvSpPr>
        <p:spPr>
          <a:xfrm>
            <a:off x="502920" y="2468880"/>
            <a:ext cx="3886200" cy="64008"/>
          </a:xfrm>
          <a:prstGeom prst="rect">
            <a:avLst/>
          </a:prstGeom>
          <a:solidFill>
            <a:srgbClr val="0D6EAF"/>
          </a:solidFill>
          <a:ln w="12700">
            <a:solidFill>
              <a:srgbClr val="0D6EAF"/>
            </a:solidFill>
            <a:prstDash val="solid"/>
          </a:ln>
        </p:spPr>
      </p:sp>
      <p:sp>
        <p:nvSpPr>
          <p:cNvPr id="14" name="Text 12"/>
          <p:cNvSpPr/>
          <p:nvPr/>
        </p:nvSpPr>
        <p:spPr>
          <a:xfrm>
            <a:off x="612648" y="2578608"/>
            <a:ext cx="366674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Why the blend is needed</a:t>
            </a:r>
            <a:endParaRPr lang="en-US" sz="1150" dirty="0"/>
          </a:p>
        </p:txBody>
      </p:sp>
      <p:sp>
        <p:nvSpPr>
          <p:cNvPr id="15" name="Text 13"/>
          <p:cNvSpPr/>
          <p:nvPr/>
        </p:nvSpPr>
        <p:spPr>
          <a:xfrm>
            <a:off x="612648" y="2852928"/>
            <a:ext cx="3666744" cy="1152144"/>
          </a:xfrm>
          <a:prstGeom prst="rect">
            <a:avLst/>
          </a:prstGeom>
          <a:noFill/>
          <a:ln/>
        </p:spPr>
        <p:txBody>
          <a:bodyPr wrap="square" lIns="0" tIns="0" rIns="0" bIns="0" rtlCol="0" anchor="ctr">
            <a:normAutofit/>
          </a:bodyPr>
          <a:lstStyle/>
          <a:p>
            <a:pPr indent="0" marL="0">
              <a:buNone/>
            </a:pPr>
            <a:r>
              <a:rPr lang="en-US" sz="980" dirty="0">
                <a:solidFill>
                  <a:srgbClr val="3D5472"/>
                </a:solidFill>
                <a:latin typeface="Calibri" pitchFamily="34" charset="0"/>
                <a:ea typeface="Calibri" pitchFamily="34" charset="-122"/>
                <a:cs typeface="Calibri" pitchFamily="34" charset="-120"/>
              </a:rPr>
              <a:t>• A pendulum-only surface does not directly regulate the base position.</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Small biases can make the arm random-walk even while the pendulum stays near upright.</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The extra centering term is therefore a pragmatic fix for drift on the real rig.</a:t>
            </a:r>
            <a:endParaRPr lang="en-US" sz="980" dirty="0"/>
          </a:p>
        </p:txBody>
      </p:sp>
      <p:sp>
        <p:nvSpPr>
          <p:cNvPr id="16" name="Shape 14"/>
          <p:cNvSpPr/>
          <p:nvPr/>
        </p:nvSpPr>
        <p:spPr>
          <a:xfrm>
            <a:off x="4572000" y="2468880"/>
            <a:ext cx="4023360" cy="1645920"/>
          </a:xfrm>
          <a:prstGeom prst="rect">
            <a:avLst/>
          </a:prstGeom>
          <a:solidFill>
            <a:srgbClr val="FFFBEB"/>
          </a:solidFill>
          <a:ln w="6350">
            <a:solidFill>
              <a:srgbClr val="DDE3EC"/>
            </a:solidFill>
            <a:prstDash val="solid"/>
          </a:ln>
        </p:spPr>
      </p:sp>
      <p:sp>
        <p:nvSpPr>
          <p:cNvPr id="17" name="Shape 15"/>
          <p:cNvSpPr/>
          <p:nvPr/>
        </p:nvSpPr>
        <p:spPr>
          <a:xfrm>
            <a:off x="4572000" y="2468880"/>
            <a:ext cx="4023360" cy="64008"/>
          </a:xfrm>
          <a:prstGeom prst="rect">
            <a:avLst/>
          </a:prstGeom>
          <a:solidFill>
            <a:srgbClr val="D97706"/>
          </a:solidFill>
          <a:ln w="12700">
            <a:solidFill>
              <a:srgbClr val="D97706"/>
            </a:solidFill>
            <a:prstDash val="solid"/>
          </a:ln>
        </p:spPr>
      </p:sp>
      <p:sp>
        <p:nvSpPr>
          <p:cNvPr id="18" name="Text 16"/>
          <p:cNvSpPr/>
          <p:nvPr/>
        </p:nvSpPr>
        <p:spPr>
          <a:xfrm>
            <a:off x="4681728" y="2578608"/>
            <a:ext cx="380390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What is special here</a:t>
            </a:r>
            <a:endParaRPr lang="en-US" sz="1150" dirty="0"/>
          </a:p>
        </p:txBody>
      </p:sp>
      <p:sp>
        <p:nvSpPr>
          <p:cNvPr id="19" name="Text 17"/>
          <p:cNvSpPr/>
          <p:nvPr/>
        </p:nvSpPr>
        <p:spPr>
          <a:xfrm>
            <a:off x="4681728" y="2852928"/>
            <a:ext cx="3803904" cy="1152144"/>
          </a:xfrm>
          <a:prstGeom prst="rect">
            <a:avLst/>
          </a:prstGeom>
          <a:noFill/>
          <a:ln/>
        </p:spPr>
        <p:txBody>
          <a:bodyPr wrap="square" lIns="0" tIns="0" rIns="0" bIns="0" rtlCol="0" anchor="ctr">
            <a:normAutofit/>
          </a:bodyPr>
          <a:lstStyle/>
          <a:p>
            <a:pPr indent="0" marL="0">
              <a:buNone/>
            </a:pPr>
            <a:r>
              <a:rPr lang="en-US" sz="1000" dirty="0">
                <a:solidFill>
                  <a:srgbClr val="3D5472"/>
                </a:solidFill>
                <a:latin typeface="Calibri" pitchFamily="34" charset="0"/>
                <a:ea typeface="Calibri" pitchFamily="34" charset="-122"/>
                <a:cs typeface="Calibri" pitchFamily="34" charset="-120"/>
              </a:rPr>
              <a:t>The two control objectives are intentionally decoupled: the SMC law dominates pendulum recovery, while the base-centering action is only allowed to act when the pendulum is already calm enough that the two objectives will not fight each other.</a:t>
            </a:r>
            <a:endParaRPr lang="en-US" sz="1000" dirty="0"/>
          </a:p>
        </p:txBody>
      </p:sp>
      <p:sp>
        <p:nvSpPr>
          <p:cNvPr id="20" name="Text 18"/>
          <p:cNvSpPr/>
          <p:nvPr/>
        </p:nvSpPr>
        <p:spPr>
          <a:xfrm>
            <a:off x="8412480" y="4892040"/>
            <a:ext cx="640080" cy="201168"/>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31 / 38</a:t>
            </a:r>
            <a:endParaRPr lang="en-US" sz="900" dirty="0"/>
          </a:p>
        </p:txBody>
      </p:sp>
      <p:sp>
        <p:nvSpPr>
          <p:cNvPr id="21" name="Shape 19"/>
          <p:cNvSpPr/>
          <p:nvPr/>
        </p:nvSpPr>
        <p:spPr>
          <a:xfrm>
            <a:off x="256032" y="4882896"/>
            <a:ext cx="8631936" cy="36576"/>
          </a:xfrm>
          <a:prstGeom prst="rect">
            <a:avLst/>
          </a:prstGeom>
          <a:solidFill>
            <a:srgbClr val="0D6EAF">
              <a:alpha val="15000"/>
            </a:srgbClr>
          </a:solidFill>
          <a:ln w="12700">
            <a:solidFill>
              <a:srgbClr val="0D6EAF"/>
            </a:solidFill>
            <a:prstDash val="solid"/>
          </a:ln>
        </p:spPr>
      </p:sp>
      <p:sp>
        <p:nvSpPr>
          <p:cNvPr id="22" name="Shape 20"/>
          <p:cNvSpPr/>
          <p:nvPr/>
        </p:nvSpPr>
        <p:spPr>
          <a:xfrm>
            <a:off x="256032" y="4882896"/>
            <a:ext cx="7041843" cy="36576"/>
          </a:xfrm>
          <a:prstGeom prst="rect">
            <a:avLst/>
          </a:prstGeom>
          <a:solidFill>
            <a:srgbClr val="0D6EAF"/>
          </a:solidFill>
          <a:ln w="12700">
            <a:solidFill>
              <a:srgbClr val="0D6EAF"/>
            </a:solidFill>
            <a:prstDash val="solid"/>
          </a:ln>
        </p:spPr>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6F8FA"/>
        </a:solidFill>
      </p:bgPr>
    </p:bg>
    <p:spTree>
      <p:nvGrpSpPr>
        <p:cNvPr id="1" name=""/>
        <p:cNvGrpSpPr/>
        <p:nvPr/>
      </p:nvGrpSpPr>
      <p:grpSpPr>
        <a:xfrm>
          <a:off x="0" y="0"/>
          <a:ext cx="0" cy="0"/>
          <a:chOff x="0" y="0"/>
          <a:chExt cx="0" cy="0"/>
        </a:xfrm>
      </p:grpSpPr>
      <p:sp>
        <p:nvSpPr>
          <p:cNvPr id="2" name="Shape 0"/>
          <p:cNvSpPr/>
          <p:nvPr/>
        </p:nvSpPr>
        <p:spPr>
          <a:xfrm>
            <a:off x="0" y="0"/>
            <a:ext cx="118872" cy="5143500"/>
          </a:xfrm>
          <a:prstGeom prst="rect">
            <a:avLst/>
          </a:prstGeom>
          <a:solidFill>
            <a:srgbClr val="0D6EAF"/>
          </a:solidFill>
          <a:ln w="12700">
            <a:solidFill>
              <a:srgbClr val="0D6EAF"/>
            </a:solidFill>
            <a:prstDash val="solid"/>
          </a:ln>
        </p:spPr>
      </p:sp>
      <p:sp>
        <p:nvSpPr>
          <p:cNvPr id="3" name="Text 1"/>
          <p:cNvSpPr/>
          <p:nvPr/>
        </p:nvSpPr>
        <p:spPr>
          <a:xfrm>
            <a:off x="256032" y="201168"/>
            <a:ext cx="8686800" cy="566928"/>
          </a:xfrm>
          <a:prstGeom prst="rect">
            <a:avLst/>
          </a:prstGeom>
          <a:noFill/>
          <a:ln/>
        </p:spPr>
        <p:txBody>
          <a:bodyPr wrap="square" lIns="0" tIns="0" rIns="0" bIns="0" rtlCol="0" anchor="ctr">
            <a:normAutofit/>
          </a:bodyPr>
          <a:lstStyle/>
          <a:p>
            <a:pPr indent="0" marL="0">
              <a:buNone/>
            </a:pPr>
            <a:r>
              <a:rPr lang="en-US" sz="2600" b="1" dirty="0">
                <a:solidFill>
                  <a:srgbClr val="1B2A4A"/>
                </a:solidFill>
                <a:latin typeface="Calibri" pitchFamily="34" charset="0"/>
                <a:ea typeface="Calibri" pitchFamily="34" charset="-122"/>
                <a:cs typeface="Calibri" pitchFamily="34" charset="-120"/>
              </a:rPr>
              <a:t>Hybrid SMC Performance</a:t>
            </a:r>
            <a:endParaRPr lang="en-US" sz="2600" dirty="0"/>
          </a:p>
        </p:txBody>
      </p:sp>
      <p:sp>
        <p:nvSpPr>
          <p:cNvPr id="4" name="Text 2"/>
          <p:cNvSpPr/>
          <p:nvPr/>
        </p:nvSpPr>
        <p:spPr>
          <a:xfrm>
            <a:off x="256032" y="768096"/>
            <a:ext cx="8686800" cy="274320"/>
          </a:xfrm>
          <a:prstGeom prst="rect">
            <a:avLst/>
          </a:prstGeom>
          <a:noFill/>
          <a:ln/>
        </p:spPr>
        <p:txBody>
          <a:bodyPr wrap="square" lIns="0" tIns="0" rIns="0" bIns="0" rtlCol="0" anchor="ctr">
            <a:normAutofit/>
          </a:bodyPr>
          <a:lstStyle/>
          <a:p>
            <a:pPr indent="0" marL="0">
              <a:buNone/>
            </a:pPr>
            <a:r>
              <a:rPr lang="en-US" sz="1200" i="1" dirty="0">
                <a:solidFill>
                  <a:srgbClr val="64748B"/>
                </a:solidFill>
                <a:latin typeface="Calibri" pitchFamily="34" charset="0"/>
                <a:ea typeface="Calibri" pitchFamily="34" charset="-122"/>
                <a:cs typeface="Calibri" pitchFamily="34" charset="-120"/>
              </a:rPr>
              <a:t>The hybrid SMC suppresses peak excursions well in the pinned hold run, but the tap run shows the practical limit of aggressive recovery on this stepper platform.</a:t>
            </a:r>
            <a:endParaRPr lang="en-US" sz="1200" dirty="0"/>
          </a:p>
        </p:txBody>
      </p:sp>
      <p:sp>
        <p:nvSpPr>
          <p:cNvPr id="5" name="Shape 3"/>
          <p:cNvSpPr/>
          <p:nvPr/>
        </p:nvSpPr>
        <p:spPr>
          <a:xfrm>
            <a:off x="256032" y="822960"/>
            <a:ext cx="8631936" cy="0"/>
          </a:xfrm>
          <a:prstGeom prst="line">
            <a:avLst/>
          </a:prstGeom>
          <a:noFill/>
          <a:ln w="9525">
            <a:solidFill>
              <a:srgbClr val="DDE3EC"/>
            </a:solidFill>
            <a:prstDash val="solid"/>
          </a:ln>
        </p:spPr>
      </p:sp>
      <p:sp>
        <p:nvSpPr>
          <p:cNvPr id="6" name="Shape 4"/>
          <p:cNvSpPr/>
          <p:nvPr/>
        </p:nvSpPr>
        <p:spPr>
          <a:xfrm>
            <a:off x="502920" y="1078992"/>
            <a:ext cx="3977640" cy="1828800"/>
          </a:xfrm>
          <a:prstGeom prst="rect">
            <a:avLst/>
          </a:prstGeom>
          <a:solidFill>
            <a:srgbClr val="FFFFFF"/>
          </a:solidFill>
          <a:ln w="6350">
            <a:solidFill>
              <a:srgbClr val="DDE3EC"/>
            </a:solidFill>
            <a:prstDash val="solid"/>
          </a:ln>
        </p:spPr>
      </p:sp>
      <p:sp>
        <p:nvSpPr>
          <p:cNvPr id="7" name="Text 5"/>
          <p:cNvSpPr/>
          <p:nvPr/>
        </p:nvSpPr>
        <p:spPr>
          <a:xfrm>
            <a:off x="576072" y="1133856"/>
            <a:ext cx="914400" cy="146304"/>
          </a:xfrm>
          <a:prstGeom prst="rect">
            <a:avLst/>
          </a:prstGeom>
          <a:noFill/>
          <a:ln/>
        </p:spPr>
        <p:txBody>
          <a:bodyPr wrap="square" lIns="0" tIns="0" rIns="0" bIns="0" rtlCol="0" anchor="ctr"/>
          <a:lstStyle/>
          <a:p>
            <a:pPr indent="0" marL="0">
              <a:buNone/>
            </a:pPr>
            <a:r>
              <a:rPr lang="en-US" sz="800" i="1" dirty="0">
                <a:solidFill>
                  <a:srgbClr val="64748B"/>
                </a:solidFill>
                <a:latin typeface="Calibri" pitchFamily="34" charset="0"/>
                <a:ea typeface="Calibri" pitchFamily="34" charset="-122"/>
                <a:cs typeface="Calibri" pitchFamily="34" charset="-120"/>
              </a:rPr>
              <a:t>Figure</a:t>
            </a:r>
            <a:endParaRPr lang="en-US" sz="800" dirty="0"/>
          </a:p>
        </p:txBody>
      </p:sp>
      <p:sp>
        <p:nvSpPr>
          <p:cNvPr id="8" name="Shape 6"/>
          <p:cNvSpPr/>
          <p:nvPr/>
        </p:nvSpPr>
        <p:spPr>
          <a:xfrm>
            <a:off x="4617720" y="1078992"/>
            <a:ext cx="3977640" cy="1828800"/>
          </a:xfrm>
          <a:prstGeom prst="rect">
            <a:avLst/>
          </a:prstGeom>
          <a:solidFill>
            <a:srgbClr val="FFFFFF"/>
          </a:solidFill>
          <a:ln w="6350">
            <a:solidFill>
              <a:srgbClr val="DDE3EC"/>
            </a:solidFill>
            <a:prstDash val="solid"/>
          </a:ln>
        </p:spPr>
      </p:sp>
      <p:sp>
        <p:nvSpPr>
          <p:cNvPr id="9" name="Text 7"/>
          <p:cNvSpPr/>
          <p:nvPr/>
        </p:nvSpPr>
        <p:spPr>
          <a:xfrm>
            <a:off x="4690872" y="1133856"/>
            <a:ext cx="914400" cy="146304"/>
          </a:xfrm>
          <a:prstGeom prst="rect">
            <a:avLst/>
          </a:prstGeom>
          <a:noFill/>
          <a:ln/>
        </p:spPr>
        <p:txBody>
          <a:bodyPr wrap="square" lIns="0" tIns="0" rIns="0" bIns="0" rtlCol="0" anchor="ctr"/>
          <a:lstStyle/>
          <a:p>
            <a:pPr indent="0" marL="0">
              <a:buNone/>
            </a:pPr>
            <a:r>
              <a:rPr lang="en-US" sz="800" i="1" dirty="0">
                <a:solidFill>
                  <a:srgbClr val="64748B"/>
                </a:solidFill>
                <a:latin typeface="Calibri" pitchFamily="34" charset="0"/>
                <a:ea typeface="Calibri" pitchFamily="34" charset="-122"/>
                <a:cs typeface="Calibri" pitchFamily="34" charset="-120"/>
              </a:rPr>
              <a:t>Figure</a:t>
            </a:r>
            <a:endParaRPr lang="en-US" sz="800" dirty="0"/>
          </a:p>
        </p:txBody>
      </p:sp>
      <p:sp>
        <p:nvSpPr>
          <p:cNvPr id="10" name="Text 8"/>
          <p:cNvSpPr/>
          <p:nvPr/>
        </p:nvSpPr>
        <p:spPr>
          <a:xfrm>
            <a:off x="1234440" y="2926080"/>
            <a:ext cx="2560320" cy="201168"/>
          </a:xfrm>
          <a:prstGeom prst="rect">
            <a:avLst/>
          </a:prstGeom>
          <a:noFill/>
          <a:ln/>
        </p:spPr>
        <p:txBody>
          <a:bodyPr wrap="square" lIns="0" tIns="0" rIns="0" bIns="0" rtlCol="0" anchor="t">
            <a:normAutofit/>
          </a:bodyPr>
          <a:lstStyle/>
          <a:p>
            <a:pPr algn="ctr" indent="0" marL="0">
              <a:buNone/>
            </a:pPr>
            <a:r>
              <a:rPr lang="en-US" sz="900" i="1" dirty="0">
                <a:solidFill>
                  <a:srgbClr val="64748B"/>
                </a:solidFill>
                <a:latin typeface="Calibri" pitchFamily="34" charset="0"/>
                <a:ea typeface="Calibri" pitchFamily="34" charset="-122"/>
                <a:cs typeface="Calibri" pitchFamily="34" charset="-120"/>
              </a:rPr>
              <a:t>Hold run H2</a:t>
            </a:r>
            <a:endParaRPr lang="en-US" sz="900" dirty="0"/>
          </a:p>
        </p:txBody>
      </p:sp>
      <p:sp>
        <p:nvSpPr>
          <p:cNvPr id="11" name="Text 9"/>
          <p:cNvSpPr/>
          <p:nvPr/>
        </p:nvSpPr>
        <p:spPr>
          <a:xfrm>
            <a:off x="5349240" y="2926080"/>
            <a:ext cx="2560320" cy="201168"/>
          </a:xfrm>
          <a:prstGeom prst="rect">
            <a:avLst/>
          </a:prstGeom>
          <a:noFill/>
          <a:ln/>
        </p:spPr>
        <p:txBody>
          <a:bodyPr wrap="square" lIns="0" tIns="0" rIns="0" bIns="0" rtlCol="0" anchor="t">
            <a:normAutofit/>
          </a:bodyPr>
          <a:lstStyle/>
          <a:p>
            <a:pPr algn="ctr" indent="0" marL="0">
              <a:buNone/>
            </a:pPr>
            <a:r>
              <a:rPr lang="en-US" sz="900" i="1" dirty="0">
                <a:solidFill>
                  <a:srgbClr val="64748B"/>
                </a:solidFill>
                <a:latin typeface="Calibri" pitchFamily="34" charset="0"/>
                <a:ea typeface="Calibri" pitchFamily="34" charset="-122"/>
                <a:cs typeface="Calibri" pitchFamily="34" charset="-120"/>
              </a:rPr>
              <a:t>Tap run T2</a:t>
            </a:r>
            <a:endParaRPr lang="en-US" sz="900" dirty="0"/>
          </a:p>
        </p:txBody>
      </p:sp>
      <p:sp>
        <p:nvSpPr>
          <p:cNvPr id="12" name="Shape 10"/>
          <p:cNvSpPr/>
          <p:nvPr/>
        </p:nvSpPr>
        <p:spPr>
          <a:xfrm>
            <a:off x="502920" y="3246120"/>
            <a:ext cx="8092440" cy="914400"/>
          </a:xfrm>
          <a:prstGeom prst="rect">
            <a:avLst/>
          </a:prstGeom>
          <a:solidFill>
            <a:srgbClr val="FFFBEB"/>
          </a:solidFill>
          <a:ln w="6350">
            <a:solidFill>
              <a:srgbClr val="DDE3EC"/>
            </a:solidFill>
            <a:prstDash val="solid"/>
          </a:ln>
        </p:spPr>
      </p:sp>
      <p:sp>
        <p:nvSpPr>
          <p:cNvPr id="13" name="Shape 11"/>
          <p:cNvSpPr/>
          <p:nvPr/>
        </p:nvSpPr>
        <p:spPr>
          <a:xfrm>
            <a:off x="502920" y="3246120"/>
            <a:ext cx="8092440" cy="64008"/>
          </a:xfrm>
          <a:prstGeom prst="rect">
            <a:avLst/>
          </a:prstGeom>
          <a:solidFill>
            <a:srgbClr val="D97706"/>
          </a:solidFill>
          <a:ln w="12700">
            <a:solidFill>
              <a:srgbClr val="D97706"/>
            </a:solidFill>
            <a:prstDash val="solid"/>
          </a:ln>
        </p:spPr>
      </p:sp>
      <p:sp>
        <p:nvSpPr>
          <p:cNvPr id="14" name="Text 12"/>
          <p:cNvSpPr/>
          <p:nvPr/>
        </p:nvSpPr>
        <p:spPr>
          <a:xfrm>
            <a:off x="612648" y="3355848"/>
            <a:ext cx="787298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Readout</a:t>
            </a:r>
            <a:endParaRPr lang="en-US" sz="1150" dirty="0"/>
          </a:p>
        </p:txBody>
      </p:sp>
      <p:sp>
        <p:nvSpPr>
          <p:cNvPr id="15" name="Text 13"/>
          <p:cNvSpPr/>
          <p:nvPr/>
        </p:nvSpPr>
        <p:spPr>
          <a:xfrm>
            <a:off x="612648" y="3630168"/>
            <a:ext cx="7872984" cy="420624"/>
          </a:xfrm>
          <a:prstGeom prst="rect">
            <a:avLst/>
          </a:prstGeom>
          <a:noFill/>
          <a:ln/>
        </p:spPr>
        <p:txBody>
          <a:bodyPr wrap="square" lIns="0" tIns="0" rIns="0" bIns="0" rtlCol="0" anchor="ctr">
            <a:normAutofit/>
          </a:bodyPr>
          <a:lstStyle/>
          <a:p>
            <a:pPr indent="0" marL="0">
              <a:buNone/>
            </a:pPr>
            <a:r>
              <a:rPr lang="en-US" sz="1000" dirty="0">
                <a:solidFill>
                  <a:srgbClr val="3D5472"/>
                </a:solidFill>
                <a:latin typeface="Calibri" pitchFamily="34" charset="0"/>
                <a:ea typeface="Calibri" pitchFamily="34" charset="-122"/>
                <a:cs typeface="Calibri" pitchFamily="34" charset="-120"/>
              </a:rPr>
              <a:t>In the pinned hold run the hybrid SMC gives the smallest max |α| and max |θ|. In the pinned tap run it eventually falls, which is consistent with the platform-level limitation that the controller can demand recovery harder than the open-loop stepper can realize.</a:t>
            </a:r>
            <a:endParaRPr lang="en-US" sz="1000" dirty="0"/>
          </a:p>
        </p:txBody>
      </p:sp>
      <p:sp>
        <p:nvSpPr>
          <p:cNvPr id="16" name="Text 14"/>
          <p:cNvSpPr/>
          <p:nvPr/>
        </p:nvSpPr>
        <p:spPr>
          <a:xfrm>
            <a:off x="8412480" y="4892040"/>
            <a:ext cx="640080" cy="201168"/>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32 / 38</a:t>
            </a:r>
            <a:endParaRPr lang="en-US" sz="900" dirty="0"/>
          </a:p>
        </p:txBody>
      </p:sp>
      <p:sp>
        <p:nvSpPr>
          <p:cNvPr id="17" name="Shape 15"/>
          <p:cNvSpPr/>
          <p:nvPr/>
        </p:nvSpPr>
        <p:spPr>
          <a:xfrm>
            <a:off x="256032" y="4882896"/>
            <a:ext cx="8631936" cy="36576"/>
          </a:xfrm>
          <a:prstGeom prst="rect">
            <a:avLst/>
          </a:prstGeom>
          <a:solidFill>
            <a:srgbClr val="0D6EAF">
              <a:alpha val="15000"/>
            </a:srgbClr>
          </a:solidFill>
          <a:ln w="12700">
            <a:solidFill>
              <a:srgbClr val="0D6EAF"/>
            </a:solidFill>
            <a:prstDash val="solid"/>
          </a:ln>
        </p:spPr>
      </p:sp>
      <p:sp>
        <p:nvSpPr>
          <p:cNvPr id="18" name="Shape 16"/>
          <p:cNvSpPr/>
          <p:nvPr/>
        </p:nvSpPr>
        <p:spPr>
          <a:xfrm>
            <a:off x="256032" y="4882896"/>
            <a:ext cx="7268999" cy="36576"/>
          </a:xfrm>
          <a:prstGeom prst="rect">
            <a:avLst/>
          </a:prstGeom>
          <a:solidFill>
            <a:srgbClr val="0D6EAF"/>
          </a:solidFill>
          <a:ln w="12700">
            <a:solidFill>
              <a:srgbClr val="0D6EAF"/>
            </a:solidFill>
            <a:prstDash val="solid"/>
          </a:ln>
        </p:spPr>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BEB"/>
        </a:solidFill>
      </p:bgPr>
    </p:bg>
    <p:spTree>
      <p:nvGrpSpPr>
        <p:cNvPr id="1" name=""/>
        <p:cNvGrpSpPr/>
        <p:nvPr/>
      </p:nvGrpSpPr>
      <p:grpSpPr>
        <a:xfrm>
          <a:off x="0" y="0"/>
          <a:ext cx="0" cy="0"/>
          <a:chOff x="0" y="0"/>
          <a:chExt cx="0" cy="0"/>
        </a:xfrm>
      </p:grpSpPr>
      <p:sp>
        <p:nvSpPr>
          <p:cNvPr id="2" name="Shape 0"/>
          <p:cNvSpPr/>
          <p:nvPr/>
        </p:nvSpPr>
        <p:spPr>
          <a:xfrm>
            <a:off x="0" y="0"/>
            <a:ext cx="118872" cy="5143500"/>
          </a:xfrm>
          <a:prstGeom prst="rect">
            <a:avLst/>
          </a:prstGeom>
          <a:solidFill>
            <a:srgbClr val="D97706"/>
          </a:solidFill>
          <a:ln w="12700">
            <a:solidFill>
              <a:srgbClr val="D97706"/>
            </a:solidFill>
            <a:prstDash val="solid"/>
          </a:ln>
        </p:spPr>
      </p:sp>
      <p:sp>
        <p:nvSpPr>
          <p:cNvPr id="3" name="Shape 1"/>
          <p:cNvSpPr/>
          <p:nvPr/>
        </p:nvSpPr>
        <p:spPr>
          <a:xfrm>
            <a:off x="6263640" y="182880"/>
            <a:ext cx="2651760" cy="320040"/>
          </a:xfrm>
          <a:prstGeom prst="rect">
            <a:avLst/>
          </a:prstGeom>
          <a:solidFill>
            <a:srgbClr val="D97706"/>
          </a:solidFill>
          <a:ln w="12700">
            <a:solidFill>
              <a:srgbClr val="D97706"/>
            </a:solidFill>
            <a:prstDash val="solid"/>
          </a:ln>
        </p:spPr>
      </p:sp>
      <p:sp>
        <p:nvSpPr>
          <p:cNvPr id="4" name="Text 2"/>
          <p:cNvSpPr/>
          <p:nvPr/>
        </p:nvSpPr>
        <p:spPr>
          <a:xfrm>
            <a:off x="6263640" y="182880"/>
            <a:ext cx="2651760"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KEY CONTRIBUTION</a:t>
            </a:r>
            <a:endParaRPr lang="en-US" sz="900" dirty="0"/>
          </a:p>
        </p:txBody>
      </p:sp>
      <p:sp>
        <p:nvSpPr>
          <p:cNvPr id="5" name="Text 3"/>
          <p:cNvSpPr/>
          <p:nvPr/>
        </p:nvSpPr>
        <p:spPr>
          <a:xfrm>
            <a:off x="256032" y="201168"/>
            <a:ext cx="5925312" cy="566928"/>
          </a:xfrm>
          <a:prstGeom prst="rect">
            <a:avLst/>
          </a:prstGeom>
          <a:noFill/>
          <a:ln/>
        </p:spPr>
        <p:txBody>
          <a:bodyPr wrap="square" lIns="0" tIns="0" rIns="0" bIns="0" rtlCol="0" anchor="ctr">
            <a:normAutofit/>
          </a:bodyPr>
          <a:lstStyle/>
          <a:p>
            <a:pPr indent="0" marL="0">
              <a:buNone/>
            </a:pPr>
            <a:r>
              <a:rPr lang="en-US" sz="2200" b="1" dirty="0">
                <a:solidFill>
                  <a:srgbClr val="1B2A4A"/>
                </a:solidFill>
                <a:latin typeface="Calibri" pitchFamily="34" charset="0"/>
                <a:ea typeface="Calibri" pitchFamily="34" charset="-122"/>
                <a:cs typeface="Calibri" pitchFamily="34" charset="-120"/>
              </a:rPr>
              <a:t>Full-State SMC: Unified Sliding Surface</a:t>
            </a:r>
            <a:endParaRPr lang="en-US" sz="2200" dirty="0"/>
          </a:p>
        </p:txBody>
      </p:sp>
      <p:sp>
        <p:nvSpPr>
          <p:cNvPr id="6" name="Text 4"/>
          <p:cNvSpPr/>
          <p:nvPr/>
        </p:nvSpPr>
        <p:spPr>
          <a:xfrm>
            <a:off x="256032" y="768096"/>
            <a:ext cx="8686800" cy="274320"/>
          </a:xfrm>
          <a:prstGeom prst="rect">
            <a:avLst/>
          </a:prstGeom>
          <a:noFill/>
          <a:ln/>
        </p:spPr>
        <p:txBody>
          <a:bodyPr wrap="square" lIns="0" tIns="0" rIns="0" bIns="0" rtlCol="0" anchor="ctr">
            <a:normAutofit/>
          </a:bodyPr>
          <a:lstStyle/>
          <a:p>
            <a:pPr indent="0" marL="0">
              <a:buNone/>
            </a:pPr>
            <a:r>
              <a:rPr lang="en-US" sz="1200" i="1" dirty="0">
                <a:solidFill>
                  <a:srgbClr val="64748B"/>
                </a:solidFill>
                <a:latin typeface="Calibri" pitchFamily="34" charset="0"/>
                <a:ea typeface="Calibri" pitchFamily="34" charset="-122"/>
                <a:cs typeface="Calibri" pitchFamily="34" charset="-120"/>
              </a:rPr>
              <a:t>The third controller encodes pendulum and base objectives in one scalar sliding manifold instead of separating them.</a:t>
            </a:r>
            <a:endParaRPr lang="en-US" sz="1200" dirty="0"/>
          </a:p>
        </p:txBody>
      </p:sp>
      <p:sp>
        <p:nvSpPr>
          <p:cNvPr id="7" name="Shape 5"/>
          <p:cNvSpPr/>
          <p:nvPr/>
        </p:nvSpPr>
        <p:spPr>
          <a:xfrm>
            <a:off x="256032" y="822960"/>
            <a:ext cx="8631936" cy="0"/>
          </a:xfrm>
          <a:prstGeom prst="line">
            <a:avLst/>
          </a:prstGeom>
          <a:noFill/>
          <a:ln w="9525">
            <a:solidFill>
              <a:srgbClr val="D97706"/>
            </a:solidFill>
            <a:prstDash val="solid"/>
          </a:ln>
        </p:spPr>
      </p:sp>
      <p:sp>
        <p:nvSpPr>
          <p:cNvPr id="8" name="Shape 6"/>
          <p:cNvSpPr/>
          <p:nvPr/>
        </p:nvSpPr>
        <p:spPr>
          <a:xfrm>
            <a:off x="685800" y="1170432"/>
            <a:ext cx="4937760" cy="594360"/>
          </a:xfrm>
          <a:prstGeom prst="rect">
            <a:avLst/>
          </a:prstGeom>
          <a:solidFill>
            <a:srgbClr val="FFFFFF"/>
          </a:solidFill>
          <a:ln w="6350">
            <a:solidFill>
              <a:srgbClr val="DDE3EC"/>
            </a:solidFill>
            <a:prstDash val="solid"/>
          </a:ln>
        </p:spPr>
      </p:sp>
      <p:sp>
        <p:nvSpPr>
          <p:cNvPr id="9" name="Text 7"/>
          <p:cNvSpPr/>
          <p:nvPr/>
        </p:nvSpPr>
        <p:spPr>
          <a:xfrm>
            <a:off x="758952" y="1225296"/>
            <a:ext cx="914400" cy="146304"/>
          </a:xfrm>
          <a:prstGeom prst="rect">
            <a:avLst/>
          </a:prstGeom>
          <a:noFill/>
          <a:ln/>
        </p:spPr>
        <p:txBody>
          <a:bodyPr wrap="square" lIns="0" tIns="0" rIns="0" bIns="0" rtlCol="0" anchor="ctr"/>
          <a:lstStyle/>
          <a:p>
            <a:pPr indent="0" marL="0">
              <a:buNone/>
            </a:pPr>
            <a:r>
              <a:rPr lang="en-US" sz="800" i="1" dirty="0">
                <a:solidFill>
                  <a:srgbClr val="64748B"/>
                </a:solidFill>
                <a:latin typeface="Calibri" pitchFamily="34" charset="0"/>
                <a:ea typeface="Calibri" pitchFamily="34" charset="-122"/>
                <a:cs typeface="Calibri" pitchFamily="34" charset="-120"/>
              </a:rPr>
              <a:t>Equation</a:t>
            </a:r>
            <a:endParaRPr lang="en-US" sz="800" dirty="0"/>
          </a:p>
        </p:txBody>
      </p:sp>
      <p:sp>
        <p:nvSpPr>
          <p:cNvPr id="10" name="Shape 8"/>
          <p:cNvSpPr/>
          <p:nvPr/>
        </p:nvSpPr>
        <p:spPr>
          <a:xfrm>
            <a:off x="5852160" y="1078992"/>
            <a:ext cx="2743200" cy="1051560"/>
          </a:xfrm>
          <a:prstGeom prst="rect">
            <a:avLst/>
          </a:prstGeom>
          <a:solidFill>
            <a:srgbClr val="FFFFFF"/>
          </a:solidFill>
          <a:ln w="6350">
            <a:solidFill>
              <a:srgbClr val="DDE3EC"/>
            </a:solidFill>
            <a:prstDash val="solid"/>
          </a:ln>
        </p:spPr>
      </p:sp>
      <p:sp>
        <p:nvSpPr>
          <p:cNvPr id="11" name="Shape 9"/>
          <p:cNvSpPr/>
          <p:nvPr/>
        </p:nvSpPr>
        <p:spPr>
          <a:xfrm>
            <a:off x="5852160" y="1078992"/>
            <a:ext cx="2743200" cy="64008"/>
          </a:xfrm>
          <a:prstGeom prst="rect">
            <a:avLst/>
          </a:prstGeom>
          <a:solidFill>
            <a:srgbClr val="0D6EAF"/>
          </a:solidFill>
          <a:ln w="12700">
            <a:solidFill>
              <a:srgbClr val="0D6EAF"/>
            </a:solidFill>
            <a:prstDash val="solid"/>
          </a:ln>
        </p:spPr>
      </p:sp>
      <p:sp>
        <p:nvSpPr>
          <p:cNvPr id="12" name="Text 10"/>
          <p:cNvSpPr/>
          <p:nvPr/>
        </p:nvSpPr>
        <p:spPr>
          <a:xfrm>
            <a:off x="5961888" y="1188720"/>
            <a:ext cx="252374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Pinned parameters</a:t>
            </a:r>
            <a:endParaRPr lang="en-US" sz="1150" dirty="0"/>
          </a:p>
        </p:txBody>
      </p:sp>
      <p:sp>
        <p:nvSpPr>
          <p:cNvPr id="13" name="Text 11"/>
          <p:cNvSpPr/>
          <p:nvPr/>
        </p:nvSpPr>
        <p:spPr>
          <a:xfrm>
            <a:off x="5961888" y="1463040"/>
            <a:ext cx="2523744" cy="557784"/>
          </a:xfrm>
          <a:prstGeom prst="rect">
            <a:avLst/>
          </a:prstGeom>
          <a:noFill/>
          <a:ln/>
        </p:spPr>
        <p:txBody>
          <a:bodyPr wrap="square" lIns="0" tIns="0" rIns="0" bIns="0" rtlCol="0" anchor="ctr">
            <a:normAutofit/>
          </a:bodyPr>
          <a:lstStyle/>
          <a:p>
            <a:pPr indent="0" marL="0">
              <a:buNone/>
            </a:pPr>
            <a:r>
              <a:rPr lang="en-US" sz="1000" dirty="0">
                <a:solidFill>
                  <a:srgbClr val="3D5472"/>
                </a:solidFill>
                <a:latin typeface="Calibri" pitchFamily="34" charset="0"/>
                <a:ea typeface="Calibri" pitchFamily="34" charset="-122"/>
                <a:cs typeface="Calibri" pitchFamily="34" charset="-120"/>
              </a:rPr>
              <a:t>$\lambda_{\alpha}=15,\ \lambda_{\theta}=2,\ k=0.5,\ K=800,\ \phi=50$</a:t>
            </a:r>
            <a:endParaRPr lang="en-US" sz="1000" dirty="0"/>
          </a:p>
        </p:txBody>
      </p:sp>
      <p:sp>
        <p:nvSpPr>
          <p:cNvPr id="14" name="Shape 12"/>
          <p:cNvSpPr/>
          <p:nvPr/>
        </p:nvSpPr>
        <p:spPr>
          <a:xfrm>
            <a:off x="502920" y="2468880"/>
            <a:ext cx="3886200" cy="1645920"/>
          </a:xfrm>
          <a:prstGeom prst="rect">
            <a:avLst/>
          </a:prstGeom>
          <a:solidFill>
            <a:srgbClr val="FFFFFF"/>
          </a:solidFill>
          <a:ln w="6350">
            <a:solidFill>
              <a:srgbClr val="DDE3EC"/>
            </a:solidFill>
            <a:prstDash val="solid"/>
          </a:ln>
        </p:spPr>
      </p:sp>
      <p:sp>
        <p:nvSpPr>
          <p:cNvPr id="15" name="Shape 13"/>
          <p:cNvSpPr/>
          <p:nvPr/>
        </p:nvSpPr>
        <p:spPr>
          <a:xfrm>
            <a:off x="502920" y="2468880"/>
            <a:ext cx="3886200" cy="64008"/>
          </a:xfrm>
          <a:prstGeom prst="rect">
            <a:avLst/>
          </a:prstGeom>
          <a:solidFill>
            <a:srgbClr val="0D6EAF"/>
          </a:solidFill>
          <a:ln w="12700">
            <a:solidFill>
              <a:srgbClr val="0D6EAF"/>
            </a:solidFill>
            <a:prstDash val="solid"/>
          </a:ln>
        </p:spPr>
      </p:sp>
      <p:sp>
        <p:nvSpPr>
          <p:cNvPr id="16" name="Text 14"/>
          <p:cNvSpPr/>
          <p:nvPr/>
        </p:nvSpPr>
        <p:spPr>
          <a:xfrm>
            <a:off x="612648" y="2578608"/>
            <a:ext cx="366674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Interpretation of the new terms</a:t>
            </a:r>
            <a:endParaRPr lang="en-US" sz="1150" dirty="0"/>
          </a:p>
        </p:txBody>
      </p:sp>
      <p:sp>
        <p:nvSpPr>
          <p:cNvPr id="17" name="Text 15"/>
          <p:cNvSpPr/>
          <p:nvPr/>
        </p:nvSpPr>
        <p:spPr>
          <a:xfrm>
            <a:off x="612648" y="2852928"/>
            <a:ext cx="3666744" cy="1152144"/>
          </a:xfrm>
          <a:prstGeom prst="rect">
            <a:avLst/>
          </a:prstGeom>
          <a:noFill/>
          <a:ln/>
        </p:spPr>
        <p:txBody>
          <a:bodyPr wrap="square" lIns="0" tIns="0" rIns="0" bIns="0" rtlCol="0" anchor="ctr">
            <a:normAutofit/>
          </a:bodyPr>
          <a:lstStyle/>
          <a:p>
            <a:pPr indent="0" marL="0">
              <a:buNone/>
            </a:pPr>
            <a:r>
              <a:rPr lang="en-US" sz="980" dirty="0">
                <a:solidFill>
                  <a:srgbClr val="3D5472"/>
                </a:solidFill>
                <a:latin typeface="Calibri" pitchFamily="34" charset="0"/>
                <a:ea typeface="Calibri" pitchFamily="34" charset="-122"/>
                <a:cs typeface="Calibri" pitchFamily="34" charset="-120"/>
              </a:rPr>
              <a:t>• $\lambda_{\alpha}$ shapes pendulum decay on the surface</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$\lambda_{\theta}$ shapes base error decay</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$k$ couples base tracking into the sliding condition</a:t>
            </a:r>
            <a:endParaRPr lang="en-US" sz="980" dirty="0"/>
          </a:p>
        </p:txBody>
      </p:sp>
      <p:sp>
        <p:nvSpPr>
          <p:cNvPr id="18" name="Shape 16"/>
          <p:cNvSpPr/>
          <p:nvPr/>
        </p:nvSpPr>
        <p:spPr>
          <a:xfrm>
            <a:off x="4572000" y="2468880"/>
            <a:ext cx="4023360" cy="1645920"/>
          </a:xfrm>
          <a:prstGeom prst="rect">
            <a:avLst/>
          </a:prstGeom>
          <a:solidFill>
            <a:srgbClr val="FFFBEB"/>
          </a:solidFill>
          <a:ln w="6350">
            <a:solidFill>
              <a:srgbClr val="DDE3EC"/>
            </a:solidFill>
            <a:prstDash val="solid"/>
          </a:ln>
        </p:spPr>
      </p:sp>
      <p:sp>
        <p:nvSpPr>
          <p:cNvPr id="19" name="Shape 17"/>
          <p:cNvSpPr/>
          <p:nvPr/>
        </p:nvSpPr>
        <p:spPr>
          <a:xfrm>
            <a:off x="4572000" y="2468880"/>
            <a:ext cx="4023360" cy="64008"/>
          </a:xfrm>
          <a:prstGeom prst="rect">
            <a:avLst/>
          </a:prstGeom>
          <a:solidFill>
            <a:srgbClr val="D97706"/>
          </a:solidFill>
          <a:ln w="12700">
            <a:solidFill>
              <a:srgbClr val="D97706"/>
            </a:solidFill>
            <a:prstDash val="solid"/>
          </a:ln>
        </p:spPr>
      </p:sp>
      <p:sp>
        <p:nvSpPr>
          <p:cNvPr id="20" name="Text 18"/>
          <p:cNvSpPr/>
          <p:nvPr/>
        </p:nvSpPr>
        <p:spPr>
          <a:xfrm>
            <a:off x="4681728" y="2578608"/>
            <a:ext cx="380390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What is special here</a:t>
            </a:r>
            <a:endParaRPr lang="en-US" sz="1150" dirty="0"/>
          </a:p>
        </p:txBody>
      </p:sp>
      <p:sp>
        <p:nvSpPr>
          <p:cNvPr id="21" name="Text 19"/>
          <p:cNvSpPr/>
          <p:nvPr/>
        </p:nvSpPr>
        <p:spPr>
          <a:xfrm>
            <a:off x="4681728" y="2852928"/>
            <a:ext cx="3803904" cy="1152144"/>
          </a:xfrm>
          <a:prstGeom prst="rect">
            <a:avLst/>
          </a:prstGeom>
          <a:noFill/>
          <a:ln/>
        </p:spPr>
        <p:txBody>
          <a:bodyPr wrap="square" lIns="0" tIns="0" rIns="0" bIns="0" rtlCol="0" anchor="ctr">
            <a:normAutofit/>
          </a:bodyPr>
          <a:lstStyle/>
          <a:p>
            <a:pPr indent="0" marL="0">
              <a:buNone/>
            </a:pPr>
            <a:r>
              <a:rPr lang="en-US" sz="980" dirty="0">
                <a:solidFill>
                  <a:srgbClr val="3D5472"/>
                </a:solidFill>
                <a:latin typeface="Calibri" pitchFamily="34" charset="0"/>
                <a:ea typeface="Calibri" pitchFamily="34" charset="-122"/>
                <a:cs typeface="Calibri" pitchFamily="34" charset="-120"/>
              </a:rPr>
              <a:t>• Pendulum stabilization and base tracking are no longer separate objectives blended later.</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The denominator of the control law now depends directly on k, which makes safety analysis much more important.</a:t>
            </a:r>
            <a:endParaRPr lang="en-US" sz="980" dirty="0"/>
          </a:p>
        </p:txBody>
      </p:sp>
      <p:sp>
        <p:nvSpPr>
          <p:cNvPr id="22" name="Text 20"/>
          <p:cNvSpPr/>
          <p:nvPr/>
        </p:nvSpPr>
        <p:spPr>
          <a:xfrm>
            <a:off x="8412480" y="4892040"/>
            <a:ext cx="640080" cy="201168"/>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33 / 38</a:t>
            </a:r>
            <a:endParaRPr lang="en-US" sz="900" dirty="0"/>
          </a:p>
        </p:txBody>
      </p:sp>
      <p:sp>
        <p:nvSpPr>
          <p:cNvPr id="23" name="Shape 21"/>
          <p:cNvSpPr/>
          <p:nvPr/>
        </p:nvSpPr>
        <p:spPr>
          <a:xfrm>
            <a:off x="256032" y="4882896"/>
            <a:ext cx="8631936" cy="36576"/>
          </a:xfrm>
          <a:prstGeom prst="rect">
            <a:avLst/>
          </a:prstGeom>
          <a:solidFill>
            <a:srgbClr val="D97706">
              <a:alpha val="15000"/>
            </a:srgbClr>
          </a:solidFill>
          <a:ln w="12700">
            <a:solidFill>
              <a:srgbClr val="D97706"/>
            </a:solidFill>
            <a:prstDash val="solid"/>
          </a:ln>
        </p:spPr>
      </p:sp>
      <p:sp>
        <p:nvSpPr>
          <p:cNvPr id="24" name="Shape 22"/>
          <p:cNvSpPr/>
          <p:nvPr/>
        </p:nvSpPr>
        <p:spPr>
          <a:xfrm>
            <a:off x="256032" y="4882896"/>
            <a:ext cx="7496155" cy="36576"/>
          </a:xfrm>
          <a:prstGeom prst="rect">
            <a:avLst/>
          </a:prstGeom>
          <a:solidFill>
            <a:srgbClr val="D97706"/>
          </a:solidFill>
          <a:ln w="12700">
            <a:solidFill>
              <a:srgbClr val="D97706"/>
            </a:solidFill>
            <a:prstDash val="solid"/>
          </a:ln>
        </p:spPr>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BEB"/>
        </a:solidFill>
      </p:bgPr>
    </p:bg>
    <p:spTree>
      <p:nvGrpSpPr>
        <p:cNvPr id="1" name=""/>
        <p:cNvGrpSpPr/>
        <p:nvPr/>
      </p:nvGrpSpPr>
      <p:grpSpPr>
        <a:xfrm>
          <a:off x="0" y="0"/>
          <a:ext cx="0" cy="0"/>
          <a:chOff x="0" y="0"/>
          <a:chExt cx="0" cy="0"/>
        </a:xfrm>
      </p:grpSpPr>
      <p:sp>
        <p:nvSpPr>
          <p:cNvPr id="2" name="Shape 0"/>
          <p:cNvSpPr/>
          <p:nvPr/>
        </p:nvSpPr>
        <p:spPr>
          <a:xfrm>
            <a:off x="0" y="0"/>
            <a:ext cx="118872" cy="5143500"/>
          </a:xfrm>
          <a:prstGeom prst="rect">
            <a:avLst/>
          </a:prstGeom>
          <a:solidFill>
            <a:srgbClr val="D97706"/>
          </a:solidFill>
          <a:ln w="12700">
            <a:solidFill>
              <a:srgbClr val="D97706"/>
            </a:solidFill>
            <a:prstDash val="solid"/>
          </a:ln>
        </p:spPr>
      </p:sp>
      <p:sp>
        <p:nvSpPr>
          <p:cNvPr id="3" name="Shape 1"/>
          <p:cNvSpPr/>
          <p:nvPr/>
        </p:nvSpPr>
        <p:spPr>
          <a:xfrm>
            <a:off x="6263640" y="182880"/>
            <a:ext cx="2651760" cy="320040"/>
          </a:xfrm>
          <a:prstGeom prst="rect">
            <a:avLst/>
          </a:prstGeom>
          <a:solidFill>
            <a:srgbClr val="D97706"/>
          </a:solidFill>
          <a:ln w="12700">
            <a:solidFill>
              <a:srgbClr val="D97706"/>
            </a:solidFill>
            <a:prstDash val="solid"/>
          </a:ln>
        </p:spPr>
      </p:sp>
      <p:sp>
        <p:nvSpPr>
          <p:cNvPr id="4" name="Text 2"/>
          <p:cNvSpPr/>
          <p:nvPr/>
        </p:nvSpPr>
        <p:spPr>
          <a:xfrm>
            <a:off x="6263640" y="182880"/>
            <a:ext cx="2651760"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KEY CONTRIBUTION</a:t>
            </a:r>
            <a:endParaRPr lang="en-US" sz="900" dirty="0"/>
          </a:p>
        </p:txBody>
      </p:sp>
      <p:sp>
        <p:nvSpPr>
          <p:cNvPr id="5" name="Text 3"/>
          <p:cNvSpPr/>
          <p:nvPr/>
        </p:nvSpPr>
        <p:spPr>
          <a:xfrm>
            <a:off x="256032" y="201168"/>
            <a:ext cx="5925312" cy="566928"/>
          </a:xfrm>
          <a:prstGeom prst="rect">
            <a:avLst/>
          </a:prstGeom>
          <a:noFill/>
          <a:ln/>
        </p:spPr>
        <p:txBody>
          <a:bodyPr wrap="square" lIns="0" tIns="0" rIns="0" bIns="0" rtlCol="0" anchor="ctr">
            <a:normAutofit/>
          </a:bodyPr>
          <a:lstStyle/>
          <a:p>
            <a:pPr indent="0" marL="0">
              <a:buNone/>
            </a:pPr>
            <a:r>
              <a:rPr lang="en-US" sz="2200" b="1" dirty="0">
                <a:solidFill>
                  <a:srgbClr val="1B2A4A"/>
                </a:solidFill>
                <a:latin typeface="Calibri" pitchFamily="34" charset="0"/>
                <a:ea typeface="Calibri" pitchFamily="34" charset="-122"/>
                <a:cs typeface="Calibri" pitchFamily="34" charset="-120"/>
              </a:rPr>
              <a:t>Denominator Safety and Singularity Management in Full-State SMC</a:t>
            </a:r>
            <a:endParaRPr lang="en-US" sz="2200" dirty="0"/>
          </a:p>
        </p:txBody>
      </p:sp>
      <p:sp>
        <p:nvSpPr>
          <p:cNvPr id="6" name="Text 4"/>
          <p:cNvSpPr/>
          <p:nvPr/>
        </p:nvSpPr>
        <p:spPr>
          <a:xfrm>
            <a:off x="256032" y="768096"/>
            <a:ext cx="8686800" cy="274320"/>
          </a:xfrm>
          <a:prstGeom prst="rect">
            <a:avLst/>
          </a:prstGeom>
          <a:noFill/>
          <a:ln/>
        </p:spPr>
        <p:txBody>
          <a:bodyPr wrap="square" lIns="0" tIns="0" rIns="0" bIns="0" rtlCol="0" anchor="ctr">
            <a:normAutofit/>
          </a:bodyPr>
          <a:lstStyle/>
          <a:p>
            <a:pPr indent="0" marL="0">
              <a:buNone/>
            </a:pPr>
            <a:r>
              <a:rPr lang="en-US" sz="1200" i="1" dirty="0">
                <a:solidFill>
                  <a:srgbClr val="64748B"/>
                </a:solidFill>
                <a:latin typeface="Calibri" pitchFamily="34" charset="0"/>
                <a:ea typeface="Calibri" pitchFamily="34" charset="-122"/>
                <a:cs typeface="Calibri" pitchFamily="34" charset="-120"/>
              </a:rPr>
              <a:t>This controller is mathematically elegant, but it introduces a denominator that can become dangerously small if the coupling is not managed.</a:t>
            </a:r>
            <a:endParaRPr lang="en-US" sz="1200" dirty="0"/>
          </a:p>
        </p:txBody>
      </p:sp>
      <p:sp>
        <p:nvSpPr>
          <p:cNvPr id="7" name="Shape 5"/>
          <p:cNvSpPr/>
          <p:nvPr/>
        </p:nvSpPr>
        <p:spPr>
          <a:xfrm>
            <a:off x="256032" y="822960"/>
            <a:ext cx="8631936" cy="0"/>
          </a:xfrm>
          <a:prstGeom prst="line">
            <a:avLst/>
          </a:prstGeom>
          <a:noFill/>
          <a:ln w="9525">
            <a:solidFill>
              <a:srgbClr val="D97706"/>
            </a:solidFill>
            <a:prstDash val="solid"/>
          </a:ln>
        </p:spPr>
      </p:sp>
      <p:sp>
        <p:nvSpPr>
          <p:cNvPr id="8" name="Shape 6"/>
          <p:cNvSpPr/>
          <p:nvPr/>
        </p:nvSpPr>
        <p:spPr>
          <a:xfrm>
            <a:off x="594360" y="1115568"/>
            <a:ext cx="4846320" cy="777240"/>
          </a:xfrm>
          <a:prstGeom prst="rect">
            <a:avLst/>
          </a:prstGeom>
          <a:solidFill>
            <a:srgbClr val="FFFFFF"/>
          </a:solidFill>
          <a:ln w="6350">
            <a:solidFill>
              <a:srgbClr val="DDE3EC"/>
            </a:solidFill>
            <a:prstDash val="solid"/>
          </a:ln>
        </p:spPr>
      </p:sp>
      <p:sp>
        <p:nvSpPr>
          <p:cNvPr id="9" name="Text 7"/>
          <p:cNvSpPr/>
          <p:nvPr/>
        </p:nvSpPr>
        <p:spPr>
          <a:xfrm>
            <a:off x="667512" y="1170432"/>
            <a:ext cx="914400" cy="146304"/>
          </a:xfrm>
          <a:prstGeom prst="rect">
            <a:avLst/>
          </a:prstGeom>
          <a:noFill/>
          <a:ln/>
        </p:spPr>
        <p:txBody>
          <a:bodyPr wrap="square" lIns="0" tIns="0" rIns="0" bIns="0" rtlCol="0" anchor="ctr"/>
          <a:lstStyle/>
          <a:p>
            <a:pPr indent="0" marL="0">
              <a:buNone/>
            </a:pPr>
            <a:r>
              <a:rPr lang="en-US" sz="800" i="1" dirty="0">
                <a:solidFill>
                  <a:srgbClr val="64748B"/>
                </a:solidFill>
                <a:latin typeface="Calibri" pitchFamily="34" charset="0"/>
                <a:ea typeface="Calibri" pitchFamily="34" charset="-122"/>
                <a:cs typeface="Calibri" pitchFamily="34" charset="-120"/>
              </a:rPr>
              <a:t>Equation</a:t>
            </a:r>
            <a:endParaRPr lang="en-US" sz="800" dirty="0"/>
          </a:p>
        </p:txBody>
      </p:sp>
      <p:sp>
        <p:nvSpPr>
          <p:cNvPr id="10" name="Shape 8"/>
          <p:cNvSpPr/>
          <p:nvPr/>
        </p:nvSpPr>
        <p:spPr>
          <a:xfrm>
            <a:off x="685800" y="1993392"/>
            <a:ext cx="4663440" cy="548640"/>
          </a:xfrm>
          <a:prstGeom prst="rect">
            <a:avLst/>
          </a:prstGeom>
          <a:solidFill>
            <a:srgbClr val="FFFFFF"/>
          </a:solidFill>
          <a:ln w="6350">
            <a:solidFill>
              <a:srgbClr val="DDE3EC"/>
            </a:solidFill>
            <a:prstDash val="solid"/>
          </a:ln>
        </p:spPr>
      </p:sp>
      <p:sp>
        <p:nvSpPr>
          <p:cNvPr id="11" name="Text 9"/>
          <p:cNvSpPr/>
          <p:nvPr/>
        </p:nvSpPr>
        <p:spPr>
          <a:xfrm>
            <a:off x="758952" y="2048256"/>
            <a:ext cx="914400" cy="146304"/>
          </a:xfrm>
          <a:prstGeom prst="rect">
            <a:avLst/>
          </a:prstGeom>
          <a:noFill/>
          <a:ln/>
        </p:spPr>
        <p:txBody>
          <a:bodyPr wrap="square" lIns="0" tIns="0" rIns="0" bIns="0" rtlCol="0" anchor="ctr"/>
          <a:lstStyle/>
          <a:p>
            <a:pPr indent="0" marL="0">
              <a:buNone/>
            </a:pPr>
            <a:r>
              <a:rPr lang="en-US" sz="800" i="1" dirty="0">
                <a:solidFill>
                  <a:srgbClr val="64748B"/>
                </a:solidFill>
                <a:latin typeface="Calibri" pitchFamily="34" charset="0"/>
                <a:ea typeface="Calibri" pitchFamily="34" charset="-122"/>
                <a:cs typeface="Calibri" pitchFamily="34" charset="-120"/>
              </a:rPr>
              <a:t>Equation</a:t>
            </a:r>
            <a:endParaRPr lang="en-US" sz="800" dirty="0"/>
          </a:p>
        </p:txBody>
      </p:sp>
      <p:sp>
        <p:nvSpPr>
          <p:cNvPr id="12" name="Shape 10"/>
          <p:cNvSpPr/>
          <p:nvPr/>
        </p:nvSpPr>
        <p:spPr>
          <a:xfrm>
            <a:off x="5623560" y="1078992"/>
            <a:ext cx="2971800" cy="1417320"/>
          </a:xfrm>
          <a:prstGeom prst="rect">
            <a:avLst/>
          </a:prstGeom>
          <a:solidFill>
            <a:srgbClr val="FFFFFF"/>
          </a:solidFill>
          <a:ln w="6350">
            <a:solidFill>
              <a:srgbClr val="DDE3EC"/>
            </a:solidFill>
            <a:prstDash val="solid"/>
          </a:ln>
        </p:spPr>
      </p:sp>
      <p:sp>
        <p:nvSpPr>
          <p:cNvPr id="13" name="Shape 11"/>
          <p:cNvSpPr/>
          <p:nvPr/>
        </p:nvSpPr>
        <p:spPr>
          <a:xfrm>
            <a:off x="5623560" y="1078992"/>
            <a:ext cx="2971800" cy="64008"/>
          </a:xfrm>
          <a:prstGeom prst="rect">
            <a:avLst/>
          </a:prstGeom>
          <a:solidFill>
            <a:srgbClr val="0D6EAF"/>
          </a:solidFill>
          <a:ln w="12700">
            <a:solidFill>
              <a:srgbClr val="0D6EAF"/>
            </a:solidFill>
            <a:prstDash val="solid"/>
          </a:ln>
        </p:spPr>
      </p:sp>
      <p:sp>
        <p:nvSpPr>
          <p:cNvPr id="14" name="Text 12"/>
          <p:cNvSpPr/>
          <p:nvPr/>
        </p:nvSpPr>
        <p:spPr>
          <a:xfrm>
            <a:off x="5733288" y="1188720"/>
            <a:ext cx="275234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Implemented safeguards</a:t>
            </a:r>
            <a:endParaRPr lang="en-US" sz="1150" dirty="0"/>
          </a:p>
        </p:txBody>
      </p:sp>
      <p:sp>
        <p:nvSpPr>
          <p:cNvPr id="15" name="Text 13"/>
          <p:cNvSpPr/>
          <p:nvPr/>
        </p:nvSpPr>
        <p:spPr>
          <a:xfrm>
            <a:off x="5733288" y="1463040"/>
            <a:ext cx="2752344" cy="923544"/>
          </a:xfrm>
          <a:prstGeom prst="rect">
            <a:avLst/>
          </a:prstGeom>
          <a:noFill/>
          <a:ln/>
        </p:spPr>
        <p:txBody>
          <a:bodyPr wrap="square" lIns="0" tIns="0" rIns="0" bIns="0" rtlCol="0" anchor="ctr">
            <a:normAutofit/>
          </a:bodyPr>
          <a:lstStyle/>
          <a:p>
            <a:pPr indent="0" marL="0">
              <a:buNone/>
            </a:pPr>
            <a:r>
              <a:rPr lang="en-US" sz="980" dirty="0">
                <a:solidFill>
                  <a:srgbClr val="3D5472"/>
                </a:solidFill>
                <a:latin typeface="Calibri" pitchFamily="34" charset="0"/>
                <a:ea typeface="Calibri" pitchFamily="34" charset="-122"/>
                <a:cs typeface="Calibri" pitchFamily="34" charset="-120"/>
              </a:rPr>
              <a:t>• Cosine floor: $|\cos\alpha| \ge 0.2$ with sign preserved</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Coupling limit: $k \le 1.20$</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Coupling ramp-in over 200 ms after engage</a:t>
            </a:r>
            <a:endParaRPr lang="en-US" sz="980" dirty="0"/>
          </a:p>
        </p:txBody>
      </p:sp>
      <p:sp>
        <p:nvSpPr>
          <p:cNvPr id="16" name="Shape 14"/>
          <p:cNvSpPr/>
          <p:nvPr/>
        </p:nvSpPr>
        <p:spPr>
          <a:xfrm>
            <a:off x="5623560" y="2697480"/>
            <a:ext cx="2971800" cy="1417320"/>
          </a:xfrm>
          <a:prstGeom prst="rect">
            <a:avLst/>
          </a:prstGeom>
          <a:solidFill>
            <a:srgbClr val="FFFBEB"/>
          </a:solidFill>
          <a:ln w="6350">
            <a:solidFill>
              <a:srgbClr val="DDE3EC"/>
            </a:solidFill>
            <a:prstDash val="solid"/>
          </a:ln>
        </p:spPr>
      </p:sp>
      <p:sp>
        <p:nvSpPr>
          <p:cNvPr id="17" name="Shape 15"/>
          <p:cNvSpPr/>
          <p:nvPr/>
        </p:nvSpPr>
        <p:spPr>
          <a:xfrm>
            <a:off x="5623560" y="2697480"/>
            <a:ext cx="2971800" cy="64008"/>
          </a:xfrm>
          <a:prstGeom prst="rect">
            <a:avLst/>
          </a:prstGeom>
          <a:solidFill>
            <a:srgbClr val="D97706"/>
          </a:solidFill>
          <a:ln w="12700">
            <a:solidFill>
              <a:srgbClr val="D97706"/>
            </a:solidFill>
            <a:prstDash val="solid"/>
          </a:ln>
        </p:spPr>
      </p:sp>
      <p:sp>
        <p:nvSpPr>
          <p:cNvPr id="18" name="Text 16"/>
          <p:cNvSpPr/>
          <p:nvPr/>
        </p:nvSpPr>
        <p:spPr>
          <a:xfrm>
            <a:off x="5733288" y="2807208"/>
            <a:ext cx="275234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Theory vs firmware</a:t>
            </a:r>
            <a:endParaRPr lang="en-US" sz="1150" dirty="0"/>
          </a:p>
        </p:txBody>
      </p:sp>
      <p:sp>
        <p:nvSpPr>
          <p:cNvPr id="19" name="Text 17"/>
          <p:cNvSpPr/>
          <p:nvPr/>
        </p:nvSpPr>
        <p:spPr>
          <a:xfrm>
            <a:off x="5733288" y="3081528"/>
            <a:ext cx="2752344" cy="923544"/>
          </a:xfrm>
          <a:prstGeom prst="rect">
            <a:avLst/>
          </a:prstGeom>
          <a:noFill/>
          <a:ln/>
        </p:spPr>
        <p:txBody>
          <a:bodyPr wrap="square" lIns="0" tIns="0" rIns="0" bIns="0" rtlCol="0" anchor="ctr">
            <a:normAutofit/>
          </a:bodyPr>
          <a:lstStyle/>
          <a:p>
            <a:pPr indent="0" marL="0">
              <a:buNone/>
            </a:pPr>
            <a:r>
              <a:rPr lang="en-US" sz="980" dirty="0">
                <a:solidFill>
                  <a:srgbClr val="3D5472"/>
                </a:solidFill>
                <a:latin typeface="Calibri" pitchFamily="34" charset="0"/>
                <a:ea typeface="Calibri" pitchFamily="34" charset="-122"/>
                <a:cs typeface="Calibri" pitchFamily="34" charset="-120"/>
              </a:rPr>
              <a:t>• The analytic law assumes denominator regularity.</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The firmware explicitly enforces that regularity by modifying k_eff and the denominator margin online.</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This is one of the clearest places where implementation-aware control design matters.</a:t>
            </a:r>
            <a:endParaRPr lang="en-US" sz="980" dirty="0"/>
          </a:p>
        </p:txBody>
      </p:sp>
      <p:sp>
        <p:nvSpPr>
          <p:cNvPr id="20" name="Text 18"/>
          <p:cNvSpPr/>
          <p:nvPr/>
        </p:nvSpPr>
        <p:spPr>
          <a:xfrm>
            <a:off x="8412480" y="4892040"/>
            <a:ext cx="640080" cy="201168"/>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34 / 38</a:t>
            </a:r>
            <a:endParaRPr lang="en-US" sz="900" dirty="0"/>
          </a:p>
        </p:txBody>
      </p:sp>
      <p:sp>
        <p:nvSpPr>
          <p:cNvPr id="21" name="Shape 19"/>
          <p:cNvSpPr/>
          <p:nvPr/>
        </p:nvSpPr>
        <p:spPr>
          <a:xfrm>
            <a:off x="256032" y="4882896"/>
            <a:ext cx="8631936" cy="36576"/>
          </a:xfrm>
          <a:prstGeom prst="rect">
            <a:avLst/>
          </a:prstGeom>
          <a:solidFill>
            <a:srgbClr val="D97706">
              <a:alpha val="15000"/>
            </a:srgbClr>
          </a:solidFill>
          <a:ln w="12700">
            <a:solidFill>
              <a:srgbClr val="D97706"/>
            </a:solidFill>
            <a:prstDash val="solid"/>
          </a:ln>
        </p:spPr>
      </p:sp>
      <p:sp>
        <p:nvSpPr>
          <p:cNvPr id="22" name="Shape 20"/>
          <p:cNvSpPr/>
          <p:nvPr/>
        </p:nvSpPr>
        <p:spPr>
          <a:xfrm>
            <a:off x="256032" y="4882896"/>
            <a:ext cx="7723311" cy="36576"/>
          </a:xfrm>
          <a:prstGeom prst="rect">
            <a:avLst/>
          </a:prstGeom>
          <a:solidFill>
            <a:srgbClr val="D97706"/>
          </a:solidFill>
          <a:ln w="12700">
            <a:solidFill>
              <a:srgbClr val="D97706"/>
            </a:solidFill>
            <a:prstDash val="solid"/>
          </a:ln>
        </p:spPr>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6F8FA"/>
        </a:solidFill>
      </p:bgPr>
    </p:bg>
    <p:spTree>
      <p:nvGrpSpPr>
        <p:cNvPr id="1" name=""/>
        <p:cNvGrpSpPr/>
        <p:nvPr/>
      </p:nvGrpSpPr>
      <p:grpSpPr>
        <a:xfrm>
          <a:off x="0" y="0"/>
          <a:ext cx="0" cy="0"/>
          <a:chOff x="0" y="0"/>
          <a:chExt cx="0" cy="0"/>
        </a:xfrm>
      </p:grpSpPr>
      <p:sp>
        <p:nvSpPr>
          <p:cNvPr id="2" name="Shape 0"/>
          <p:cNvSpPr/>
          <p:nvPr/>
        </p:nvSpPr>
        <p:spPr>
          <a:xfrm>
            <a:off x="0" y="0"/>
            <a:ext cx="118872" cy="5143500"/>
          </a:xfrm>
          <a:prstGeom prst="rect">
            <a:avLst/>
          </a:prstGeom>
          <a:solidFill>
            <a:srgbClr val="0D6EAF"/>
          </a:solidFill>
          <a:ln w="12700">
            <a:solidFill>
              <a:srgbClr val="0D6EAF"/>
            </a:solidFill>
            <a:prstDash val="solid"/>
          </a:ln>
        </p:spPr>
      </p:sp>
      <p:sp>
        <p:nvSpPr>
          <p:cNvPr id="3" name="Text 1"/>
          <p:cNvSpPr/>
          <p:nvPr/>
        </p:nvSpPr>
        <p:spPr>
          <a:xfrm>
            <a:off x="256032" y="201168"/>
            <a:ext cx="8686800" cy="566928"/>
          </a:xfrm>
          <a:prstGeom prst="rect">
            <a:avLst/>
          </a:prstGeom>
          <a:noFill/>
          <a:ln/>
        </p:spPr>
        <p:txBody>
          <a:bodyPr wrap="square" lIns="0" tIns="0" rIns="0" bIns="0" rtlCol="0" anchor="ctr">
            <a:normAutofit/>
          </a:bodyPr>
          <a:lstStyle/>
          <a:p>
            <a:pPr indent="0" marL="0">
              <a:buNone/>
            </a:pPr>
            <a:r>
              <a:rPr lang="en-US" sz="2600" b="1" dirty="0">
                <a:solidFill>
                  <a:srgbClr val="1B2A4A"/>
                </a:solidFill>
                <a:latin typeface="Calibri" pitchFamily="34" charset="0"/>
                <a:ea typeface="Calibri" pitchFamily="34" charset="-122"/>
                <a:cs typeface="Calibri" pitchFamily="34" charset="-120"/>
              </a:rPr>
              <a:t>Full-State SMC: Control Law and Implementation Safeguards</a:t>
            </a:r>
            <a:endParaRPr lang="en-US" sz="2600" dirty="0"/>
          </a:p>
        </p:txBody>
      </p:sp>
      <p:sp>
        <p:nvSpPr>
          <p:cNvPr id="4" name="Text 2"/>
          <p:cNvSpPr/>
          <p:nvPr/>
        </p:nvSpPr>
        <p:spPr>
          <a:xfrm>
            <a:off x="256032" y="768096"/>
            <a:ext cx="8686800" cy="274320"/>
          </a:xfrm>
          <a:prstGeom prst="rect">
            <a:avLst/>
          </a:prstGeom>
          <a:noFill/>
          <a:ln/>
        </p:spPr>
        <p:txBody>
          <a:bodyPr wrap="square" lIns="0" tIns="0" rIns="0" bIns="0" rtlCol="0" anchor="ctr">
            <a:normAutofit/>
          </a:bodyPr>
          <a:lstStyle/>
          <a:p>
            <a:pPr indent="0" marL="0">
              <a:buNone/>
            </a:pPr>
            <a:r>
              <a:rPr lang="en-US" sz="1200" i="1" dirty="0">
                <a:solidFill>
                  <a:srgbClr val="64748B"/>
                </a:solidFill>
                <a:latin typeface="Calibri" pitchFamily="34" charset="0"/>
                <a:ea typeface="Calibri" pitchFamily="34" charset="-122"/>
                <a:cs typeface="Calibri" pitchFamily="34" charset="-120"/>
              </a:rPr>
              <a:t>The full law is nonlinear, coupled, and explicitly actuator-shaped for the stepper platform.</a:t>
            </a:r>
            <a:endParaRPr lang="en-US" sz="1200" dirty="0"/>
          </a:p>
        </p:txBody>
      </p:sp>
      <p:sp>
        <p:nvSpPr>
          <p:cNvPr id="5" name="Shape 3"/>
          <p:cNvSpPr/>
          <p:nvPr/>
        </p:nvSpPr>
        <p:spPr>
          <a:xfrm>
            <a:off x="256032" y="822960"/>
            <a:ext cx="8631936" cy="0"/>
          </a:xfrm>
          <a:prstGeom prst="line">
            <a:avLst/>
          </a:prstGeom>
          <a:noFill/>
          <a:ln w="9525">
            <a:solidFill>
              <a:srgbClr val="DDE3EC"/>
            </a:solidFill>
            <a:prstDash val="solid"/>
          </a:ln>
        </p:spPr>
      </p:sp>
      <p:sp>
        <p:nvSpPr>
          <p:cNvPr id="6" name="Shape 4"/>
          <p:cNvSpPr/>
          <p:nvPr/>
        </p:nvSpPr>
        <p:spPr>
          <a:xfrm>
            <a:off x="594360" y="1078992"/>
            <a:ext cx="4754880" cy="868680"/>
          </a:xfrm>
          <a:prstGeom prst="rect">
            <a:avLst/>
          </a:prstGeom>
          <a:solidFill>
            <a:srgbClr val="FFFFFF"/>
          </a:solidFill>
          <a:ln w="6350">
            <a:solidFill>
              <a:srgbClr val="DDE3EC"/>
            </a:solidFill>
            <a:prstDash val="solid"/>
          </a:ln>
        </p:spPr>
      </p:sp>
      <p:sp>
        <p:nvSpPr>
          <p:cNvPr id="7" name="Text 5"/>
          <p:cNvSpPr/>
          <p:nvPr/>
        </p:nvSpPr>
        <p:spPr>
          <a:xfrm>
            <a:off x="667512" y="1133856"/>
            <a:ext cx="914400" cy="146304"/>
          </a:xfrm>
          <a:prstGeom prst="rect">
            <a:avLst/>
          </a:prstGeom>
          <a:noFill/>
          <a:ln/>
        </p:spPr>
        <p:txBody>
          <a:bodyPr wrap="square" lIns="0" tIns="0" rIns="0" bIns="0" rtlCol="0" anchor="ctr"/>
          <a:lstStyle/>
          <a:p>
            <a:pPr indent="0" marL="0">
              <a:buNone/>
            </a:pPr>
            <a:r>
              <a:rPr lang="en-US" sz="800" i="1" dirty="0">
                <a:solidFill>
                  <a:srgbClr val="64748B"/>
                </a:solidFill>
                <a:latin typeface="Calibri" pitchFamily="34" charset="0"/>
                <a:ea typeface="Calibri" pitchFamily="34" charset="-122"/>
                <a:cs typeface="Calibri" pitchFamily="34" charset="-120"/>
              </a:rPr>
              <a:t>Equation</a:t>
            </a:r>
            <a:endParaRPr lang="en-US" sz="800" dirty="0"/>
          </a:p>
        </p:txBody>
      </p:sp>
      <p:sp>
        <p:nvSpPr>
          <p:cNvPr id="8" name="Shape 6"/>
          <p:cNvSpPr/>
          <p:nvPr/>
        </p:nvSpPr>
        <p:spPr>
          <a:xfrm>
            <a:off x="5577840" y="1078992"/>
            <a:ext cx="3017520" cy="960120"/>
          </a:xfrm>
          <a:prstGeom prst="rect">
            <a:avLst/>
          </a:prstGeom>
          <a:solidFill>
            <a:srgbClr val="FFFFFF"/>
          </a:solidFill>
          <a:ln w="6350">
            <a:solidFill>
              <a:srgbClr val="DDE3EC"/>
            </a:solidFill>
            <a:prstDash val="solid"/>
          </a:ln>
        </p:spPr>
      </p:sp>
      <p:sp>
        <p:nvSpPr>
          <p:cNvPr id="9" name="Shape 7"/>
          <p:cNvSpPr/>
          <p:nvPr/>
        </p:nvSpPr>
        <p:spPr>
          <a:xfrm>
            <a:off x="5577840" y="1078992"/>
            <a:ext cx="3017520" cy="64008"/>
          </a:xfrm>
          <a:prstGeom prst="rect">
            <a:avLst/>
          </a:prstGeom>
          <a:solidFill>
            <a:srgbClr val="0D6EAF"/>
          </a:solidFill>
          <a:ln w="12700">
            <a:solidFill>
              <a:srgbClr val="0D6EAF"/>
            </a:solidFill>
            <a:prstDash val="solid"/>
          </a:ln>
        </p:spPr>
      </p:sp>
      <p:sp>
        <p:nvSpPr>
          <p:cNvPr id="10" name="Text 8"/>
          <p:cNvSpPr/>
          <p:nvPr/>
        </p:nvSpPr>
        <p:spPr>
          <a:xfrm>
            <a:off x="5687568" y="1188720"/>
            <a:ext cx="279806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SMC4-specific caps</a:t>
            </a:r>
            <a:endParaRPr lang="en-US" sz="1150" dirty="0"/>
          </a:p>
        </p:txBody>
      </p:sp>
      <p:sp>
        <p:nvSpPr>
          <p:cNvPr id="11" name="Text 9"/>
          <p:cNvSpPr/>
          <p:nvPr/>
        </p:nvSpPr>
        <p:spPr>
          <a:xfrm>
            <a:off x="5687568" y="1463040"/>
            <a:ext cx="2798064" cy="466344"/>
          </a:xfrm>
          <a:prstGeom prst="rect">
            <a:avLst/>
          </a:prstGeom>
          <a:noFill/>
          <a:ln/>
        </p:spPr>
        <p:txBody>
          <a:bodyPr wrap="square" lIns="0" tIns="0" rIns="0" bIns="0" rtlCol="0" anchor="ctr">
            <a:normAutofit/>
          </a:bodyPr>
          <a:lstStyle/>
          <a:p>
            <a:pPr indent="0" marL="0">
              <a:buNone/>
            </a:pPr>
            <a:r>
              <a:rPr lang="en-US" sz="1000" dirty="0">
                <a:solidFill>
                  <a:srgbClr val="3D5472"/>
                </a:solidFill>
                <a:latin typeface="Calibri" pitchFamily="34" charset="0"/>
                <a:ea typeface="Calibri" pitchFamily="34" charset="-122"/>
                <a:cs typeface="Calibri" pitchFamily="34" charset="-120"/>
              </a:rPr>
              <a:t>$u_{\max}=12000\ \mathrm{steps/s^2},\ \dot{\theta}_{\max}=2000\ \mathrm{steps/s}$</a:t>
            </a:r>
            <a:endParaRPr lang="en-US" sz="1000" dirty="0"/>
          </a:p>
        </p:txBody>
      </p:sp>
      <p:sp>
        <p:nvSpPr>
          <p:cNvPr id="12" name="Shape 10"/>
          <p:cNvSpPr/>
          <p:nvPr/>
        </p:nvSpPr>
        <p:spPr>
          <a:xfrm>
            <a:off x="502920" y="2423160"/>
            <a:ext cx="3840480" cy="1691640"/>
          </a:xfrm>
          <a:prstGeom prst="rect">
            <a:avLst/>
          </a:prstGeom>
          <a:solidFill>
            <a:srgbClr val="FFFFFF"/>
          </a:solidFill>
          <a:ln w="6350">
            <a:solidFill>
              <a:srgbClr val="DDE3EC"/>
            </a:solidFill>
            <a:prstDash val="solid"/>
          </a:ln>
        </p:spPr>
      </p:sp>
      <p:sp>
        <p:nvSpPr>
          <p:cNvPr id="13" name="Shape 11"/>
          <p:cNvSpPr/>
          <p:nvPr/>
        </p:nvSpPr>
        <p:spPr>
          <a:xfrm>
            <a:off x="502920" y="2423160"/>
            <a:ext cx="3840480" cy="64008"/>
          </a:xfrm>
          <a:prstGeom prst="rect">
            <a:avLst/>
          </a:prstGeom>
          <a:solidFill>
            <a:srgbClr val="0D6EAF"/>
          </a:solidFill>
          <a:ln w="12700">
            <a:solidFill>
              <a:srgbClr val="0D6EAF"/>
            </a:solidFill>
            <a:prstDash val="solid"/>
          </a:ln>
        </p:spPr>
      </p:sp>
      <p:sp>
        <p:nvSpPr>
          <p:cNvPr id="14" name="Text 12"/>
          <p:cNvSpPr/>
          <p:nvPr/>
        </p:nvSpPr>
        <p:spPr>
          <a:xfrm>
            <a:off x="612648" y="2532888"/>
            <a:ext cx="362102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Additional clamps in firmware</a:t>
            </a:r>
            <a:endParaRPr lang="en-US" sz="1150" dirty="0"/>
          </a:p>
        </p:txBody>
      </p:sp>
      <p:sp>
        <p:nvSpPr>
          <p:cNvPr id="15" name="Text 13"/>
          <p:cNvSpPr/>
          <p:nvPr/>
        </p:nvSpPr>
        <p:spPr>
          <a:xfrm>
            <a:off x="612648" y="2807208"/>
            <a:ext cx="3621024" cy="1197864"/>
          </a:xfrm>
          <a:prstGeom prst="rect">
            <a:avLst/>
          </a:prstGeom>
          <a:noFill/>
          <a:ln/>
        </p:spPr>
        <p:txBody>
          <a:bodyPr wrap="square" lIns="0" tIns="0" rIns="0" bIns="0" rtlCol="0" anchor="ctr">
            <a:normAutofit/>
          </a:bodyPr>
          <a:lstStyle/>
          <a:p>
            <a:pPr indent="0" marL="0">
              <a:buNone/>
            </a:pPr>
            <a:r>
              <a:rPr lang="en-US" sz="980" dirty="0">
                <a:solidFill>
                  <a:srgbClr val="3D5472"/>
                </a:solidFill>
                <a:latin typeface="Calibri" pitchFamily="34" charset="0"/>
                <a:ea typeface="Calibri" pitchFamily="34" charset="-122"/>
                <a:cs typeface="Calibri" pitchFamily="34" charset="-120"/>
              </a:rPr>
              <a:t>• Clamp $|\theta_{\mathrm{err}}| \le 78^\circ$</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Clamp $|\dot{\theta}_{\mathrm{err}}| \le 200^\circ/s$</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Clamp internal $|\dot{\alpha}| \le 200^\circ/s$ in the SMC4 math</a:t>
            </a:r>
            <a:endParaRPr lang="en-US" sz="980" dirty="0"/>
          </a:p>
        </p:txBody>
      </p:sp>
      <p:sp>
        <p:nvSpPr>
          <p:cNvPr id="16" name="Shape 14"/>
          <p:cNvSpPr/>
          <p:nvPr/>
        </p:nvSpPr>
        <p:spPr>
          <a:xfrm>
            <a:off x="4572000" y="2423160"/>
            <a:ext cx="4023360" cy="1691640"/>
          </a:xfrm>
          <a:prstGeom prst="rect">
            <a:avLst/>
          </a:prstGeom>
          <a:solidFill>
            <a:srgbClr val="FFFFFF"/>
          </a:solidFill>
          <a:ln w="6350">
            <a:solidFill>
              <a:srgbClr val="DDE3EC"/>
            </a:solidFill>
            <a:prstDash val="solid"/>
          </a:ln>
        </p:spPr>
      </p:sp>
      <p:sp>
        <p:nvSpPr>
          <p:cNvPr id="17" name="Shape 15"/>
          <p:cNvSpPr/>
          <p:nvPr/>
        </p:nvSpPr>
        <p:spPr>
          <a:xfrm>
            <a:off x="4572000" y="2423160"/>
            <a:ext cx="4023360" cy="64008"/>
          </a:xfrm>
          <a:prstGeom prst="rect">
            <a:avLst/>
          </a:prstGeom>
          <a:solidFill>
            <a:srgbClr val="0A7A6E"/>
          </a:solidFill>
          <a:ln w="12700">
            <a:solidFill>
              <a:srgbClr val="0A7A6E"/>
            </a:solidFill>
            <a:prstDash val="solid"/>
          </a:ln>
        </p:spPr>
      </p:sp>
      <p:sp>
        <p:nvSpPr>
          <p:cNvPr id="18" name="Text 16"/>
          <p:cNvSpPr/>
          <p:nvPr/>
        </p:nvSpPr>
        <p:spPr>
          <a:xfrm>
            <a:off x="4681728" y="2532888"/>
            <a:ext cx="380390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Practical reading of this controller</a:t>
            </a:r>
            <a:endParaRPr lang="en-US" sz="1150" dirty="0"/>
          </a:p>
        </p:txBody>
      </p:sp>
      <p:sp>
        <p:nvSpPr>
          <p:cNvPr id="19" name="Text 17"/>
          <p:cNvSpPr/>
          <p:nvPr/>
        </p:nvSpPr>
        <p:spPr>
          <a:xfrm>
            <a:off x="4681728" y="2807208"/>
            <a:ext cx="3803904" cy="1197864"/>
          </a:xfrm>
          <a:prstGeom prst="rect">
            <a:avLst/>
          </a:prstGeom>
          <a:noFill/>
          <a:ln/>
        </p:spPr>
        <p:txBody>
          <a:bodyPr wrap="square" lIns="0" tIns="0" rIns="0" bIns="0" rtlCol="0" anchor="ctr">
            <a:normAutofit/>
          </a:bodyPr>
          <a:lstStyle/>
          <a:p>
            <a:pPr indent="0" marL="0">
              <a:buNone/>
            </a:pPr>
            <a:r>
              <a:rPr lang="en-US" sz="980" dirty="0">
                <a:solidFill>
                  <a:srgbClr val="3D5472"/>
                </a:solidFill>
                <a:latin typeface="Calibri" pitchFamily="34" charset="0"/>
                <a:ea typeface="Calibri" pitchFamily="34" charset="-122"/>
                <a:cs typeface="Calibri" pitchFamily="34" charset="-120"/>
              </a:rPr>
              <a:t>• It is the most unified controller mathematically.</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It is also the most sensitive to actuator limits and denominator conditioning on this platform.</a:t>
            </a:r>
            <a:endParaRPr lang="en-US" sz="980" dirty="0"/>
          </a:p>
          <a:p>
            <a:pPr indent="0" marL="0">
              <a:buNone/>
            </a:pPr>
            <a:r>
              <a:rPr lang="en-US" sz="980" dirty="0">
                <a:solidFill>
                  <a:srgbClr val="3D5472"/>
                </a:solidFill>
                <a:latin typeface="Calibri" pitchFamily="34" charset="0"/>
                <a:ea typeface="Calibri" pitchFamily="34" charset="-122"/>
                <a:cs typeface="Calibri" pitchFamily="34" charset="-120"/>
              </a:rPr>
              <a:t>• That is why the implementation includes more shaping and more guards than the hybrid SMC.</a:t>
            </a:r>
            <a:endParaRPr lang="en-US" sz="980" dirty="0"/>
          </a:p>
        </p:txBody>
      </p:sp>
      <p:sp>
        <p:nvSpPr>
          <p:cNvPr id="20" name="Text 18"/>
          <p:cNvSpPr/>
          <p:nvPr/>
        </p:nvSpPr>
        <p:spPr>
          <a:xfrm>
            <a:off x="8412480" y="4892040"/>
            <a:ext cx="640080" cy="201168"/>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35 / 38</a:t>
            </a:r>
            <a:endParaRPr lang="en-US" sz="900" dirty="0"/>
          </a:p>
        </p:txBody>
      </p:sp>
      <p:sp>
        <p:nvSpPr>
          <p:cNvPr id="21" name="Shape 19"/>
          <p:cNvSpPr/>
          <p:nvPr/>
        </p:nvSpPr>
        <p:spPr>
          <a:xfrm>
            <a:off x="256032" y="4882896"/>
            <a:ext cx="8631936" cy="36576"/>
          </a:xfrm>
          <a:prstGeom prst="rect">
            <a:avLst/>
          </a:prstGeom>
          <a:solidFill>
            <a:srgbClr val="0D6EAF">
              <a:alpha val="15000"/>
            </a:srgbClr>
          </a:solidFill>
          <a:ln w="12700">
            <a:solidFill>
              <a:srgbClr val="0D6EAF"/>
            </a:solidFill>
            <a:prstDash val="solid"/>
          </a:ln>
        </p:spPr>
      </p:sp>
      <p:sp>
        <p:nvSpPr>
          <p:cNvPr id="22" name="Shape 20"/>
          <p:cNvSpPr/>
          <p:nvPr/>
        </p:nvSpPr>
        <p:spPr>
          <a:xfrm>
            <a:off x="256032" y="4882896"/>
            <a:ext cx="7950467" cy="36576"/>
          </a:xfrm>
          <a:prstGeom prst="rect">
            <a:avLst/>
          </a:prstGeom>
          <a:solidFill>
            <a:srgbClr val="0D6EAF"/>
          </a:solidFill>
          <a:ln w="12700">
            <a:solidFill>
              <a:srgbClr val="0D6EAF"/>
            </a:solidFill>
            <a:prstDash val="solid"/>
          </a:ln>
        </p:spPr>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6F8FA"/>
        </a:solidFill>
      </p:bgPr>
    </p:bg>
    <p:spTree>
      <p:nvGrpSpPr>
        <p:cNvPr id="1" name=""/>
        <p:cNvGrpSpPr/>
        <p:nvPr/>
      </p:nvGrpSpPr>
      <p:grpSpPr>
        <a:xfrm>
          <a:off x="0" y="0"/>
          <a:ext cx="0" cy="0"/>
          <a:chOff x="0" y="0"/>
          <a:chExt cx="0" cy="0"/>
        </a:xfrm>
      </p:grpSpPr>
      <p:sp>
        <p:nvSpPr>
          <p:cNvPr id="2" name="Shape 0"/>
          <p:cNvSpPr/>
          <p:nvPr/>
        </p:nvSpPr>
        <p:spPr>
          <a:xfrm>
            <a:off x="0" y="0"/>
            <a:ext cx="118872" cy="5143500"/>
          </a:xfrm>
          <a:prstGeom prst="rect">
            <a:avLst/>
          </a:prstGeom>
          <a:solidFill>
            <a:srgbClr val="0D6EAF"/>
          </a:solidFill>
          <a:ln w="12700">
            <a:solidFill>
              <a:srgbClr val="0D6EAF"/>
            </a:solidFill>
            <a:prstDash val="solid"/>
          </a:ln>
        </p:spPr>
      </p:sp>
      <p:sp>
        <p:nvSpPr>
          <p:cNvPr id="3" name="Text 1"/>
          <p:cNvSpPr/>
          <p:nvPr/>
        </p:nvSpPr>
        <p:spPr>
          <a:xfrm>
            <a:off x="256032" y="201168"/>
            <a:ext cx="8686800" cy="566928"/>
          </a:xfrm>
          <a:prstGeom prst="rect">
            <a:avLst/>
          </a:prstGeom>
          <a:noFill/>
          <a:ln/>
        </p:spPr>
        <p:txBody>
          <a:bodyPr wrap="square" lIns="0" tIns="0" rIns="0" bIns="0" rtlCol="0" anchor="ctr">
            <a:normAutofit/>
          </a:bodyPr>
          <a:lstStyle/>
          <a:p>
            <a:pPr indent="0" marL="0">
              <a:buNone/>
            </a:pPr>
            <a:r>
              <a:rPr lang="en-US" sz="2600" b="1" dirty="0">
                <a:solidFill>
                  <a:srgbClr val="1B2A4A"/>
                </a:solidFill>
                <a:latin typeface="Calibri" pitchFamily="34" charset="0"/>
                <a:ea typeface="Calibri" pitchFamily="34" charset="-122"/>
                <a:cs typeface="Calibri" pitchFamily="34" charset="-120"/>
              </a:rPr>
              <a:t>Full-State SMC Performance</a:t>
            </a:r>
            <a:endParaRPr lang="en-US" sz="2600" dirty="0"/>
          </a:p>
        </p:txBody>
      </p:sp>
      <p:sp>
        <p:nvSpPr>
          <p:cNvPr id="4" name="Text 2"/>
          <p:cNvSpPr/>
          <p:nvPr/>
        </p:nvSpPr>
        <p:spPr>
          <a:xfrm>
            <a:off x="256032" y="768096"/>
            <a:ext cx="8686800" cy="274320"/>
          </a:xfrm>
          <a:prstGeom prst="rect">
            <a:avLst/>
          </a:prstGeom>
          <a:noFill/>
          <a:ln/>
        </p:spPr>
        <p:txBody>
          <a:bodyPr wrap="square" lIns="0" tIns="0" rIns="0" bIns="0" rtlCol="0" anchor="ctr">
            <a:normAutofit/>
          </a:bodyPr>
          <a:lstStyle/>
          <a:p>
            <a:pPr indent="0" marL="0">
              <a:buNone/>
            </a:pPr>
            <a:r>
              <a:rPr lang="en-US" sz="1200" i="1" dirty="0">
                <a:solidFill>
                  <a:srgbClr val="64748B"/>
                </a:solidFill>
                <a:latin typeface="Calibri" pitchFamily="34" charset="0"/>
                <a:ea typeface="Calibri" pitchFamily="34" charset="-122"/>
                <a:cs typeface="Calibri" pitchFamily="34" charset="-120"/>
              </a:rPr>
              <a:t>The full-state surface controller balances upright in calm conditions, but the required protection logic is visible in both its diagnostics and its effort levels.</a:t>
            </a:r>
            <a:endParaRPr lang="en-US" sz="1200" dirty="0"/>
          </a:p>
        </p:txBody>
      </p:sp>
      <p:sp>
        <p:nvSpPr>
          <p:cNvPr id="5" name="Shape 3"/>
          <p:cNvSpPr/>
          <p:nvPr/>
        </p:nvSpPr>
        <p:spPr>
          <a:xfrm>
            <a:off x="256032" y="822960"/>
            <a:ext cx="8631936" cy="0"/>
          </a:xfrm>
          <a:prstGeom prst="line">
            <a:avLst/>
          </a:prstGeom>
          <a:noFill/>
          <a:ln w="9525">
            <a:solidFill>
              <a:srgbClr val="DDE3EC"/>
            </a:solidFill>
            <a:prstDash val="solid"/>
          </a:ln>
        </p:spPr>
      </p:sp>
      <p:sp>
        <p:nvSpPr>
          <p:cNvPr id="6" name="Shape 4"/>
          <p:cNvSpPr/>
          <p:nvPr/>
        </p:nvSpPr>
        <p:spPr>
          <a:xfrm>
            <a:off x="502920" y="1078992"/>
            <a:ext cx="3840480" cy="1691640"/>
          </a:xfrm>
          <a:prstGeom prst="rect">
            <a:avLst/>
          </a:prstGeom>
          <a:solidFill>
            <a:srgbClr val="FFFFFF"/>
          </a:solidFill>
          <a:ln w="6350">
            <a:solidFill>
              <a:srgbClr val="DDE3EC"/>
            </a:solidFill>
            <a:prstDash val="solid"/>
          </a:ln>
        </p:spPr>
      </p:sp>
      <p:sp>
        <p:nvSpPr>
          <p:cNvPr id="7" name="Text 5"/>
          <p:cNvSpPr/>
          <p:nvPr/>
        </p:nvSpPr>
        <p:spPr>
          <a:xfrm>
            <a:off x="576072" y="1133856"/>
            <a:ext cx="914400" cy="146304"/>
          </a:xfrm>
          <a:prstGeom prst="rect">
            <a:avLst/>
          </a:prstGeom>
          <a:noFill/>
          <a:ln/>
        </p:spPr>
        <p:txBody>
          <a:bodyPr wrap="square" lIns="0" tIns="0" rIns="0" bIns="0" rtlCol="0" anchor="ctr"/>
          <a:lstStyle/>
          <a:p>
            <a:pPr indent="0" marL="0">
              <a:buNone/>
            </a:pPr>
            <a:r>
              <a:rPr lang="en-US" sz="800" i="1" dirty="0">
                <a:solidFill>
                  <a:srgbClr val="64748B"/>
                </a:solidFill>
                <a:latin typeface="Calibri" pitchFamily="34" charset="0"/>
                <a:ea typeface="Calibri" pitchFamily="34" charset="-122"/>
                <a:cs typeface="Calibri" pitchFamily="34" charset="-120"/>
              </a:rPr>
              <a:t>Figure</a:t>
            </a:r>
            <a:endParaRPr lang="en-US" sz="800" dirty="0"/>
          </a:p>
        </p:txBody>
      </p:sp>
      <p:sp>
        <p:nvSpPr>
          <p:cNvPr id="8" name="Shape 6"/>
          <p:cNvSpPr/>
          <p:nvPr/>
        </p:nvSpPr>
        <p:spPr>
          <a:xfrm>
            <a:off x="4526280" y="1078992"/>
            <a:ext cx="1965960" cy="1691640"/>
          </a:xfrm>
          <a:prstGeom prst="rect">
            <a:avLst/>
          </a:prstGeom>
          <a:solidFill>
            <a:srgbClr val="FFFFFF"/>
          </a:solidFill>
          <a:ln w="6350">
            <a:solidFill>
              <a:srgbClr val="DDE3EC"/>
            </a:solidFill>
            <a:prstDash val="solid"/>
          </a:ln>
        </p:spPr>
      </p:sp>
      <p:sp>
        <p:nvSpPr>
          <p:cNvPr id="9" name="Text 7"/>
          <p:cNvSpPr/>
          <p:nvPr/>
        </p:nvSpPr>
        <p:spPr>
          <a:xfrm>
            <a:off x="4599432" y="1133856"/>
            <a:ext cx="914400" cy="146304"/>
          </a:xfrm>
          <a:prstGeom prst="rect">
            <a:avLst/>
          </a:prstGeom>
          <a:noFill/>
          <a:ln/>
        </p:spPr>
        <p:txBody>
          <a:bodyPr wrap="square" lIns="0" tIns="0" rIns="0" bIns="0" rtlCol="0" anchor="ctr"/>
          <a:lstStyle/>
          <a:p>
            <a:pPr indent="0" marL="0">
              <a:buNone/>
            </a:pPr>
            <a:r>
              <a:rPr lang="en-US" sz="800" i="1" dirty="0">
                <a:solidFill>
                  <a:srgbClr val="64748B"/>
                </a:solidFill>
                <a:latin typeface="Calibri" pitchFamily="34" charset="0"/>
                <a:ea typeface="Calibri" pitchFamily="34" charset="-122"/>
                <a:cs typeface="Calibri" pitchFamily="34" charset="-120"/>
              </a:rPr>
              <a:t>Figure</a:t>
            </a:r>
            <a:endParaRPr lang="en-US" sz="800" dirty="0"/>
          </a:p>
        </p:txBody>
      </p:sp>
      <p:sp>
        <p:nvSpPr>
          <p:cNvPr id="10" name="Shape 8"/>
          <p:cNvSpPr/>
          <p:nvPr/>
        </p:nvSpPr>
        <p:spPr>
          <a:xfrm>
            <a:off x="6675120" y="1078992"/>
            <a:ext cx="1920240" cy="1691640"/>
          </a:xfrm>
          <a:prstGeom prst="rect">
            <a:avLst/>
          </a:prstGeom>
          <a:solidFill>
            <a:srgbClr val="FFFFFF"/>
          </a:solidFill>
          <a:ln w="6350">
            <a:solidFill>
              <a:srgbClr val="DDE3EC"/>
            </a:solidFill>
            <a:prstDash val="solid"/>
          </a:ln>
        </p:spPr>
      </p:sp>
      <p:sp>
        <p:nvSpPr>
          <p:cNvPr id="11" name="Text 9"/>
          <p:cNvSpPr/>
          <p:nvPr/>
        </p:nvSpPr>
        <p:spPr>
          <a:xfrm>
            <a:off x="6748272" y="1133856"/>
            <a:ext cx="914400" cy="146304"/>
          </a:xfrm>
          <a:prstGeom prst="rect">
            <a:avLst/>
          </a:prstGeom>
          <a:noFill/>
          <a:ln/>
        </p:spPr>
        <p:txBody>
          <a:bodyPr wrap="square" lIns="0" tIns="0" rIns="0" bIns="0" rtlCol="0" anchor="ctr"/>
          <a:lstStyle/>
          <a:p>
            <a:pPr indent="0" marL="0">
              <a:buNone/>
            </a:pPr>
            <a:r>
              <a:rPr lang="en-US" sz="800" i="1" dirty="0">
                <a:solidFill>
                  <a:srgbClr val="64748B"/>
                </a:solidFill>
                <a:latin typeface="Calibri" pitchFamily="34" charset="0"/>
                <a:ea typeface="Calibri" pitchFamily="34" charset="-122"/>
                <a:cs typeface="Calibri" pitchFamily="34" charset="-120"/>
              </a:rPr>
              <a:t>Figure</a:t>
            </a:r>
            <a:endParaRPr lang="en-US" sz="800" dirty="0"/>
          </a:p>
        </p:txBody>
      </p:sp>
      <p:sp>
        <p:nvSpPr>
          <p:cNvPr id="12" name="Text 10"/>
          <p:cNvSpPr/>
          <p:nvPr/>
        </p:nvSpPr>
        <p:spPr>
          <a:xfrm>
            <a:off x="1234440" y="2816352"/>
            <a:ext cx="2286000" cy="201168"/>
          </a:xfrm>
          <a:prstGeom prst="rect">
            <a:avLst/>
          </a:prstGeom>
          <a:noFill/>
          <a:ln/>
        </p:spPr>
        <p:txBody>
          <a:bodyPr wrap="square" lIns="0" tIns="0" rIns="0" bIns="0" rtlCol="0" anchor="t">
            <a:normAutofit/>
          </a:bodyPr>
          <a:lstStyle/>
          <a:p>
            <a:pPr algn="ctr" indent="0" marL="0">
              <a:buNone/>
            </a:pPr>
            <a:r>
              <a:rPr lang="en-US" sz="900" i="1" dirty="0">
                <a:solidFill>
                  <a:srgbClr val="64748B"/>
                </a:solidFill>
                <a:latin typeface="Calibri" pitchFamily="34" charset="0"/>
                <a:ea typeface="Calibri" pitchFamily="34" charset="-122"/>
                <a:cs typeface="Calibri" pitchFamily="34" charset="-120"/>
              </a:rPr>
              <a:t>Hold run H3</a:t>
            </a:r>
            <a:endParaRPr lang="en-US" sz="900" dirty="0"/>
          </a:p>
        </p:txBody>
      </p:sp>
      <p:sp>
        <p:nvSpPr>
          <p:cNvPr id="13" name="Text 11"/>
          <p:cNvSpPr/>
          <p:nvPr/>
        </p:nvSpPr>
        <p:spPr>
          <a:xfrm>
            <a:off x="4800600" y="2816352"/>
            <a:ext cx="1417320" cy="201168"/>
          </a:xfrm>
          <a:prstGeom prst="rect">
            <a:avLst/>
          </a:prstGeom>
          <a:noFill/>
          <a:ln/>
        </p:spPr>
        <p:txBody>
          <a:bodyPr wrap="square" lIns="0" tIns="0" rIns="0" bIns="0" rtlCol="0" anchor="t">
            <a:normAutofit/>
          </a:bodyPr>
          <a:lstStyle/>
          <a:p>
            <a:pPr algn="ctr" indent="0" marL="0">
              <a:buNone/>
            </a:pPr>
            <a:r>
              <a:rPr lang="en-US" sz="900" i="1" dirty="0">
                <a:solidFill>
                  <a:srgbClr val="64748B"/>
                </a:solidFill>
                <a:latin typeface="Calibri" pitchFamily="34" charset="0"/>
                <a:ea typeface="Calibri" pitchFamily="34" charset="-122"/>
                <a:cs typeface="Calibri" pitchFamily="34" charset="-120"/>
              </a:rPr>
              <a:t>Protected denominator</a:t>
            </a:r>
            <a:endParaRPr lang="en-US" sz="900" dirty="0"/>
          </a:p>
        </p:txBody>
      </p:sp>
      <p:sp>
        <p:nvSpPr>
          <p:cNvPr id="14" name="Text 12"/>
          <p:cNvSpPr/>
          <p:nvPr/>
        </p:nvSpPr>
        <p:spPr>
          <a:xfrm>
            <a:off x="6812280" y="2816352"/>
            <a:ext cx="1600200" cy="201168"/>
          </a:xfrm>
          <a:prstGeom prst="rect">
            <a:avLst/>
          </a:prstGeom>
          <a:noFill/>
          <a:ln/>
        </p:spPr>
        <p:txBody>
          <a:bodyPr wrap="square" lIns="0" tIns="0" rIns="0" bIns="0" rtlCol="0" anchor="t">
            <a:normAutofit/>
          </a:bodyPr>
          <a:lstStyle/>
          <a:p>
            <a:pPr algn="ctr" indent="0" marL="0">
              <a:buNone/>
            </a:pPr>
            <a:r>
              <a:rPr lang="en-US" sz="900" i="1" dirty="0">
                <a:solidFill>
                  <a:srgbClr val="64748B"/>
                </a:solidFill>
                <a:latin typeface="Calibri" pitchFamily="34" charset="0"/>
                <a:ea typeface="Calibri" pitchFamily="34" charset="-122"/>
                <a:cs typeface="Calibri" pitchFamily="34" charset="-120"/>
              </a:rPr>
              <a:t>Effective coupling</a:t>
            </a:r>
            <a:endParaRPr lang="en-US" sz="900" dirty="0"/>
          </a:p>
        </p:txBody>
      </p:sp>
      <p:sp>
        <p:nvSpPr>
          <p:cNvPr id="15" name="Shape 13"/>
          <p:cNvSpPr/>
          <p:nvPr/>
        </p:nvSpPr>
        <p:spPr>
          <a:xfrm>
            <a:off x="502920" y="3154680"/>
            <a:ext cx="8092440" cy="1005840"/>
          </a:xfrm>
          <a:prstGeom prst="rect">
            <a:avLst/>
          </a:prstGeom>
          <a:solidFill>
            <a:srgbClr val="FFFBEB"/>
          </a:solidFill>
          <a:ln w="6350">
            <a:solidFill>
              <a:srgbClr val="DDE3EC"/>
            </a:solidFill>
            <a:prstDash val="solid"/>
          </a:ln>
        </p:spPr>
      </p:sp>
      <p:sp>
        <p:nvSpPr>
          <p:cNvPr id="16" name="Shape 14"/>
          <p:cNvSpPr/>
          <p:nvPr/>
        </p:nvSpPr>
        <p:spPr>
          <a:xfrm>
            <a:off x="502920" y="3154680"/>
            <a:ext cx="8092440" cy="64008"/>
          </a:xfrm>
          <a:prstGeom prst="rect">
            <a:avLst/>
          </a:prstGeom>
          <a:solidFill>
            <a:srgbClr val="D97706"/>
          </a:solidFill>
          <a:ln w="12700">
            <a:solidFill>
              <a:srgbClr val="D97706"/>
            </a:solidFill>
            <a:prstDash val="solid"/>
          </a:ln>
        </p:spPr>
      </p:sp>
      <p:sp>
        <p:nvSpPr>
          <p:cNvPr id="17" name="Text 15"/>
          <p:cNvSpPr/>
          <p:nvPr/>
        </p:nvSpPr>
        <p:spPr>
          <a:xfrm>
            <a:off x="612648" y="3264408"/>
            <a:ext cx="787298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Readout</a:t>
            </a:r>
            <a:endParaRPr lang="en-US" sz="1150" dirty="0"/>
          </a:p>
        </p:txBody>
      </p:sp>
      <p:sp>
        <p:nvSpPr>
          <p:cNvPr id="18" name="Text 16"/>
          <p:cNvSpPr/>
          <p:nvPr/>
        </p:nvSpPr>
        <p:spPr>
          <a:xfrm>
            <a:off x="612648" y="3538728"/>
            <a:ext cx="7872984" cy="512064"/>
          </a:xfrm>
          <a:prstGeom prst="rect">
            <a:avLst/>
          </a:prstGeom>
          <a:noFill/>
          <a:ln/>
        </p:spPr>
        <p:txBody>
          <a:bodyPr wrap="square" lIns="0" tIns="0" rIns="0" bIns="0" rtlCol="0" anchor="ctr">
            <a:normAutofit/>
          </a:bodyPr>
          <a:lstStyle/>
          <a:p>
            <a:pPr indent="0" marL="0">
              <a:buNone/>
            </a:pPr>
            <a:r>
              <a:rPr lang="en-US" sz="1000" dirty="0">
                <a:solidFill>
                  <a:srgbClr val="3D5472"/>
                </a:solidFill>
                <a:latin typeface="Calibri" pitchFamily="34" charset="0"/>
                <a:ea typeface="Calibri" pitchFamily="34" charset="-122"/>
                <a:cs typeface="Calibri" pitchFamily="34" charset="-120"/>
              </a:rPr>
              <a:t>In the pinned hold run the controller stays upright, but it uses much higher effort than the linear and hybrid controllers. In the pinned tap run T3 it falls, reinforcing that this controller is the most sensitive to actuator limits and safety shaping on the present hardware.</a:t>
            </a:r>
            <a:endParaRPr lang="en-US" sz="1000" dirty="0"/>
          </a:p>
        </p:txBody>
      </p:sp>
      <p:sp>
        <p:nvSpPr>
          <p:cNvPr id="19" name="Text 17"/>
          <p:cNvSpPr/>
          <p:nvPr/>
        </p:nvSpPr>
        <p:spPr>
          <a:xfrm>
            <a:off x="8412480" y="4892040"/>
            <a:ext cx="640080" cy="201168"/>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36 / 38</a:t>
            </a:r>
            <a:endParaRPr lang="en-US" sz="900" dirty="0"/>
          </a:p>
        </p:txBody>
      </p:sp>
      <p:sp>
        <p:nvSpPr>
          <p:cNvPr id="20" name="Shape 18"/>
          <p:cNvSpPr/>
          <p:nvPr/>
        </p:nvSpPr>
        <p:spPr>
          <a:xfrm>
            <a:off x="256032" y="4882896"/>
            <a:ext cx="8631936" cy="36576"/>
          </a:xfrm>
          <a:prstGeom prst="rect">
            <a:avLst/>
          </a:prstGeom>
          <a:solidFill>
            <a:srgbClr val="0D6EAF">
              <a:alpha val="15000"/>
            </a:srgbClr>
          </a:solidFill>
          <a:ln w="12700">
            <a:solidFill>
              <a:srgbClr val="0D6EAF"/>
            </a:solidFill>
            <a:prstDash val="solid"/>
          </a:ln>
        </p:spPr>
      </p:sp>
      <p:sp>
        <p:nvSpPr>
          <p:cNvPr id="21" name="Shape 19"/>
          <p:cNvSpPr/>
          <p:nvPr/>
        </p:nvSpPr>
        <p:spPr>
          <a:xfrm>
            <a:off x="256032" y="4882896"/>
            <a:ext cx="8177624" cy="36576"/>
          </a:xfrm>
          <a:prstGeom prst="rect">
            <a:avLst/>
          </a:prstGeom>
          <a:solidFill>
            <a:srgbClr val="0D6EAF"/>
          </a:solidFill>
          <a:ln w="12700">
            <a:solidFill>
              <a:srgbClr val="0D6EAF"/>
            </a:solidFill>
            <a:prstDash val="solid"/>
          </a:ln>
        </p:spPr>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6F8FA"/>
        </a:solidFill>
      </p:bgPr>
    </p:bg>
    <p:spTree>
      <p:nvGrpSpPr>
        <p:cNvPr id="1" name=""/>
        <p:cNvGrpSpPr/>
        <p:nvPr/>
      </p:nvGrpSpPr>
      <p:grpSpPr>
        <a:xfrm>
          <a:off x="0" y="0"/>
          <a:ext cx="0" cy="0"/>
          <a:chOff x="0" y="0"/>
          <a:chExt cx="0" cy="0"/>
        </a:xfrm>
      </p:grpSpPr>
      <p:sp>
        <p:nvSpPr>
          <p:cNvPr id="2" name="Shape 0"/>
          <p:cNvSpPr/>
          <p:nvPr/>
        </p:nvSpPr>
        <p:spPr>
          <a:xfrm>
            <a:off x="0" y="0"/>
            <a:ext cx="118872" cy="5143500"/>
          </a:xfrm>
          <a:prstGeom prst="rect">
            <a:avLst/>
          </a:prstGeom>
          <a:solidFill>
            <a:srgbClr val="0D6EAF"/>
          </a:solidFill>
          <a:ln w="12700">
            <a:solidFill>
              <a:srgbClr val="0D6EAF"/>
            </a:solidFill>
            <a:prstDash val="solid"/>
          </a:ln>
        </p:spPr>
      </p:sp>
      <p:sp>
        <p:nvSpPr>
          <p:cNvPr id="3" name="Text 1"/>
          <p:cNvSpPr/>
          <p:nvPr/>
        </p:nvSpPr>
        <p:spPr>
          <a:xfrm>
            <a:off x="256032" y="201168"/>
            <a:ext cx="8686800" cy="566928"/>
          </a:xfrm>
          <a:prstGeom prst="rect">
            <a:avLst/>
          </a:prstGeom>
          <a:noFill/>
          <a:ln/>
        </p:spPr>
        <p:txBody>
          <a:bodyPr wrap="square" lIns="0" tIns="0" rIns="0" bIns="0" rtlCol="0" anchor="ctr">
            <a:normAutofit/>
          </a:bodyPr>
          <a:lstStyle/>
          <a:p>
            <a:pPr indent="0" marL="0">
              <a:buNone/>
            </a:pPr>
            <a:r>
              <a:rPr lang="en-US" sz="2600" b="1" dirty="0">
                <a:solidFill>
                  <a:srgbClr val="1B2A4A"/>
                </a:solidFill>
                <a:latin typeface="Calibri" pitchFamily="34" charset="0"/>
                <a:ea typeface="Calibri" pitchFamily="34" charset="-122"/>
                <a:cs typeface="Calibri" pitchFamily="34" charset="-120"/>
              </a:rPr>
              <a:t>Three-Controller Comparison</a:t>
            </a:r>
            <a:endParaRPr lang="en-US" sz="2600" dirty="0"/>
          </a:p>
        </p:txBody>
      </p:sp>
      <p:sp>
        <p:nvSpPr>
          <p:cNvPr id="4" name="Text 2"/>
          <p:cNvSpPr/>
          <p:nvPr/>
        </p:nvSpPr>
        <p:spPr>
          <a:xfrm>
            <a:off x="256032" y="768096"/>
            <a:ext cx="8686800" cy="274320"/>
          </a:xfrm>
          <a:prstGeom prst="rect">
            <a:avLst/>
          </a:prstGeom>
          <a:noFill/>
          <a:ln/>
        </p:spPr>
        <p:txBody>
          <a:bodyPr wrap="square" lIns="0" tIns="0" rIns="0" bIns="0" rtlCol="0" anchor="ctr">
            <a:normAutofit/>
          </a:bodyPr>
          <a:lstStyle/>
          <a:p>
            <a:pPr indent="0" marL="0">
              <a:buNone/>
            </a:pPr>
            <a:r>
              <a:rPr lang="en-US" sz="1200" i="1" dirty="0">
                <a:solidFill>
                  <a:srgbClr val="64748B"/>
                </a:solidFill>
                <a:latin typeface="Calibri" pitchFamily="34" charset="0"/>
                <a:ea typeface="Calibri" pitchFamily="34" charset="-122"/>
                <a:cs typeface="Calibri" pitchFamily="34" charset="-120"/>
              </a:rPr>
              <a:t>This comparison is rigorous in sourcing but intentionally modest in claim strength: it is based on one pinned run per condition.</a:t>
            </a:r>
            <a:endParaRPr lang="en-US" sz="1200" dirty="0"/>
          </a:p>
        </p:txBody>
      </p:sp>
      <p:sp>
        <p:nvSpPr>
          <p:cNvPr id="5" name="Shape 3"/>
          <p:cNvSpPr/>
          <p:nvPr/>
        </p:nvSpPr>
        <p:spPr>
          <a:xfrm>
            <a:off x="256032" y="822960"/>
            <a:ext cx="8631936" cy="0"/>
          </a:xfrm>
          <a:prstGeom prst="line">
            <a:avLst/>
          </a:prstGeom>
          <a:noFill/>
          <a:ln w="9525">
            <a:solidFill>
              <a:srgbClr val="DDE3EC"/>
            </a:solidFill>
            <a:prstDash val="solid"/>
          </a:ln>
        </p:spPr>
      </p:sp>
      <p:sp>
        <p:nvSpPr>
          <p:cNvPr id="6" name="Shape 4"/>
          <p:cNvSpPr/>
          <p:nvPr/>
        </p:nvSpPr>
        <p:spPr>
          <a:xfrm>
            <a:off x="502920" y="1024128"/>
            <a:ext cx="1636776" cy="331470"/>
          </a:xfrm>
          <a:prstGeom prst="rect">
            <a:avLst/>
          </a:prstGeom>
          <a:solidFill>
            <a:srgbClr val="D6E8F5"/>
          </a:solidFill>
          <a:ln w="6350">
            <a:solidFill>
              <a:srgbClr val="DDE3EC"/>
            </a:solidFill>
            <a:prstDash val="solid"/>
          </a:ln>
        </p:spPr>
      </p:sp>
      <p:sp>
        <p:nvSpPr>
          <p:cNvPr id="7" name="Text 5"/>
          <p:cNvSpPr/>
          <p:nvPr/>
        </p:nvSpPr>
        <p:spPr>
          <a:xfrm>
            <a:off x="557784" y="1069848"/>
            <a:ext cx="1527048" cy="240030"/>
          </a:xfrm>
          <a:prstGeom prst="rect">
            <a:avLst/>
          </a:prstGeom>
          <a:noFill/>
          <a:ln/>
        </p:spPr>
        <p:txBody>
          <a:bodyPr wrap="square" lIns="0" tIns="0" rIns="0" bIns="0" rtlCol="0" anchor="ctr">
            <a:normAutofit/>
          </a:bodyPr>
          <a:lstStyle/>
          <a:p>
            <a:pPr algn="ctr" indent="0" marL="0">
              <a:buNone/>
            </a:pPr>
            <a:r>
              <a:rPr lang="en-US" sz="950" b="1" dirty="0">
                <a:solidFill>
                  <a:srgbClr val="1B2A4A"/>
                </a:solidFill>
                <a:latin typeface="Calibri" pitchFamily="34" charset="0"/>
                <a:ea typeface="Calibri" pitchFamily="34" charset="-122"/>
                <a:cs typeface="Calibri" pitchFamily="34" charset="-120"/>
              </a:rPr>
              <a:t>Controller</a:t>
            </a:r>
            <a:endParaRPr lang="en-US" sz="950" dirty="0"/>
          </a:p>
        </p:txBody>
      </p:sp>
      <p:sp>
        <p:nvSpPr>
          <p:cNvPr id="8" name="Shape 6"/>
          <p:cNvSpPr/>
          <p:nvPr/>
        </p:nvSpPr>
        <p:spPr>
          <a:xfrm>
            <a:off x="2139696" y="1024128"/>
            <a:ext cx="1636776" cy="331470"/>
          </a:xfrm>
          <a:prstGeom prst="rect">
            <a:avLst/>
          </a:prstGeom>
          <a:solidFill>
            <a:srgbClr val="D6E8F5"/>
          </a:solidFill>
          <a:ln w="6350">
            <a:solidFill>
              <a:srgbClr val="DDE3EC"/>
            </a:solidFill>
            <a:prstDash val="solid"/>
          </a:ln>
        </p:spPr>
      </p:sp>
      <p:sp>
        <p:nvSpPr>
          <p:cNvPr id="9" name="Text 7"/>
          <p:cNvSpPr/>
          <p:nvPr/>
        </p:nvSpPr>
        <p:spPr>
          <a:xfrm>
            <a:off x="2194560" y="1069848"/>
            <a:ext cx="1527048" cy="240030"/>
          </a:xfrm>
          <a:prstGeom prst="rect">
            <a:avLst/>
          </a:prstGeom>
          <a:noFill/>
          <a:ln/>
        </p:spPr>
        <p:txBody>
          <a:bodyPr wrap="square" lIns="0" tIns="0" rIns="0" bIns="0" rtlCol="0" anchor="ctr">
            <a:normAutofit/>
          </a:bodyPr>
          <a:lstStyle/>
          <a:p>
            <a:pPr algn="ctr" indent="0" marL="0">
              <a:buNone/>
            </a:pPr>
            <a:r>
              <a:rPr lang="en-US" sz="950" b="1" dirty="0">
                <a:solidFill>
                  <a:srgbClr val="1B2A4A"/>
                </a:solidFill>
                <a:latin typeface="Calibri" pitchFamily="34" charset="0"/>
                <a:ea typeface="Calibri" pitchFamily="34" charset="-122"/>
                <a:cs typeface="Calibri" pitchFamily="34" charset="-120"/>
              </a:rPr>
              <a:t>Hold α RMS</a:t>
            </a:r>
            <a:endParaRPr lang="en-US" sz="950" dirty="0"/>
          </a:p>
        </p:txBody>
      </p:sp>
      <p:sp>
        <p:nvSpPr>
          <p:cNvPr id="10" name="Shape 8"/>
          <p:cNvSpPr/>
          <p:nvPr/>
        </p:nvSpPr>
        <p:spPr>
          <a:xfrm>
            <a:off x="3776472" y="1024128"/>
            <a:ext cx="1636776" cy="331470"/>
          </a:xfrm>
          <a:prstGeom prst="rect">
            <a:avLst/>
          </a:prstGeom>
          <a:solidFill>
            <a:srgbClr val="D6E8F5"/>
          </a:solidFill>
          <a:ln w="6350">
            <a:solidFill>
              <a:srgbClr val="DDE3EC"/>
            </a:solidFill>
            <a:prstDash val="solid"/>
          </a:ln>
        </p:spPr>
      </p:sp>
      <p:sp>
        <p:nvSpPr>
          <p:cNvPr id="11" name="Text 9"/>
          <p:cNvSpPr/>
          <p:nvPr/>
        </p:nvSpPr>
        <p:spPr>
          <a:xfrm>
            <a:off x="3831336" y="1069848"/>
            <a:ext cx="1527048" cy="240030"/>
          </a:xfrm>
          <a:prstGeom prst="rect">
            <a:avLst/>
          </a:prstGeom>
          <a:noFill/>
          <a:ln/>
        </p:spPr>
        <p:txBody>
          <a:bodyPr wrap="square" lIns="0" tIns="0" rIns="0" bIns="0" rtlCol="0" anchor="ctr">
            <a:normAutofit/>
          </a:bodyPr>
          <a:lstStyle/>
          <a:p>
            <a:pPr algn="ctr" indent="0" marL="0">
              <a:buNone/>
            </a:pPr>
            <a:r>
              <a:rPr lang="en-US" sz="950" b="1" dirty="0">
                <a:solidFill>
                  <a:srgbClr val="1B2A4A"/>
                </a:solidFill>
                <a:latin typeface="Calibri" pitchFamily="34" charset="0"/>
                <a:ea typeface="Calibri" pitchFamily="34" charset="-122"/>
                <a:cs typeface="Calibri" pitchFamily="34" charset="-120"/>
              </a:rPr>
              <a:t>Hold acc RMS</a:t>
            </a:r>
            <a:endParaRPr lang="en-US" sz="950" dirty="0"/>
          </a:p>
        </p:txBody>
      </p:sp>
      <p:sp>
        <p:nvSpPr>
          <p:cNvPr id="12" name="Shape 10"/>
          <p:cNvSpPr/>
          <p:nvPr/>
        </p:nvSpPr>
        <p:spPr>
          <a:xfrm>
            <a:off x="5413248" y="1024128"/>
            <a:ext cx="1636776" cy="331470"/>
          </a:xfrm>
          <a:prstGeom prst="rect">
            <a:avLst/>
          </a:prstGeom>
          <a:solidFill>
            <a:srgbClr val="D6E8F5"/>
          </a:solidFill>
          <a:ln w="6350">
            <a:solidFill>
              <a:srgbClr val="DDE3EC"/>
            </a:solidFill>
            <a:prstDash val="solid"/>
          </a:ln>
        </p:spPr>
      </p:sp>
      <p:sp>
        <p:nvSpPr>
          <p:cNvPr id="13" name="Text 11"/>
          <p:cNvSpPr/>
          <p:nvPr/>
        </p:nvSpPr>
        <p:spPr>
          <a:xfrm>
            <a:off x="5468112" y="1069848"/>
            <a:ext cx="1527048" cy="240030"/>
          </a:xfrm>
          <a:prstGeom prst="rect">
            <a:avLst/>
          </a:prstGeom>
          <a:noFill/>
          <a:ln/>
        </p:spPr>
        <p:txBody>
          <a:bodyPr wrap="square" lIns="0" tIns="0" rIns="0" bIns="0" rtlCol="0" anchor="ctr">
            <a:normAutofit/>
          </a:bodyPr>
          <a:lstStyle/>
          <a:p>
            <a:pPr algn="ctr" indent="0" marL="0">
              <a:buNone/>
            </a:pPr>
            <a:r>
              <a:rPr lang="en-US" sz="950" b="1" dirty="0">
                <a:solidFill>
                  <a:srgbClr val="1B2A4A"/>
                </a:solidFill>
                <a:latin typeface="Calibri" pitchFamily="34" charset="0"/>
                <a:ea typeface="Calibri" pitchFamily="34" charset="-122"/>
                <a:cs typeface="Calibri" pitchFamily="34" charset="-120"/>
              </a:rPr>
              <a:t>Tap outcome</a:t>
            </a:r>
            <a:endParaRPr lang="en-US" sz="950" dirty="0"/>
          </a:p>
        </p:txBody>
      </p:sp>
      <p:sp>
        <p:nvSpPr>
          <p:cNvPr id="14" name="Shape 12"/>
          <p:cNvSpPr/>
          <p:nvPr/>
        </p:nvSpPr>
        <p:spPr>
          <a:xfrm>
            <a:off x="7050024" y="1024128"/>
            <a:ext cx="1636776" cy="331470"/>
          </a:xfrm>
          <a:prstGeom prst="rect">
            <a:avLst/>
          </a:prstGeom>
          <a:solidFill>
            <a:srgbClr val="D6E8F5"/>
          </a:solidFill>
          <a:ln w="6350">
            <a:solidFill>
              <a:srgbClr val="DDE3EC"/>
            </a:solidFill>
            <a:prstDash val="solid"/>
          </a:ln>
        </p:spPr>
      </p:sp>
      <p:sp>
        <p:nvSpPr>
          <p:cNvPr id="15" name="Text 13"/>
          <p:cNvSpPr/>
          <p:nvPr/>
        </p:nvSpPr>
        <p:spPr>
          <a:xfrm>
            <a:off x="7104888" y="1069848"/>
            <a:ext cx="1527048" cy="240030"/>
          </a:xfrm>
          <a:prstGeom prst="rect">
            <a:avLst/>
          </a:prstGeom>
          <a:noFill/>
          <a:ln/>
        </p:spPr>
        <p:txBody>
          <a:bodyPr wrap="square" lIns="0" tIns="0" rIns="0" bIns="0" rtlCol="0" anchor="ctr">
            <a:normAutofit/>
          </a:bodyPr>
          <a:lstStyle/>
          <a:p>
            <a:pPr algn="ctr" indent="0" marL="0">
              <a:buNone/>
            </a:pPr>
            <a:r>
              <a:rPr lang="en-US" sz="950" b="1" dirty="0">
                <a:solidFill>
                  <a:srgbClr val="1B2A4A"/>
                </a:solidFill>
                <a:latin typeface="Calibri" pitchFamily="34" charset="0"/>
                <a:ea typeface="Calibri" pitchFamily="34" charset="-122"/>
                <a:cs typeface="Calibri" pitchFamily="34" charset="-120"/>
              </a:rPr>
              <a:t>Tap acc RMS</a:t>
            </a:r>
            <a:endParaRPr lang="en-US" sz="950" dirty="0"/>
          </a:p>
        </p:txBody>
      </p:sp>
      <p:sp>
        <p:nvSpPr>
          <p:cNvPr id="16" name="Shape 14"/>
          <p:cNvSpPr/>
          <p:nvPr/>
        </p:nvSpPr>
        <p:spPr>
          <a:xfrm>
            <a:off x="502920" y="1355598"/>
            <a:ext cx="1636776" cy="331470"/>
          </a:xfrm>
          <a:prstGeom prst="rect">
            <a:avLst/>
          </a:prstGeom>
          <a:solidFill>
            <a:srgbClr val="FFFFFF"/>
          </a:solidFill>
          <a:ln w="6350">
            <a:solidFill>
              <a:srgbClr val="DDE3EC"/>
            </a:solidFill>
            <a:prstDash val="solid"/>
          </a:ln>
        </p:spPr>
      </p:sp>
      <p:sp>
        <p:nvSpPr>
          <p:cNvPr id="17" name="Text 15"/>
          <p:cNvSpPr/>
          <p:nvPr/>
        </p:nvSpPr>
        <p:spPr>
          <a:xfrm>
            <a:off x="557784" y="1401318"/>
            <a:ext cx="1527048" cy="240030"/>
          </a:xfrm>
          <a:prstGeom prst="rect">
            <a:avLst/>
          </a:prstGeom>
          <a:noFill/>
          <a:ln/>
        </p:spPr>
        <p:txBody>
          <a:bodyPr wrap="square" lIns="0" tIns="0" rIns="0" bIns="0" rtlCol="0" anchor="ctr">
            <a:normAutofit/>
          </a:bodyPr>
          <a:lstStyle/>
          <a:p>
            <a:pPr algn="ctr" indent="0" marL="0">
              <a:buNone/>
            </a:pPr>
            <a:r>
              <a:rPr lang="en-US" sz="900" dirty="0">
                <a:solidFill>
                  <a:srgbClr val="3D5472"/>
                </a:solidFill>
                <a:latin typeface="Calibri" pitchFamily="34" charset="0"/>
                <a:ea typeface="Calibri" pitchFamily="34" charset="-122"/>
                <a:cs typeface="Calibri" pitchFamily="34" charset="-120"/>
              </a:rPr>
              <a:t>Linear</a:t>
            </a:r>
            <a:endParaRPr lang="en-US" sz="900" dirty="0"/>
          </a:p>
        </p:txBody>
      </p:sp>
      <p:sp>
        <p:nvSpPr>
          <p:cNvPr id="18" name="Shape 16"/>
          <p:cNvSpPr/>
          <p:nvPr/>
        </p:nvSpPr>
        <p:spPr>
          <a:xfrm>
            <a:off x="2139696" y="1355598"/>
            <a:ext cx="1636776" cy="331470"/>
          </a:xfrm>
          <a:prstGeom prst="rect">
            <a:avLst/>
          </a:prstGeom>
          <a:solidFill>
            <a:srgbClr val="FFFFFF"/>
          </a:solidFill>
          <a:ln w="6350">
            <a:solidFill>
              <a:srgbClr val="DDE3EC"/>
            </a:solidFill>
            <a:prstDash val="solid"/>
          </a:ln>
        </p:spPr>
      </p:sp>
      <p:sp>
        <p:nvSpPr>
          <p:cNvPr id="19" name="Text 17"/>
          <p:cNvSpPr/>
          <p:nvPr/>
        </p:nvSpPr>
        <p:spPr>
          <a:xfrm>
            <a:off x="2194560" y="1401318"/>
            <a:ext cx="1527048" cy="240030"/>
          </a:xfrm>
          <a:prstGeom prst="rect">
            <a:avLst/>
          </a:prstGeom>
          <a:noFill/>
          <a:ln/>
        </p:spPr>
        <p:txBody>
          <a:bodyPr wrap="square" lIns="0" tIns="0" rIns="0" bIns="0" rtlCol="0" anchor="ctr">
            <a:normAutofit/>
          </a:bodyPr>
          <a:lstStyle/>
          <a:p>
            <a:pPr algn="ctr" indent="0" marL="0">
              <a:buNone/>
            </a:pPr>
            <a:r>
              <a:rPr lang="en-US" sz="900" dirty="0">
                <a:solidFill>
                  <a:srgbClr val="3D5472"/>
                </a:solidFill>
                <a:latin typeface="Calibri" pitchFamily="34" charset="0"/>
                <a:ea typeface="Calibri" pitchFamily="34" charset="-122"/>
                <a:cs typeface="Calibri" pitchFamily="34" charset="-120"/>
              </a:rPr>
              <a:t>0.513°</a:t>
            </a:r>
            <a:endParaRPr lang="en-US" sz="900" dirty="0"/>
          </a:p>
        </p:txBody>
      </p:sp>
      <p:sp>
        <p:nvSpPr>
          <p:cNvPr id="20" name="Shape 18"/>
          <p:cNvSpPr/>
          <p:nvPr/>
        </p:nvSpPr>
        <p:spPr>
          <a:xfrm>
            <a:off x="3776472" y="1355598"/>
            <a:ext cx="1636776" cy="331470"/>
          </a:xfrm>
          <a:prstGeom prst="rect">
            <a:avLst/>
          </a:prstGeom>
          <a:solidFill>
            <a:srgbClr val="FFFFFF"/>
          </a:solidFill>
          <a:ln w="6350">
            <a:solidFill>
              <a:srgbClr val="DDE3EC"/>
            </a:solidFill>
            <a:prstDash val="solid"/>
          </a:ln>
        </p:spPr>
      </p:sp>
      <p:sp>
        <p:nvSpPr>
          <p:cNvPr id="21" name="Text 19"/>
          <p:cNvSpPr/>
          <p:nvPr/>
        </p:nvSpPr>
        <p:spPr>
          <a:xfrm>
            <a:off x="3831336" y="1401318"/>
            <a:ext cx="1527048" cy="240030"/>
          </a:xfrm>
          <a:prstGeom prst="rect">
            <a:avLst/>
          </a:prstGeom>
          <a:noFill/>
          <a:ln/>
        </p:spPr>
        <p:txBody>
          <a:bodyPr wrap="square" lIns="0" tIns="0" rIns="0" bIns="0" rtlCol="0" anchor="ctr">
            <a:normAutofit/>
          </a:bodyPr>
          <a:lstStyle/>
          <a:p>
            <a:pPr algn="ctr" indent="0" marL="0">
              <a:buNone/>
            </a:pPr>
            <a:r>
              <a:rPr lang="en-US" sz="900" dirty="0">
                <a:solidFill>
                  <a:srgbClr val="3D5472"/>
                </a:solidFill>
                <a:latin typeface="Calibri" pitchFamily="34" charset="0"/>
                <a:ea typeface="Calibri" pitchFamily="34" charset="-122"/>
                <a:cs typeface="Calibri" pitchFamily="34" charset="-120"/>
              </a:rPr>
              <a:t>1354.846</a:t>
            </a:r>
            <a:endParaRPr lang="en-US" sz="900" dirty="0"/>
          </a:p>
        </p:txBody>
      </p:sp>
      <p:sp>
        <p:nvSpPr>
          <p:cNvPr id="22" name="Shape 20"/>
          <p:cNvSpPr/>
          <p:nvPr/>
        </p:nvSpPr>
        <p:spPr>
          <a:xfrm>
            <a:off x="5413248" y="1355598"/>
            <a:ext cx="1636776" cy="331470"/>
          </a:xfrm>
          <a:prstGeom prst="rect">
            <a:avLst/>
          </a:prstGeom>
          <a:solidFill>
            <a:srgbClr val="FFFFFF"/>
          </a:solidFill>
          <a:ln w="6350">
            <a:solidFill>
              <a:srgbClr val="DDE3EC"/>
            </a:solidFill>
            <a:prstDash val="solid"/>
          </a:ln>
        </p:spPr>
      </p:sp>
      <p:sp>
        <p:nvSpPr>
          <p:cNvPr id="23" name="Text 21"/>
          <p:cNvSpPr/>
          <p:nvPr/>
        </p:nvSpPr>
        <p:spPr>
          <a:xfrm>
            <a:off x="5468112" y="1401318"/>
            <a:ext cx="1527048" cy="240030"/>
          </a:xfrm>
          <a:prstGeom prst="rect">
            <a:avLst/>
          </a:prstGeom>
          <a:noFill/>
          <a:ln/>
        </p:spPr>
        <p:txBody>
          <a:bodyPr wrap="square" lIns="0" tIns="0" rIns="0" bIns="0" rtlCol="0" anchor="ctr">
            <a:normAutofit/>
          </a:bodyPr>
          <a:lstStyle/>
          <a:p>
            <a:pPr algn="ctr" indent="0" marL="0">
              <a:buNone/>
            </a:pPr>
            <a:r>
              <a:rPr lang="en-US" sz="900" dirty="0">
                <a:solidFill>
                  <a:srgbClr val="3D5472"/>
                </a:solidFill>
                <a:latin typeface="Calibri" pitchFamily="34" charset="0"/>
                <a:ea typeface="Calibri" pitchFamily="34" charset="-122"/>
                <a:cs typeface="Calibri" pitchFamily="34" charset="-120"/>
              </a:rPr>
              <a:t>Success (T1)</a:t>
            </a:r>
            <a:endParaRPr lang="en-US" sz="900" dirty="0"/>
          </a:p>
        </p:txBody>
      </p:sp>
      <p:sp>
        <p:nvSpPr>
          <p:cNvPr id="24" name="Shape 22"/>
          <p:cNvSpPr/>
          <p:nvPr/>
        </p:nvSpPr>
        <p:spPr>
          <a:xfrm>
            <a:off x="7050024" y="1355598"/>
            <a:ext cx="1636776" cy="331470"/>
          </a:xfrm>
          <a:prstGeom prst="rect">
            <a:avLst/>
          </a:prstGeom>
          <a:solidFill>
            <a:srgbClr val="FFFFFF"/>
          </a:solidFill>
          <a:ln w="6350">
            <a:solidFill>
              <a:srgbClr val="DDE3EC"/>
            </a:solidFill>
            <a:prstDash val="solid"/>
          </a:ln>
        </p:spPr>
      </p:sp>
      <p:sp>
        <p:nvSpPr>
          <p:cNvPr id="25" name="Text 23"/>
          <p:cNvSpPr/>
          <p:nvPr/>
        </p:nvSpPr>
        <p:spPr>
          <a:xfrm>
            <a:off x="7104888" y="1401318"/>
            <a:ext cx="1527048" cy="240030"/>
          </a:xfrm>
          <a:prstGeom prst="rect">
            <a:avLst/>
          </a:prstGeom>
          <a:noFill/>
          <a:ln/>
        </p:spPr>
        <p:txBody>
          <a:bodyPr wrap="square" lIns="0" tIns="0" rIns="0" bIns="0" rtlCol="0" anchor="ctr">
            <a:normAutofit/>
          </a:bodyPr>
          <a:lstStyle/>
          <a:p>
            <a:pPr algn="ctr" indent="0" marL="0">
              <a:buNone/>
            </a:pPr>
            <a:r>
              <a:rPr lang="en-US" sz="900" dirty="0">
                <a:solidFill>
                  <a:srgbClr val="3D5472"/>
                </a:solidFill>
                <a:latin typeface="Calibri" pitchFamily="34" charset="0"/>
                <a:ea typeface="Calibri" pitchFamily="34" charset="-122"/>
                <a:cs typeface="Calibri" pitchFamily="34" charset="-120"/>
              </a:rPr>
              <a:t>1695.658</a:t>
            </a:r>
            <a:endParaRPr lang="en-US" sz="900" dirty="0"/>
          </a:p>
        </p:txBody>
      </p:sp>
      <p:sp>
        <p:nvSpPr>
          <p:cNvPr id="26" name="Shape 24"/>
          <p:cNvSpPr/>
          <p:nvPr/>
        </p:nvSpPr>
        <p:spPr>
          <a:xfrm>
            <a:off x="502920" y="1687068"/>
            <a:ext cx="1636776" cy="331470"/>
          </a:xfrm>
          <a:prstGeom prst="rect">
            <a:avLst/>
          </a:prstGeom>
          <a:solidFill>
            <a:srgbClr val="FFFFFF"/>
          </a:solidFill>
          <a:ln w="6350">
            <a:solidFill>
              <a:srgbClr val="DDE3EC"/>
            </a:solidFill>
            <a:prstDash val="solid"/>
          </a:ln>
        </p:spPr>
      </p:sp>
      <p:sp>
        <p:nvSpPr>
          <p:cNvPr id="27" name="Text 25"/>
          <p:cNvSpPr/>
          <p:nvPr/>
        </p:nvSpPr>
        <p:spPr>
          <a:xfrm>
            <a:off x="557784" y="1732788"/>
            <a:ext cx="1527048" cy="240030"/>
          </a:xfrm>
          <a:prstGeom prst="rect">
            <a:avLst/>
          </a:prstGeom>
          <a:noFill/>
          <a:ln/>
        </p:spPr>
        <p:txBody>
          <a:bodyPr wrap="square" lIns="0" tIns="0" rIns="0" bIns="0" rtlCol="0" anchor="ctr">
            <a:normAutofit/>
          </a:bodyPr>
          <a:lstStyle/>
          <a:p>
            <a:pPr algn="ctr" indent="0" marL="0">
              <a:buNone/>
            </a:pPr>
            <a:r>
              <a:rPr lang="en-US" sz="900" dirty="0">
                <a:solidFill>
                  <a:srgbClr val="3D5472"/>
                </a:solidFill>
                <a:latin typeface="Calibri" pitchFamily="34" charset="0"/>
                <a:ea typeface="Calibri" pitchFamily="34" charset="-122"/>
                <a:cs typeface="Calibri" pitchFamily="34" charset="-120"/>
              </a:rPr>
              <a:t>Hybrid SMC</a:t>
            </a:r>
            <a:endParaRPr lang="en-US" sz="900" dirty="0"/>
          </a:p>
        </p:txBody>
      </p:sp>
      <p:sp>
        <p:nvSpPr>
          <p:cNvPr id="28" name="Shape 26"/>
          <p:cNvSpPr/>
          <p:nvPr/>
        </p:nvSpPr>
        <p:spPr>
          <a:xfrm>
            <a:off x="2139696" y="1687068"/>
            <a:ext cx="1636776" cy="331470"/>
          </a:xfrm>
          <a:prstGeom prst="rect">
            <a:avLst/>
          </a:prstGeom>
          <a:solidFill>
            <a:srgbClr val="FFFFFF"/>
          </a:solidFill>
          <a:ln w="6350">
            <a:solidFill>
              <a:srgbClr val="DDE3EC"/>
            </a:solidFill>
            <a:prstDash val="solid"/>
          </a:ln>
        </p:spPr>
      </p:sp>
      <p:sp>
        <p:nvSpPr>
          <p:cNvPr id="29" name="Text 27"/>
          <p:cNvSpPr/>
          <p:nvPr/>
        </p:nvSpPr>
        <p:spPr>
          <a:xfrm>
            <a:off x="2194560" y="1732788"/>
            <a:ext cx="1527048" cy="240030"/>
          </a:xfrm>
          <a:prstGeom prst="rect">
            <a:avLst/>
          </a:prstGeom>
          <a:noFill/>
          <a:ln/>
        </p:spPr>
        <p:txBody>
          <a:bodyPr wrap="square" lIns="0" tIns="0" rIns="0" bIns="0" rtlCol="0" anchor="ctr">
            <a:normAutofit/>
          </a:bodyPr>
          <a:lstStyle/>
          <a:p>
            <a:pPr algn="ctr" indent="0" marL="0">
              <a:buNone/>
            </a:pPr>
            <a:r>
              <a:rPr lang="en-US" sz="900" dirty="0">
                <a:solidFill>
                  <a:srgbClr val="3D5472"/>
                </a:solidFill>
                <a:latin typeface="Calibri" pitchFamily="34" charset="0"/>
                <a:ea typeface="Calibri" pitchFamily="34" charset="-122"/>
                <a:cs typeface="Calibri" pitchFamily="34" charset="-120"/>
              </a:rPr>
              <a:t>0.826°</a:t>
            </a:r>
            <a:endParaRPr lang="en-US" sz="900" dirty="0"/>
          </a:p>
        </p:txBody>
      </p:sp>
      <p:sp>
        <p:nvSpPr>
          <p:cNvPr id="30" name="Shape 28"/>
          <p:cNvSpPr/>
          <p:nvPr/>
        </p:nvSpPr>
        <p:spPr>
          <a:xfrm>
            <a:off x="3776472" y="1687068"/>
            <a:ext cx="1636776" cy="331470"/>
          </a:xfrm>
          <a:prstGeom prst="rect">
            <a:avLst/>
          </a:prstGeom>
          <a:solidFill>
            <a:srgbClr val="FFFFFF"/>
          </a:solidFill>
          <a:ln w="6350">
            <a:solidFill>
              <a:srgbClr val="DDE3EC"/>
            </a:solidFill>
            <a:prstDash val="solid"/>
          </a:ln>
        </p:spPr>
      </p:sp>
      <p:sp>
        <p:nvSpPr>
          <p:cNvPr id="31" name="Text 29"/>
          <p:cNvSpPr/>
          <p:nvPr/>
        </p:nvSpPr>
        <p:spPr>
          <a:xfrm>
            <a:off x="3831336" y="1732788"/>
            <a:ext cx="1527048" cy="240030"/>
          </a:xfrm>
          <a:prstGeom prst="rect">
            <a:avLst/>
          </a:prstGeom>
          <a:noFill/>
          <a:ln/>
        </p:spPr>
        <p:txBody>
          <a:bodyPr wrap="square" lIns="0" tIns="0" rIns="0" bIns="0" rtlCol="0" anchor="ctr">
            <a:normAutofit/>
          </a:bodyPr>
          <a:lstStyle/>
          <a:p>
            <a:pPr algn="ctr" indent="0" marL="0">
              <a:buNone/>
            </a:pPr>
            <a:r>
              <a:rPr lang="en-US" sz="900" dirty="0">
                <a:solidFill>
                  <a:srgbClr val="3D5472"/>
                </a:solidFill>
                <a:latin typeface="Calibri" pitchFamily="34" charset="0"/>
                <a:ea typeface="Calibri" pitchFamily="34" charset="-122"/>
                <a:cs typeface="Calibri" pitchFamily="34" charset="-120"/>
              </a:rPr>
              <a:t>1465.582</a:t>
            </a:r>
            <a:endParaRPr lang="en-US" sz="900" dirty="0"/>
          </a:p>
        </p:txBody>
      </p:sp>
      <p:sp>
        <p:nvSpPr>
          <p:cNvPr id="32" name="Shape 30"/>
          <p:cNvSpPr/>
          <p:nvPr/>
        </p:nvSpPr>
        <p:spPr>
          <a:xfrm>
            <a:off x="5413248" y="1687068"/>
            <a:ext cx="1636776" cy="331470"/>
          </a:xfrm>
          <a:prstGeom prst="rect">
            <a:avLst/>
          </a:prstGeom>
          <a:solidFill>
            <a:srgbClr val="FFFFFF"/>
          </a:solidFill>
          <a:ln w="6350">
            <a:solidFill>
              <a:srgbClr val="DDE3EC"/>
            </a:solidFill>
            <a:prstDash val="solid"/>
          </a:ln>
        </p:spPr>
      </p:sp>
      <p:sp>
        <p:nvSpPr>
          <p:cNvPr id="33" name="Text 31"/>
          <p:cNvSpPr/>
          <p:nvPr/>
        </p:nvSpPr>
        <p:spPr>
          <a:xfrm>
            <a:off x="5468112" y="1732788"/>
            <a:ext cx="1527048" cy="240030"/>
          </a:xfrm>
          <a:prstGeom prst="rect">
            <a:avLst/>
          </a:prstGeom>
          <a:noFill/>
          <a:ln/>
        </p:spPr>
        <p:txBody>
          <a:bodyPr wrap="square" lIns="0" tIns="0" rIns="0" bIns="0" rtlCol="0" anchor="ctr">
            <a:normAutofit/>
          </a:bodyPr>
          <a:lstStyle/>
          <a:p>
            <a:pPr algn="ctr" indent="0" marL="0">
              <a:buNone/>
            </a:pPr>
            <a:r>
              <a:rPr lang="en-US" sz="900" dirty="0">
                <a:solidFill>
                  <a:srgbClr val="3D5472"/>
                </a:solidFill>
                <a:latin typeface="Calibri" pitchFamily="34" charset="0"/>
                <a:ea typeface="Calibri" pitchFamily="34" charset="-122"/>
                <a:cs typeface="Calibri" pitchFamily="34" charset="-120"/>
              </a:rPr>
              <a:t>Fallen (T2)</a:t>
            </a:r>
            <a:endParaRPr lang="en-US" sz="900" dirty="0"/>
          </a:p>
        </p:txBody>
      </p:sp>
      <p:sp>
        <p:nvSpPr>
          <p:cNvPr id="34" name="Shape 32"/>
          <p:cNvSpPr/>
          <p:nvPr/>
        </p:nvSpPr>
        <p:spPr>
          <a:xfrm>
            <a:off x="7050024" y="1687068"/>
            <a:ext cx="1636776" cy="331470"/>
          </a:xfrm>
          <a:prstGeom prst="rect">
            <a:avLst/>
          </a:prstGeom>
          <a:solidFill>
            <a:srgbClr val="FFFFFF"/>
          </a:solidFill>
          <a:ln w="6350">
            <a:solidFill>
              <a:srgbClr val="DDE3EC"/>
            </a:solidFill>
            <a:prstDash val="solid"/>
          </a:ln>
        </p:spPr>
      </p:sp>
      <p:sp>
        <p:nvSpPr>
          <p:cNvPr id="35" name="Text 33"/>
          <p:cNvSpPr/>
          <p:nvPr/>
        </p:nvSpPr>
        <p:spPr>
          <a:xfrm>
            <a:off x="7104888" y="1732788"/>
            <a:ext cx="1527048" cy="240030"/>
          </a:xfrm>
          <a:prstGeom prst="rect">
            <a:avLst/>
          </a:prstGeom>
          <a:noFill/>
          <a:ln/>
        </p:spPr>
        <p:txBody>
          <a:bodyPr wrap="square" lIns="0" tIns="0" rIns="0" bIns="0" rtlCol="0" anchor="ctr">
            <a:normAutofit/>
          </a:bodyPr>
          <a:lstStyle/>
          <a:p>
            <a:pPr algn="ctr" indent="0" marL="0">
              <a:buNone/>
            </a:pPr>
            <a:r>
              <a:rPr lang="en-US" sz="900" dirty="0">
                <a:solidFill>
                  <a:srgbClr val="3D5472"/>
                </a:solidFill>
                <a:latin typeface="Calibri" pitchFamily="34" charset="0"/>
                <a:ea typeface="Calibri" pitchFamily="34" charset="-122"/>
                <a:cs typeface="Calibri" pitchFamily="34" charset="-120"/>
              </a:rPr>
              <a:t>1493.067</a:t>
            </a:r>
            <a:endParaRPr lang="en-US" sz="900" dirty="0"/>
          </a:p>
        </p:txBody>
      </p:sp>
      <p:sp>
        <p:nvSpPr>
          <p:cNvPr id="36" name="Shape 34"/>
          <p:cNvSpPr/>
          <p:nvPr/>
        </p:nvSpPr>
        <p:spPr>
          <a:xfrm>
            <a:off x="502920" y="2018538"/>
            <a:ext cx="1636776" cy="331470"/>
          </a:xfrm>
          <a:prstGeom prst="rect">
            <a:avLst/>
          </a:prstGeom>
          <a:solidFill>
            <a:srgbClr val="FFFFFF"/>
          </a:solidFill>
          <a:ln w="6350">
            <a:solidFill>
              <a:srgbClr val="DDE3EC"/>
            </a:solidFill>
            <a:prstDash val="solid"/>
          </a:ln>
        </p:spPr>
      </p:sp>
      <p:sp>
        <p:nvSpPr>
          <p:cNvPr id="37" name="Text 35"/>
          <p:cNvSpPr/>
          <p:nvPr/>
        </p:nvSpPr>
        <p:spPr>
          <a:xfrm>
            <a:off x="557784" y="2064258"/>
            <a:ext cx="1527048" cy="240030"/>
          </a:xfrm>
          <a:prstGeom prst="rect">
            <a:avLst/>
          </a:prstGeom>
          <a:noFill/>
          <a:ln/>
        </p:spPr>
        <p:txBody>
          <a:bodyPr wrap="square" lIns="0" tIns="0" rIns="0" bIns="0" rtlCol="0" anchor="ctr">
            <a:normAutofit/>
          </a:bodyPr>
          <a:lstStyle/>
          <a:p>
            <a:pPr algn="ctr" indent="0" marL="0">
              <a:buNone/>
            </a:pPr>
            <a:r>
              <a:rPr lang="en-US" sz="900" dirty="0">
                <a:solidFill>
                  <a:srgbClr val="3D5472"/>
                </a:solidFill>
                <a:latin typeface="Calibri" pitchFamily="34" charset="0"/>
                <a:ea typeface="Calibri" pitchFamily="34" charset="-122"/>
                <a:cs typeface="Calibri" pitchFamily="34" charset="-120"/>
              </a:rPr>
              <a:t>Full-state SMC</a:t>
            </a:r>
            <a:endParaRPr lang="en-US" sz="900" dirty="0"/>
          </a:p>
        </p:txBody>
      </p:sp>
      <p:sp>
        <p:nvSpPr>
          <p:cNvPr id="38" name="Shape 36"/>
          <p:cNvSpPr/>
          <p:nvPr/>
        </p:nvSpPr>
        <p:spPr>
          <a:xfrm>
            <a:off x="2139696" y="2018538"/>
            <a:ext cx="1636776" cy="331470"/>
          </a:xfrm>
          <a:prstGeom prst="rect">
            <a:avLst/>
          </a:prstGeom>
          <a:solidFill>
            <a:srgbClr val="FFFFFF"/>
          </a:solidFill>
          <a:ln w="6350">
            <a:solidFill>
              <a:srgbClr val="DDE3EC"/>
            </a:solidFill>
            <a:prstDash val="solid"/>
          </a:ln>
        </p:spPr>
      </p:sp>
      <p:sp>
        <p:nvSpPr>
          <p:cNvPr id="39" name="Text 37"/>
          <p:cNvSpPr/>
          <p:nvPr/>
        </p:nvSpPr>
        <p:spPr>
          <a:xfrm>
            <a:off x="2194560" y="2064258"/>
            <a:ext cx="1527048" cy="240030"/>
          </a:xfrm>
          <a:prstGeom prst="rect">
            <a:avLst/>
          </a:prstGeom>
          <a:noFill/>
          <a:ln/>
        </p:spPr>
        <p:txBody>
          <a:bodyPr wrap="square" lIns="0" tIns="0" rIns="0" bIns="0" rtlCol="0" anchor="ctr">
            <a:normAutofit/>
          </a:bodyPr>
          <a:lstStyle/>
          <a:p>
            <a:pPr algn="ctr" indent="0" marL="0">
              <a:buNone/>
            </a:pPr>
            <a:r>
              <a:rPr lang="en-US" sz="900" dirty="0">
                <a:solidFill>
                  <a:srgbClr val="3D5472"/>
                </a:solidFill>
                <a:latin typeface="Calibri" pitchFamily="34" charset="0"/>
                <a:ea typeface="Calibri" pitchFamily="34" charset="-122"/>
                <a:cs typeface="Calibri" pitchFamily="34" charset="-120"/>
              </a:rPr>
              <a:t>1.61°</a:t>
            </a:r>
            <a:endParaRPr lang="en-US" sz="900" dirty="0"/>
          </a:p>
        </p:txBody>
      </p:sp>
      <p:sp>
        <p:nvSpPr>
          <p:cNvPr id="40" name="Shape 38"/>
          <p:cNvSpPr/>
          <p:nvPr/>
        </p:nvSpPr>
        <p:spPr>
          <a:xfrm>
            <a:off x="3776472" y="2018538"/>
            <a:ext cx="1636776" cy="331470"/>
          </a:xfrm>
          <a:prstGeom prst="rect">
            <a:avLst/>
          </a:prstGeom>
          <a:solidFill>
            <a:srgbClr val="FFFFFF"/>
          </a:solidFill>
          <a:ln w="6350">
            <a:solidFill>
              <a:srgbClr val="DDE3EC"/>
            </a:solidFill>
            <a:prstDash val="solid"/>
          </a:ln>
        </p:spPr>
      </p:sp>
      <p:sp>
        <p:nvSpPr>
          <p:cNvPr id="41" name="Text 39"/>
          <p:cNvSpPr/>
          <p:nvPr/>
        </p:nvSpPr>
        <p:spPr>
          <a:xfrm>
            <a:off x="3831336" y="2064258"/>
            <a:ext cx="1527048" cy="240030"/>
          </a:xfrm>
          <a:prstGeom prst="rect">
            <a:avLst/>
          </a:prstGeom>
          <a:noFill/>
          <a:ln/>
        </p:spPr>
        <p:txBody>
          <a:bodyPr wrap="square" lIns="0" tIns="0" rIns="0" bIns="0" rtlCol="0" anchor="ctr">
            <a:normAutofit/>
          </a:bodyPr>
          <a:lstStyle/>
          <a:p>
            <a:pPr algn="ctr" indent="0" marL="0">
              <a:buNone/>
            </a:pPr>
            <a:r>
              <a:rPr lang="en-US" sz="900" dirty="0">
                <a:solidFill>
                  <a:srgbClr val="3D5472"/>
                </a:solidFill>
                <a:latin typeface="Calibri" pitchFamily="34" charset="0"/>
                <a:ea typeface="Calibri" pitchFamily="34" charset="-122"/>
                <a:cs typeface="Calibri" pitchFamily="34" charset="-120"/>
              </a:rPr>
              <a:t>3364.957</a:t>
            </a:r>
            <a:endParaRPr lang="en-US" sz="900" dirty="0"/>
          </a:p>
        </p:txBody>
      </p:sp>
      <p:sp>
        <p:nvSpPr>
          <p:cNvPr id="42" name="Shape 40"/>
          <p:cNvSpPr/>
          <p:nvPr/>
        </p:nvSpPr>
        <p:spPr>
          <a:xfrm>
            <a:off x="5413248" y="2018538"/>
            <a:ext cx="1636776" cy="331470"/>
          </a:xfrm>
          <a:prstGeom prst="rect">
            <a:avLst/>
          </a:prstGeom>
          <a:solidFill>
            <a:srgbClr val="FFFFFF"/>
          </a:solidFill>
          <a:ln w="6350">
            <a:solidFill>
              <a:srgbClr val="DDE3EC"/>
            </a:solidFill>
            <a:prstDash val="solid"/>
          </a:ln>
        </p:spPr>
      </p:sp>
      <p:sp>
        <p:nvSpPr>
          <p:cNvPr id="43" name="Text 41"/>
          <p:cNvSpPr/>
          <p:nvPr/>
        </p:nvSpPr>
        <p:spPr>
          <a:xfrm>
            <a:off x="5468112" y="2064258"/>
            <a:ext cx="1527048" cy="240030"/>
          </a:xfrm>
          <a:prstGeom prst="rect">
            <a:avLst/>
          </a:prstGeom>
          <a:noFill/>
          <a:ln/>
        </p:spPr>
        <p:txBody>
          <a:bodyPr wrap="square" lIns="0" tIns="0" rIns="0" bIns="0" rtlCol="0" anchor="ctr">
            <a:normAutofit/>
          </a:bodyPr>
          <a:lstStyle/>
          <a:p>
            <a:pPr algn="ctr" indent="0" marL="0">
              <a:buNone/>
            </a:pPr>
            <a:r>
              <a:rPr lang="en-US" sz="900" dirty="0">
                <a:solidFill>
                  <a:srgbClr val="3D5472"/>
                </a:solidFill>
                <a:latin typeface="Calibri" pitchFamily="34" charset="0"/>
                <a:ea typeface="Calibri" pitchFamily="34" charset="-122"/>
                <a:cs typeface="Calibri" pitchFamily="34" charset="-120"/>
              </a:rPr>
              <a:t>Fallen (T3)</a:t>
            </a:r>
            <a:endParaRPr lang="en-US" sz="900" dirty="0"/>
          </a:p>
        </p:txBody>
      </p:sp>
      <p:sp>
        <p:nvSpPr>
          <p:cNvPr id="44" name="Shape 42"/>
          <p:cNvSpPr/>
          <p:nvPr/>
        </p:nvSpPr>
        <p:spPr>
          <a:xfrm>
            <a:off x="7050024" y="2018538"/>
            <a:ext cx="1636776" cy="331470"/>
          </a:xfrm>
          <a:prstGeom prst="rect">
            <a:avLst/>
          </a:prstGeom>
          <a:solidFill>
            <a:srgbClr val="FFFFFF"/>
          </a:solidFill>
          <a:ln w="6350">
            <a:solidFill>
              <a:srgbClr val="DDE3EC"/>
            </a:solidFill>
            <a:prstDash val="solid"/>
          </a:ln>
        </p:spPr>
      </p:sp>
      <p:sp>
        <p:nvSpPr>
          <p:cNvPr id="45" name="Text 43"/>
          <p:cNvSpPr/>
          <p:nvPr/>
        </p:nvSpPr>
        <p:spPr>
          <a:xfrm>
            <a:off x="7104888" y="2064258"/>
            <a:ext cx="1527048" cy="240030"/>
          </a:xfrm>
          <a:prstGeom prst="rect">
            <a:avLst/>
          </a:prstGeom>
          <a:noFill/>
          <a:ln/>
        </p:spPr>
        <p:txBody>
          <a:bodyPr wrap="square" lIns="0" tIns="0" rIns="0" bIns="0" rtlCol="0" anchor="ctr">
            <a:normAutofit/>
          </a:bodyPr>
          <a:lstStyle/>
          <a:p>
            <a:pPr algn="ctr" indent="0" marL="0">
              <a:buNone/>
            </a:pPr>
            <a:r>
              <a:rPr lang="en-US" sz="900" dirty="0">
                <a:solidFill>
                  <a:srgbClr val="3D5472"/>
                </a:solidFill>
                <a:latin typeface="Calibri" pitchFamily="34" charset="0"/>
                <a:ea typeface="Calibri" pitchFamily="34" charset="-122"/>
                <a:cs typeface="Calibri" pitchFamily="34" charset="-120"/>
              </a:rPr>
              <a:t>3843.042</a:t>
            </a:r>
            <a:endParaRPr lang="en-US" sz="900" dirty="0"/>
          </a:p>
        </p:txBody>
      </p:sp>
      <p:sp>
        <p:nvSpPr>
          <p:cNvPr id="46" name="Shape 44"/>
          <p:cNvSpPr/>
          <p:nvPr/>
        </p:nvSpPr>
        <p:spPr>
          <a:xfrm>
            <a:off x="502920" y="2542032"/>
            <a:ext cx="3886200" cy="1325880"/>
          </a:xfrm>
          <a:prstGeom prst="rect">
            <a:avLst/>
          </a:prstGeom>
          <a:solidFill>
            <a:srgbClr val="FFFFFF"/>
          </a:solidFill>
          <a:ln w="6350">
            <a:solidFill>
              <a:srgbClr val="DDE3EC"/>
            </a:solidFill>
            <a:prstDash val="solid"/>
          </a:ln>
        </p:spPr>
      </p:sp>
      <p:sp>
        <p:nvSpPr>
          <p:cNvPr id="47" name="Text 45"/>
          <p:cNvSpPr/>
          <p:nvPr/>
        </p:nvSpPr>
        <p:spPr>
          <a:xfrm>
            <a:off x="576072" y="2596896"/>
            <a:ext cx="914400" cy="146304"/>
          </a:xfrm>
          <a:prstGeom prst="rect">
            <a:avLst/>
          </a:prstGeom>
          <a:noFill/>
          <a:ln/>
        </p:spPr>
        <p:txBody>
          <a:bodyPr wrap="square" lIns="0" tIns="0" rIns="0" bIns="0" rtlCol="0" anchor="ctr"/>
          <a:lstStyle/>
          <a:p>
            <a:pPr indent="0" marL="0">
              <a:buNone/>
            </a:pPr>
            <a:r>
              <a:rPr lang="en-US" sz="800" i="1" dirty="0">
                <a:solidFill>
                  <a:srgbClr val="64748B"/>
                </a:solidFill>
                <a:latin typeface="Calibri" pitchFamily="34" charset="0"/>
                <a:ea typeface="Calibri" pitchFamily="34" charset="-122"/>
                <a:cs typeface="Calibri" pitchFamily="34" charset="-120"/>
              </a:rPr>
              <a:t>Figure</a:t>
            </a:r>
            <a:endParaRPr lang="en-US" sz="800" dirty="0"/>
          </a:p>
        </p:txBody>
      </p:sp>
      <p:sp>
        <p:nvSpPr>
          <p:cNvPr id="48" name="Shape 46"/>
          <p:cNvSpPr/>
          <p:nvPr/>
        </p:nvSpPr>
        <p:spPr>
          <a:xfrm>
            <a:off x="4617720" y="2542032"/>
            <a:ext cx="3886200" cy="1325880"/>
          </a:xfrm>
          <a:prstGeom prst="rect">
            <a:avLst/>
          </a:prstGeom>
          <a:solidFill>
            <a:srgbClr val="FFFFFF"/>
          </a:solidFill>
          <a:ln w="6350">
            <a:solidFill>
              <a:srgbClr val="DDE3EC"/>
            </a:solidFill>
            <a:prstDash val="solid"/>
          </a:ln>
        </p:spPr>
      </p:sp>
      <p:sp>
        <p:nvSpPr>
          <p:cNvPr id="49" name="Text 47"/>
          <p:cNvSpPr/>
          <p:nvPr/>
        </p:nvSpPr>
        <p:spPr>
          <a:xfrm>
            <a:off x="4690872" y="2596896"/>
            <a:ext cx="914400" cy="146304"/>
          </a:xfrm>
          <a:prstGeom prst="rect">
            <a:avLst/>
          </a:prstGeom>
          <a:noFill/>
          <a:ln/>
        </p:spPr>
        <p:txBody>
          <a:bodyPr wrap="square" lIns="0" tIns="0" rIns="0" bIns="0" rtlCol="0" anchor="ctr"/>
          <a:lstStyle/>
          <a:p>
            <a:pPr indent="0" marL="0">
              <a:buNone/>
            </a:pPr>
            <a:r>
              <a:rPr lang="en-US" sz="800" i="1" dirty="0">
                <a:solidFill>
                  <a:srgbClr val="64748B"/>
                </a:solidFill>
                <a:latin typeface="Calibri" pitchFamily="34" charset="0"/>
                <a:ea typeface="Calibri" pitchFamily="34" charset="-122"/>
                <a:cs typeface="Calibri" pitchFamily="34" charset="-120"/>
              </a:rPr>
              <a:t>Figure</a:t>
            </a:r>
            <a:endParaRPr lang="en-US" sz="800" dirty="0"/>
          </a:p>
        </p:txBody>
      </p:sp>
      <p:sp>
        <p:nvSpPr>
          <p:cNvPr id="50" name="Text 48"/>
          <p:cNvSpPr/>
          <p:nvPr/>
        </p:nvSpPr>
        <p:spPr>
          <a:xfrm>
            <a:off x="1463040" y="3858768"/>
            <a:ext cx="1920240" cy="182880"/>
          </a:xfrm>
          <a:prstGeom prst="rect">
            <a:avLst/>
          </a:prstGeom>
          <a:noFill/>
          <a:ln/>
        </p:spPr>
        <p:txBody>
          <a:bodyPr wrap="square" lIns="0" tIns="0" rIns="0" bIns="0" rtlCol="0" anchor="t">
            <a:normAutofit/>
          </a:bodyPr>
          <a:lstStyle/>
          <a:p>
            <a:pPr algn="ctr" indent="0" marL="0">
              <a:buNone/>
            </a:pPr>
            <a:r>
              <a:rPr lang="en-US" sz="900" i="1" dirty="0">
                <a:solidFill>
                  <a:srgbClr val="64748B"/>
                </a:solidFill>
                <a:latin typeface="Calibri" pitchFamily="34" charset="0"/>
                <a:ea typeface="Calibri" pitchFamily="34" charset="-122"/>
                <a:cs typeface="Calibri" pitchFamily="34" charset="-120"/>
              </a:rPr>
              <a:t>Pinned hold metrics</a:t>
            </a:r>
            <a:endParaRPr lang="en-US" sz="900" dirty="0"/>
          </a:p>
        </p:txBody>
      </p:sp>
      <p:sp>
        <p:nvSpPr>
          <p:cNvPr id="51" name="Text 49"/>
          <p:cNvSpPr/>
          <p:nvPr/>
        </p:nvSpPr>
        <p:spPr>
          <a:xfrm>
            <a:off x="5577840" y="3858768"/>
            <a:ext cx="1920240" cy="182880"/>
          </a:xfrm>
          <a:prstGeom prst="rect">
            <a:avLst/>
          </a:prstGeom>
          <a:noFill/>
          <a:ln/>
        </p:spPr>
        <p:txBody>
          <a:bodyPr wrap="square" lIns="0" tIns="0" rIns="0" bIns="0" rtlCol="0" anchor="t">
            <a:normAutofit/>
          </a:bodyPr>
          <a:lstStyle/>
          <a:p>
            <a:pPr algn="ctr" indent="0" marL="0">
              <a:buNone/>
            </a:pPr>
            <a:r>
              <a:rPr lang="en-US" sz="900" i="1" dirty="0">
                <a:solidFill>
                  <a:srgbClr val="64748B"/>
                </a:solidFill>
                <a:latin typeface="Calibri" pitchFamily="34" charset="0"/>
                <a:ea typeface="Calibri" pitchFamily="34" charset="-122"/>
                <a:cs typeface="Calibri" pitchFamily="34" charset="-120"/>
              </a:rPr>
              <a:t>Pinned tap metrics</a:t>
            </a:r>
            <a:endParaRPr lang="en-US" sz="900" dirty="0"/>
          </a:p>
        </p:txBody>
      </p:sp>
      <p:sp>
        <p:nvSpPr>
          <p:cNvPr id="52" name="Shape 50"/>
          <p:cNvSpPr/>
          <p:nvPr/>
        </p:nvSpPr>
        <p:spPr>
          <a:xfrm>
            <a:off x="502920" y="4069080"/>
            <a:ext cx="8092440" cy="411480"/>
          </a:xfrm>
          <a:prstGeom prst="rect">
            <a:avLst/>
          </a:prstGeom>
          <a:solidFill>
            <a:srgbClr val="FFFBEB"/>
          </a:solidFill>
          <a:ln w="6350">
            <a:solidFill>
              <a:srgbClr val="DDE3EC"/>
            </a:solidFill>
            <a:prstDash val="solid"/>
          </a:ln>
        </p:spPr>
      </p:sp>
      <p:sp>
        <p:nvSpPr>
          <p:cNvPr id="53" name="Shape 51"/>
          <p:cNvSpPr/>
          <p:nvPr/>
        </p:nvSpPr>
        <p:spPr>
          <a:xfrm>
            <a:off x="502920" y="4069080"/>
            <a:ext cx="8092440" cy="64008"/>
          </a:xfrm>
          <a:prstGeom prst="rect">
            <a:avLst/>
          </a:prstGeom>
          <a:solidFill>
            <a:srgbClr val="D97706"/>
          </a:solidFill>
          <a:ln w="12700">
            <a:solidFill>
              <a:srgbClr val="D97706"/>
            </a:solidFill>
            <a:prstDash val="solid"/>
          </a:ln>
        </p:spPr>
      </p:sp>
      <p:sp>
        <p:nvSpPr>
          <p:cNvPr id="54" name="Text 52"/>
          <p:cNvSpPr/>
          <p:nvPr/>
        </p:nvSpPr>
        <p:spPr>
          <a:xfrm>
            <a:off x="612648" y="4178808"/>
            <a:ext cx="7872984" cy="219456"/>
          </a:xfrm>
          <a:prstGeom prst="rect">
            <a:avLst/>
          </a:prstGeom>
          <a:noFill/>
          <a:ln/>
        </p:spPr>
        <p:txBody>
          <a:bodyPr wrap="square" lIns="0" tIns="0" rIns="0" bIns="0" rtlCol="0" anchor="ctr">
            <a:normAutofit/>
          </a:bodyPr>
          <a:lstStyle/>
          <a:p>
            <a:pPr indent="0" marL="0">
              <a:buNone/>
            </a:pPr>
            <a:r>
              <a:rPr lang="en-US" sz="1150" b="1" dirty="0">
                <a:solidFill>
                  <a:srgbClr val="1B2A4A"/>
                </a:solidFill>
                <a:latin typeface="Calibri" pitchFamily="34" charset="0"/>
                <a:ea typeface="Calibri" pitchFamily="34" charset="-122"/>
                <a:cs typeface="Calibri" pitchFamily="34" charset="-120"/>
              </a:rPr>
              <a:t>Dataset caveat</a:t>
            </a:r>
            <a:endParaRPr lang="en-US" sz="1150" dirty="0"/>
          </a:p>
        </p:txBody>
      </p:sp>
      <p:sp>
        <p:nvSpPr>
          <p:cNvPr id="55" name="Text 53"/>
          <p:cNvSpPr/>
          <p:nvPr/>
        </p:nvSpPr>
        <p:spPr>
          <a:xfrm>
            <a:off x="612648" y="4453128"/>
            <a:ext cx="7872984" cy="-82296"/>
          </a:xfrm>
          <a:prstGeom prst="rect">
            <a:avLst/>
          </a:prstGeom>
          <a:noFill/>
          <a:ln/>
        </p:spPr>
        <p:txBody>
          <a:bodyPr wrap="square" lIns="0" tIns="0" rIns="0" bIns="0" rtlCol="0" anchor="ctr">
            <a:normAutofit/>
          </a:bodyPr>
          <a:lstStyle/>
          <a:p>
            <a:pPr indent="0" marL="0">
              <a:buNone/>
            </a:pPr>
            <a:r>
              <a:rPr lang="en-US" sz="1000" dirty="0">
                <a:solidFill>
                  <a:srgbClr val="3D5472"/>
                </a:solidFill>
                <a:latin typeface="Calibri" pitchFamily="34" charset="0"/>
                <a:ea typeface="Calibri" pitchFamily="34" charset="-122"/>
                <a:cs typeface="Calibri" pitchFamily="34" charset="-120"/>
              </a:rPr>
              <a:t>Provenance: H1–H3, N1, and T1–T3 only. The deck therefore reports a qualitative, metric-based comparison rather than a statistical controller ranking.</a:t>
            </a:r>
            <a:endParaRPr lang="en-US" sz="1000" dirty="0"/>
          </a:p>
        </p:txBody>
      </p:sp>
      <p:sp>
        <p:nvSpPr>
          <p:cNvPr id="56" name="Text 54"/>
          <p:cNvSpPr/>
          <p:nvPr/>
        </p:nvSpPr>
        <p:spPr>
          <a:xfrm>
            <a:off x="8412480" y="4892040"/>
            <a:ext cx="640080" cy="201168"/>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37 / 38</a:t>
            </a:r>
            <a:endParaRPr lang="en-US" sz="900" dirty="0"/>
          </a:p>
        </p:txBody>
      </p:sp>
      <p:sp>
        <p:nvSpPr>
          <p:cNvPr id="57" name="Shape 55"/>
          <p:cNvSpPr/>
          <p:nvPr/>
        </p:nvSpPr>
        <p:spPr>
          <a:xfrm>
            <a:off x="256032" y="4882896"/>
            <a:ext cx="8631936" cy="36576"/>
          </a:xfrm>
          <a:prstGeom prst="rect">
            <a:avLst/>
          </a:prstGeom>
          <a:solidFill>
            <a:srgbClr val="0D6EAF">
              <a:alpha val="15000"/>
            </a:srgbClr>
          </a:solidFill>
          <a:ln w="12700">
            <a:solidFill>
              <a:srgbClr val="0D6EAF"/>
            </a:solidFill>
            <a:prstDash val="solid"/>
          </a:ln>
        </p:spPr>
      </p:sp>
      <p:sp>
        <p:nvSpPr>
          <p:cNvPr id="58" name="Shape 56"/>
          <p:cNvSpPr/>
          <p:nvPr/>
        </p:nvSpPr>
        <p:spPr>
          <a:xfrm>
            <a:off x="256032" y="4882896"/>
            <a:ext cx="8404780" cy="36576"/>
          </a:xfrm>
          <a:prstGeom prst="rect">
            <a:avLst/>
          </a:prstGeom>
          <a:solidFill>
            <a:srgbClr val="0D6EAF"/>
          </a:solidFill>
          <a:ln w="12700">
            <a:solidFill>
              <a:srgbClr val="0D6EAF"/>
            </a:solidFill>
            <a:prstDash val="solid"/>
          </a:ln>
        </p:spPr>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97706"/>
          </a:solidFill>
          <a:ln w="12700">
            <a:solidFill>
              <a:srgbClr val="D97706"/>
            </a:solidFill>
            <a:prstDash val="solid"/>
          </a:ln>
        </p:spPr>
      </p:sp>
      <p:sp>
        <p:nvSpPr>
          <p:cNvPr id="3" name="Text 1"/>
          <p:cNvSpPr/>
          <p:nvPr/>
        </p:nvSpPr>
        <p:spPr>
          <a:xfrm>
            <a:off x="256032" y="201168"/>
            <a:ext cx="8412480" cy="566928"/>
          </a:xfrm>
          <a:prstGeom prst="rect">
            <a:avLst/>
          </a:prstGeom>
          <a:noFill/>
          <a:ln/>
        </p:spPr>
        <p:txBody>
          <a:bodyPr wrap="square" lIns="0" tIns="0" rIns="0" bIns="0" rtlCol="0" anchor="ctr">
            <a:normAutofit/>
          </a:bodyPr>
          <a:lstStyle/>
          <a:p>
            <a:pPr indent="0" marL="0">
              <a:buNone/>
            </a:pPr>
            <a:r>
              <a:rPr lang="en-US" sz="2600" b="1" dirty="0">
                <a:solidFill>
                  <a:srgbClr val="FFFFFF"/>
                </a:solidFill>
                <a:latin typeface="Calibri" pitchFamily="34" charset="0"/>
                <a:ea typeface="Calibri" pitchFamily="34" charset="-122"/>
                <a:cs typeface="Calibri" pitchFamily="34" charset="-120"/>
              </a:rPr>
              <a:t>Contributions, Limitations, and Next Steps</a:t>
            </a:r>
            <a:endParaRPr lang="en-US" sz="2600" dirty="0"/>
          </a:p>
        </p:txBody>
      </p:sp>
      <p:sp>
        <p:nvSpPr>
          <p:cNvPr id="4" name="Text 2"/>
          <p:cNvSpPr/>
          <p:nvPr/>
        </p:nvSpPr>
        <p:spPr>
          <a:xfrm>
            <a:off x="256032" y="768096"/>
            <a:ext cx="8686800" cy="274320"/>
          </a:xfrm>
          <a:prstGeom prst="rect">
            <a:avLst/>
          </a:prstGeom>
          <a:noFill/>
          <a:ln/>
        </p:spPr>
        <p:txBody>
          <a:bodyPr wrap="square" lIns="0" tIns="0" rIns="0" bIns="0" rtlCol="0" anchor="ctr">
            <a:normAutofit/>
          </a:bodyPr>
          <a:lstStyle/>
          <a:p>
            <a:pPr indent="0" marL="0">
              <a:buNone/>
            </a:pPr>
            <a:r>
              <a:rPr lang="en-US" sz="1200" i="1" dirty="0">
                <a:solidFill>
                  <a:srgbClr val="B8C8DC"/>
                </a:solidFill>
                <a:latin typeface="Calibri" pitchFamily="34" charset="0"/>
                <a:ea typeface="Calibri" pitchFamily="34" charset="-122"/>
                <a:cs typeface="Calibri" pitchFamily="34" charset="-120"/>
              </a:rPr>
              <a:t>The final message is that the thesis contributes both a model/controller stack and a practical recipe for making a custom stepper Furuta rig experimentally usable.</a:t>
            </a:r>
            <a:endParaRPr lang="en-US" sz="1200" dirty="0"/>
          </a:p>
        </p:txBody>
      </p:sp>
      <p:sp>
        <p:nvSpPr>
          <p:cNvPr id="5" name="Shape 3"/>
          <p:cNvSpPr/>
          <p:nvPr/>
        </p:nvSpPr>
        <p:spPr>
          <a:xfrm>
            <a:off x="256032" y="822960"/>
            <a:ext cx="8631936" cy="0"/>
          </a:xfrm>
          <a:prstGeom prst="line">
            <a:avLst/>
          </a:prstGeom>
          <a:noFill/>
          <a:ln w="9525">
            <a:solidFill>
              <a:srgbClr val="36506E"/>
            </a:solidFill>
            <a:prstDash val="solid"/>
          </a:ln>
        </p:spPr>
      </p:sp>
      <p:sp>
        <p:nvSpPr>
          <p:cNvPr id="6" name="Shape 4"/>
          <p:cNvSpPr/>
          <p:nvPr/>
        </p:nvSpPr>
        <p:spPr>
          <a:xfrm>
            <a:off x="411480" y="1051560"/>
            <a:ext cx="2743200" cy="2240280"/>
          </a:xfrm>
          <a:prstGeom prst="rect">
            <a:avLst/>
          </a:prstGeom>
          <a:solidFill>
            <a:srgbClr val="1B2A4A"/>
          </a:solidFill>
          <a:ln w="6350">
            <a:solidFill>
              <a:srgbClr val="DDE3EC"/>
            </a:solidFill>
            <a:prstDash val="solid"/>
          </a:ln>
        </p:spPr>
      </p:sp>
      <p:sp>
        <p:nvSpPr>
          <p:cNvPr id="7" name="Shape 5"/>
          <p:cNvSpPr/>
          <p:nvPr/>
        </p:nvSpPr>
        <p:spPr>
          <a:xfrm>
            <a:off x="411480" y="1051560"/>
            <a:ext cx="2743200" cy="64008"/>
          </a:xfrm>
          <a:prstGeom prst="rect">
            <a:avLst/>
          </a:prstGeom>
          <a:solidFill>
            <a:srgbClr val="D97706"/>
          </a:solidFill>
          <a:ln w="12700">
            <a:solidFill>
              <a:srgbClr val="D97706"/>
            </a:solidFill>
            <a:prstDash val="solid"/>
          </a:ln>
        </p:spPr>
      </p:sp>
      <p:sp>
        <p:nvSpPr>
          <p:cNvPr id="8" name="Text 6"/>
          <p:cNvSpPr/>
          <p:nvPr/>
        </p:nvSpPr>
        <p:spPr>
          <a:xfrm>
            <a:off x="521208" y="1161288"/>
            <a:ext cx="2523744" cy="219456"/>
          </a:xfrm>
          <a:prstGeom prst="rect">
            <a:avLst/>
          </a:prstGeom>
          <a:noFill/>
          <a:ln/>
        </p:spPr>
        <p:txBody>
          <a:bodyPr wrap="square" lIns="0" tIns="0" rIns="0" bIns="0" rtlCol="0" anchor="ctr">
            <a:normAutofit/>
          </a:bodyPr>
          <a:lstStyle/>
          <a:p>
            <a:pPr indent="0" marL="0">
              <a:buNone/>
            </a:pPr>
            <a:r>
              <a:rPr lang="en-US" sz="1150" b="1" dirty="0">
                <a:solidFill>
                  <a:srgbClr val="FFFFFF"/>
                </a:solidFill>
                <a:latin typeface="Calibri" pitchFamily="34" charset="0"/>
                <a:ea typeface="Calibri" pitchFamily="34" charset="-122"/>
                <a:cs typeface="Calibri" pitchFamily="34" charset="-120"/>
              </a:rPr>
              <a:t>Main contributions</a:t>
            </a:r>
            <a:endParaRPr lang="en-US" sz="1150" dirty="0"/>
          </a:p>
        </p:txBody>
      </p:sp>
      <p:sp>
        <p:nvSpPr>
          <p:cNvPr id="9" name="Text 7"/>
          <p:cNvSpPr/>
          <p:nvPr/>
        </p:nvSpPr>
        <p:spPr>
          <a:xfrm>
            <a:off x="521208" y="1435608"/>
            <a:ext cx="2523744" cy="1746504"/>
          </a:xfrm>
          <a:prstGeom prst="rect">
            <a:avLst/>
          </a:prstGeom>
          <a:noFill/>
          <a:ln/>
        </p:spPr>
        <p:txBody>
          <a:bodyPr wrap="square" lIns="0" tIns="0" rIns="0" bIns="0" rtlCol="0" anchor="ctr">
            <a:normAutofit/>
          </a:bodyPr>
          <a:lstStyle/>
          <a:p>
            <a:pPr indent="0" marL="0">
              <a:buNone/>
            </a:pPr>
            <a:r>
              <a:rPr lang="en-US" sz="980" dirty="0">
                <a:solidFill>
                  <a:srgbClr val="F6F8FA"/>
                </a:solidFill>
                <a:latin typeface="Calibri" pitchFamily="34" charset="0"/>
                <a:ea typeface="Calibri" pitchFamily="34" charset="-122"/>
                <a:cs typeface="Calibri" pitchFamily="34" charset="-120"/>
              </a:rPr>
              <a:t>• Measured-stepper retrofit with dual AS5600 sensing</a:t>
            </a:r>
            <a:endParaRPr lang="en-US" sz="980" dirty="0"/>
          </a:p>
          <a:p>
            <a:pPr indent="0" marL="0">
              <a:buNone/>
            </a:pPr>
            <a:r>
              <a:rPr lang="en-US" sz="980" dirty="0">
                <a:solidFill>
                  <a:srgbClr val="F6F8FA"/>
                </a:solidFill>
                <a:latin typeface="Calibri" pitchFamily="34" charset="0"/>
                <a:ea typeface="Calibri" pitchFamily="34" charset="-122"/>
                <a:cs typeface="Calibri" pitchFamily="34" charset="-120"/>
              </a:rPr>
              <a:t>• L-shaped first-principles model with acceleration-input control framing</a:t>
            </a:r>
            <a:endParaRPr lang="en-US" sz="980" dirty="0"/>
          </a:p>
          <a:p>
            <a:pPr indent="0" marL="0">
              <a:buNone/>
            </a:pPr>
            <a:r>
              <a:rPr lang="en-US" sz="980" dirty="0">
                <a:solidFill>
                  <a:srgbClr val="F6F8FA"/>
                </a:solidFill>
                <a:latin typeface="Calibri" pitchFamily="34" charset="0"/>
                <a:ea typeface="Calibri" pitchFamily="34" charset="-122"/>
                <a:cs typeface="Calibri" pitchFamily="34" charset="-120"/>
              </a:rPr>
              <a:t>• Three controller implementations on one platform</a:t>
            </a:r>
            <a:endParaRPr lang="en-US" sz="980" dirty="0"/>
          </a:p>
        </p:txBody>
      </p:sp>
      <p:sp>
        <p:nvSpPr>
          <p:cNvPr id="10" name="Shape 8"/>
          <p:cNvSpPr/>
          <p:nvPr/>
        </p:nvSpPr>
        <p:spPr>
          <a:xfrm>
            <a:off x="3337560" y="1051560"/>
            <a:ext cx="2606040" cy="2240280"/>
          </a:xfrm>
          <a:prstGeom prst="rect">
            <a:avLst/>
          </a:prstGeom>
          <a:solidFill>
            <a:srgbClr val="1B2A4A"/>
          </a:solidFill>
          <a:ln w="6350">
            <a:solidFill>
              <a:srgbClr val="DDE3EC"/>
            </a:solidFill>
            <a:prstDash val="solid"/>
          </a:ln>
        </p:spPr>
      </p:sp>
      <p:sp>
        <p:nvSpPr>
          <p:cNvPr id="11" name="Shape 9"/>
          <p:cNvSpPr/>
          <p:nvPr/>
        </p:nvSpPr>
        <p:spPr>
          <a:xfrm>
            <a:off x="3337560" y="1051560"/>
            <a:ext cx="2606040" cy="64008"/>
          </a:xfrm>
          <a:prstGeom prst="rect">
            <a:avLst/>
          </a:prstGeom>
          <a:solidFill>
            <a:srgbClr val="B91C1C"/>
          </a:solidFill>
          <a:ln w="12700">
            <a:solidFill>
              <a:srgbClr val="B91C1C"/>
            </a:solidFill>
            <a:prstDash val="solid"/>
          </a:ln>
        </p:spPr>
      </p:sp>
      <p:sp>
        <p:nvSpPr>
          <p:cNvPr id="12" name="Text 10"/>
          <p:cNvSpPr/>
          <p:nvPr/>
        </p:nvSpPr>
        <p:spPr>
          <a:xfrm>
            <a:off x="3447288" y="1161288"/>
            <a:ext cx="2386584" cy="219456"/>
          </a:xfrm>
          <a:prstGeom prst="rect">
            <a:avLst/>
          </a:prstGeom>
          <a:noFill/>
          <a:ln/>
        </p:spPr>
        <p:txBody>
          <a:bodyPr wrap="square" lIns="0" tIns="0" rIns="0" bIns="0" rtlCol="0" anchor="ctr">
            <a:normAutofit/>
          </a:bodyPr>
          <a:lstStyle/>
          <a:p>
            <a:pPr indent="0" marL="0">
              <a:buNone/>
            </a:pPr>
            <a:r>
              <a:rPr lang="en-US" sz="1150" b="1" dirty="0">
                <a:solidFill>
                  <a:srgbClr val="FFFFFF"/>
                </a:solidFill>
                <a:latin typeface="Calibri" pitchFamily="34" charset="0"/>
                <a:ea typeface="Calibri" pitchFamily="34" charset="-122"/>
                <a:cs typeface="Calibri" pitchFamily="34" charset="-120"/>
              </a:rPr>
              <a:t>Key limitations</a:t>
            </a:r>
            <a:endParaRPr lang="en-US" sz="1150" dirty="0"/>
          </a:p>
        </p:txBody>
      </p:sp>
      <p:sp>
        <p:nvSpPr>
          <p:cNvPr id="13" name="Text 11"/>
          <p:cNvSpPr/>
          <p:nvPr/>
        </p:nvSpPr>
        <p:spPr>
          <a:xfrm>
            <a:off x="3447288" y="1435608"/>
            <a:ext cx="2386584" cy="1746504"/>
          </a:xfrm>
          <a:prstGeom prst="rect">
            <a:avLst/>
          </a:prstGeom>
          <a:noFill/>
          <a:ln/>
        </p:spPr>
        <p:txBody>
          <a:bodyPr wrap="square" lIns="0" tIns="0" rIns="0" bIns="0" rtlCol="0" anchor="ctr">
            <a:normAutofit/>
          </a:bodyPr>
          <a:lstStyle/>
          <a:p>
            <a:pPr indent="0" marL="0">
              <a:buNone/>
            </a:pPr>
            <a:r>
              <a:rPr lang="en-US" sz="980" dirty="0">
                <a:solidFill>
                  <a:srgbClr val="F6F8FA"/>
                </a:solidFill>
                <a:latin typeface="Calibri" pitchFamily="34" charset="0"/>
                <a:ea typeface="Calibri" pitchFamily="34" charset="-122"/>
                <a:cs typeface="Calibri" pitchFamily="34" charset="-120"/>
              </a:rPr>
              <a:t>• One pinned run per condition only</a:t>
            </a:r>
            <a:endParaRPr lang="en-US" sz="980" dirty="0"/>
          </a:p>
          <a:p>
            <a:pPr indent="0" marL="0">
              <a:buNone/>
            </a:pPr>
            <a:r>
              <a:rPr lang="en-US" sz="980" dirty="0">
                <a:solidFill>
                  <a:srgbClr val="F6F8FA"/>
                </a:solidFill>
                <a:latin typeface="Calibri" pitchFamily="34" charset="0"/>
                <a:ea typeface="Calibri" pitchFamily="34" charset="-122"/>
                <a:cs typeface="Calibri" pitchFamily="34" charset="-120"/>
              </a:rPr>
              <a:t>• No explicit tap onset markers</a:t>
            </a:r>
            <a:endParaRPr lang="en-US" sz="980" dirty="0"/>
          </a:p>
          <a:p>
            <a:pPr indent="0" marL="0">
              <a:buNone/>
            </a:pPr>
            <a:r>
              <a:rPr lang="en-US" sz="980" dirty="0">
                <a:solidFill>
                  <a:srgbClr val="F6F8FA"/>
                </a:solidFill>
                <a:latin typeface="Calibri" pitchFamily="34" charset="0"/>
                <a:ea typeface="Calibri" pitchFamily="34" charset="-122"/>
                <a:cs typeface="Calibri" pitchFamily="34" charset="-120"/>
              </a:rPr>
              <a:t>• Actuator realization still limited by open-loop stepper behavior</a:t>
            </a:r>
            <a:endParaRPr lang="en-US" sz="980" dirty="0"/>
          </a:p>
        </p:txBody>
      </p:sp>
      <p:sp>
        <p:nvSpPr>
          <p:cNvPr id="14" name="Shape 12"/>
          <p:cNvSpPr/>
          <p:nvPr/>
        </p:nvSpPr>
        <p:spPr>
          <a:xfrm>
            <a:off x="6126480" y="1051560"/>
            <a:ext cx="2560320" cy="2240280"/>
          </a:xfrm>
          <a:prstGeom prst="rect">
            <a:avLst/>
          </a:prstGeom>
          <a:solidFill>
            <a:srgbClr val="1B2A4A"/>
          </a:solidFill>
          <a:ln w="6350">
            <a:solidFill>
              <a:srgbClr val="DDE3EC"/>
            </a:solidFill>
            <a:prstDash val="solid"/>
          </a:ln>
        </p:spPr>
      </p:sp>
      <p:sp>
        <p:nvSpPr>
          <p:cNvPr id="15" name="Shape 13"/>
          <p:cNvSpPr/>
          <p:nvPr/>
        </p:nvSpPr>
        <p:spPr>
          <a:xfrm>
            <a:off x="6126480" y="1051560"/>
            <a:ext cx="2560320" cy="64008"/>
          </a:xfrm>
          <a:prstGeom prst="rect">
            <a:avLst/>
          </a:prstGeom>
          <a:solidFill>
            <a:srgbClr val="0D6EAF"/>
          </a:solidFill>
          <a:ln w="12700">
            <a:solidFill>
              <a:srgbClr val="0D6EAF"/>
            </a:solidFill>
            <a:prstDash val="solid"/>
          </a:ln>
        </p:spPr>
      </p:sp>
      <p:sp>
        <p:nvSpPr>
          <p:cNvPr id="16" name="Text 14"/>
          <p:cNvSpPr/>
          <p:nvPr/>
        </p:nvSpPr>
        <p:spPr>
          <a:xfrm>
            <a:off x="6236208" y="1161288"/>
            <a:ext cx="2340864" cy="219456"/>
          </a:xfrm>
          <a:prstGeom prst="rect">
            <a:avLst/>
          </a:prstGeom>
          <a:noFill/>
          <a:ln/>
        </p:spPr>
        <p:txBody>
          <a:bodyPr wrap="square" lIns="0" tIns="0" rIns="0" bIns="0" rtlCol="0" anchor="ctr">
            <a:normAutofit/>
          </a:bodyPr>
          <a:lstStyle/>
          <a:p>
            <a:pPr indent="0" marL="0">
              <a:buNone/>
            </a:pPr>
            <a:r>
              <a:rPr lang="en-US" sz="1150" b="1" dirty="0">
                <a:solidFill>
                  <a:srgbClr val="FFFFFF"/>
                </a:solidFill>
                <a:latin typeface="Calibri" pitchFamily="34" charset="0"/>
                <a:ea typeface="Calibri" pitchFamily="34" charset="-122"/>
                <a:cs typeface="Calibri" pitchFamily="34" charset="-120"/>
              </a:rPr>
              <a:t>Next steps</a:t>
            </a:r>
            <a:endParaRPr lang="en-US" sz="1150" dirty="0"/>
          </a:p>
        </p:txBody>
      </p:sp>
      <p:sp>
        <p:nvSpPr>
          <p:cNvPr id="17" name="Text 15"/>
          <p:cNvSpPr/>
          <p:nvPr/>
        </p:nvSpPr>
        <p:spPr>
          <a:xfrm>
            <a:off x="6236208" y="1435608"/>
            <a:ext cx="2340864" cy="1746504"/>
          </a:xfrm>
          <a:prstGeom prst="rect">
            <a:avLst/>
          </a:prstGeom>
          <a:noFill/>
          <a:ln/>
        </p:spPr>
        <p:txBody>
          <a:bodyPr wrap="square" lIns="0" tIns="0" rIns="0" bIns="0" rtlCol="0" anchor="ctr">
            <a:normAutofit/>
          </a:bodyPr>
          <a:lstStyle/>
          <a:p>
            <a:pPr indent="0" marL="0">
              <a:buNone/>
            </a:pPr>
            <a:r>
              <a:rPr lang="en-US" sz="980" dirty="0">
                <a:solidFill>
                  <a:srgbClr val="F6F8FA"/>
                </a:solidFill>
                <a:latin typeface="Calibri" pitchFamily="34" charset="0"/>
                <a:ea typeface="Calibri" pitchFamily="34" charset="-122"/>
                <a:cs typeface="Calibri" pitchFamily="34" charset="-120"/>
              </a:rPr>
              <a:t>• Run repeated trials per controller</a:t>
            </a:r>
            <a:endParaRPr lang="en-US" sz="980" dirty="0"/>
          </a:p>
          <a:p>
            <a:pPr indent="0" marL="0">
              <a:buNone/>
            </a:pPr>
            <a:r>
              <a:rPr lang="en-US" sz="980" dirty="0">
                <a:solidFill>
                  <a:srgbClr val="F6F8FA"/>
                </a:solidFill>
                <a:latin typeface="Calibri" pitchFamily="34" charset="0"/>
                <a:ea typeface="Calibri" pitchFamily="34" charset="-122"/>
                <a:cs typeface="Calibri" pitchFamily="34" charset="-120"/>
              </a:rPr>
              <a:t>• Make disturbance timing measurable</a:t>
            </a:r>
            <a:endParaRPr lang="en-US" sz="980" dirty="0"/>
          </a:p>
          <a:p>
            <a:pPr indent="0" marL="0">
              <a:buNone/>
            </a:pPr>
            <a:r>
              <a:rPr lang="en-US" sz="980" dirty="0">
                <a:solidFill>
                  <a:srgbClr val="F6F8FA"/>
                </a:solidFill>
                <a:latin typeface="Calibri" pitchFamily="34" charset="0"/>
                <a:ea typeface="Calibri" pitchFamily="34" charset="-122"/>
                <a:cs typeface="Calibri" pitchFamily="34" charset="-120"/>
              </a:rPr>
              <a:t>• Explore more actuator-aware nonlinear control</a:t>
            </a:r>
            <a:endParaRPr lang="en-US" sz="980" dirty="0"/>
          </a:p>
        </p:txBody>
      </p:sp>
      <p:sp>
        <p:nvSpPr>
          <p:cNvPr id="18" name="Text 16"/>
          <p:cNvSpPr/>
          <p:nvPr/>
        </p:nvSpPr>
        <p:spPr>
          <a:xfrm>
            <a:off x="502920" y="3886200"/>
            <a:ext cx="8046720" cy="384048"/>
          </a:xfrm>
          <a:prstGeom prst="rect">
            <a:avLst/>
          </a:prstGeom>
          <a:noFill/>
          <a:ln/>
        </p:spPr>
        <p:txBody>
          <a:bodyPr wrap="square" lIns="0" tIns="0" rIns="0" bIns="0" rtlCol="0" anchor="t">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Most importantly, the thesis shows how much practical control rigor lives between the equations and the motor driver.</a:t>
            </a:r>
            <a:endParaRPr lang="en-US" sz="1300" dirty="0"/>
          </a:p>
        </p:txBody>
      </p:sp>
      <p:sp>
        <p:nvSpPr>
          <p:cNvPr id="19" name="Text 17"/>
          <p:cNvSpPr/>
          <p:nvPr/>
        </p:nvSpPr>
        <p:spPr>
          <a:xfrm>
            <a:off x="8412480" y="4892040"/>
            <a:ext cx="640080" cy="201168"/>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38 / 38</a:t>
            </a:r>
            <a:endParaRPr lang="en-US" sz="900" dirty="0"/>
          </a:p>
        </p:txBody>
      </p:sp>
      <p:sp>
        <p:nvSpPr>
          <p:cNvPr id="20" name="Shape 18"/>
          <p:cNvSpPr/>
          <p:nvPr/>
        </p:nvSpPr>
        <p:spPr>
          <a:xfrm>
            <a:off x="256032" y="4882896"/>
            <a:ext cx="8631936" cy="36576"/>
          </a:xfrm>
          <a:prstGeom prst="rect">
            <a:avLst/>
          </a:prstGeom>
          <a:solidFill>
            <a:srgbClr val="D97706">
              <a:alpha val="15000"/>
            </a:srgbClr>
          </a:solidFill>
          <a:ln w="12700">
            <a:solidFill>
              <a:srgbClr val="D97706"/>
            </a:solidFill>
            <a:prstDash val="solid"/>
          </a:ln>
        </p:spPr>
      </p:sp>
      <p:sp>
        <p:nvSpPr>
          <p:cNvPr id="21" name="Shape 19"/>
          <p:cNvSpPr/>
          <p:nvPr/>
        </p:nvSpPr>
        <p:spPr>
          <a:xfrm>
            <a:off x="256032" y="4882896"/>
            <a:ext cx="8631936" cy="36576"/>
          </a:xfrm>
          <a:prstGeom prst="rect">
            <a:avLst/>
          </a:prstGeom>
          <a:solidFill>
            <a:srgbClr val="D97706"/>
          </a:solidFill>
          <a:ln w="12700">
            <a:solidFill>
              <a:srgbClr val="D97706"/>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IIT Kanpur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Rotary Inverted Pendulum Thesis Deck</dc:title>
  <dc:subject>Rotary Inverted Pendulum</dc:subject>
  <dc:creator>Piyush Tiwari</dc:creator>
  <cp:lastModifiedBy>Piyush Tiwari</cp:lastModifiedBy>
  <cp:revision>1</cp:revision>
  <dcterms:created xsi:type="dcterms:W3CDTF">2026-04-16T11:04:02Z</dcterms:created>
  <dcterms:modified xsi:type="dcterms:W3CDTF">2026-04-16T11:04:02Z</dcterms:modified>
</cp:coreProperties>
</file>